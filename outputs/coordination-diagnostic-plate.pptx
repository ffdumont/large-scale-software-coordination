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Draw the two axes in the air before this comes up — importance, and does it work today.</a:t>
            </a:r>
          </a:p>
          <a:p/>
          <a:p>
            <a:r>
              <a:t>Every function is scored twice, independently. Neither number tells you anything alone; the gap does.</a:t>
            </a:r>
          </a:p>
          <a:p/>
          <a:p>
            <a:r>
              <a:t>Important and working: keep, don't touch it. Important and broken: fix — protect the function, change the form. That is the interesting box, and it is where most of the frustration lives. Not important and broken: cut, free win. Not important but working fine: we are over-serving it, trim.</a:t>
            </a:r>
          </a:p>
          <a:p/>
          <a:p>
            <a:r>
              <a:t>The hatched top row is the load-bearing row. FIX and KEEP sit together on purpose — FIX is broken structure, not decoration. That distinction is the one that saves us in month six.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Cost overlay: low importance AND costly is the safe early win. High importance AND costly means fix it, don't kill it.</a:t>
            </a:r>
          </a:p>
          <a:p/>
          <a:p>
            <a:r>
              <a:t>Role divergence is not noise — it is the finding, and usually the most actionable one.</a:t>
            </a:r>
          </a:p>
          <a:p/>
          <a:p>
            <a:r>
              <a:t>Neutrality: not one scored item names a framework, ceremony, role or tool. Invite them to check it. Function is what we cannot lose without noticing; form is what is on the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1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8138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3400" b="1" spc="20">
                <a:solidFill>
                  <a:srgbClr val="10161B"/>
                </a:solidFill>
                <a:latin typeface="Arial Narrow"/>
              </a:rPr>
              <a:t>Two scores per function. The gap decides.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9264"/>
            <a:ext cx="8595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</a:pPr>
            <a:r>
              <a:rPr sz="1300" b="0">
                <a:solidFill>
                  <a:srgbClr val="4C5964"/>
                </a:solidFill>
                <a:latin typeface="Segoe UI"/>
              </a:rPr>
              <a:t>Each of the twelve coordination functions is rated twice, independently — how important it is, and how well it works today. Neither number means anything alone.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24367" y="402336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  <a:spcBef>
                <a:spcPts val="0"/>
              </a:spcBef>
            </a:pPr>
            <a:r>
              <a:rPr sz="900" b="0" spc="40">
                <a:solidFill>
                  <a:srgbClr val="7C8894"/>
                </a:solidFill>
                <a:latin typeface="Consolas"/>
              </a:rPr>
              <a:t>COORDINATION MODEL DIAGNOSTIC</a:t>
            </a:r>
          </a:p>
          <a:p>
            <a:pPr algn="r">
              <a:lnSpc>
                <a:spcPct val="150000"/>
              </a:lnSpc>
              <a:spcBef>
                <a:spcPts val="0"/>
              </a:spcBef>
            </a:pPr>
            <a:r>
              <a:rPr sz="900" b="0" spc="40">
                <a:solidFill>
                  <a:srgbClr val="7C8894"/>
                </a:solidFill>
                <a:latin typeface="Consolas"/>
              </a:rPr>
              <a:t>IMPORTANCE × PERFORMANCE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54480"/>
            <a:ext cx="11057839" cy="22225"/>
          </a:xfrm>
          <a:prstGeom prst="rect">
            <a:avLst/>
          </a:prstGeom>
          <a:solidFill>
            <a:srgbClr val="10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60704" y="1737360"/>
            <a:ext cx="5282031" cy="1920240"/>
          </a:xfrm>
          <a:prstGeom prst="rect">
            <a:avLst/>
          </a:prstGeom>
          <a:pattFill prst="ltUpDiag">
            <a:fgClr>
              <a:srgbClr val="E8D1C7"/>
            </a:fgClr>
            <a:bgClr>
              <a:srgbClr val="F7E7E1"/>
            </a:bgClr>
          </a:pattFill>
          <a:ln w="9525">
            <a:solidFill>
              <a:srgbClr val="1016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16736" y="1920240"/>
            <a:ext cx="476996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 spc="60">
                <a:solidFill>
                  <a:srgbClr val="7C8894"/>
                </a:solidFill>
                <a:latin typeface="Consolas"/>
              </a:rPr>
              <a:t>IMPORTANT · BROKEN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6736" y="2176272"/>
            <a:ext cx="4769967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4400" b="1" spc="25">
                <a:solidFill>
                  <a:srgbClr val="B0432B"/>
                </a:solidFill>
                <a:latin typeface="Arial Narrow"/>
              </a:rPr>
              <a:t>FIX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6736" y="2907792"/>
            <a:ext cx="476996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4000"/>
              </a:lnSpc>
            </a:pPr>
            <a:r>
              <a:rPr sz="1300" b="0">
                <a:solidFill>
                  <a:srgbClr val="4C5964"/>
                </a:solidFill>
                <a:latin typeface="Segoe UI"/>
              </a:rPr>
              <a:t>Load-bearing, and it is failing.</a:t>
            </a:r>
          </a:p>
          <a:p>
            <a:pPr>
              <a:lnSpc>
                <a:spcPct val="124000"/>
              </a:lnSpc>
            </a:pPr>
            <a:r>
              <a:rPr sz="1300" b="1">
                <a:solidFill>
                  <a:srgbClr val="10161B"/>
                </a:solidFill>
                <a:latin typeface="Segoe UI"/>
              </a:rPr>
              <a:t>Protect the function, change the form.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42735" y="1737360"/>
            <a:ext cx="5282031" cy="1920240"/>
          </a:xfrm>
          <a:prstGeom prst="rect">
            <a:avLst/>
          </a:prstGeom>
          <a:pattFill prst="ltUpDiag">
            <a:fgClr>
              <a:srgbClr val="D1E1D7"/>
            </a:fgClr>
            <a:bgClr>
              <a:srgbClr val="E6F0EA"/>
            </a:bgClr>
          </a:pattFill>
          <a:ln w="9525">
            <a:solidFill>
              <a:srgbClr val="1016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98767" y="1920240"/>
            <a:ext cx="476996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 spc="60">
                <a:solidFill>
                  <a:srgbClr val="7C8894"/>
                </a:solidFill>
                <a:latin typeface="Consolas"/>
              </a:rPr>
              <a:t>IMPORTANT · WORKING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98767" y="2176272"/>
            <a:ext cx="4769967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4400" b="1" spc="25">
                <a:solidFill>
                  <a:srgbClr val="2F6B4F"/>
                </a:solidFill>
                <a:latin typeface="Arial Narrow"/>
              </a:rPr>
              <a:t>KEEP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2907792"/>
            <a:ext cx="476996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4000"/>
              </a:lnSpc>
            </a:pPr>
            <a:r>
              <a:rPr sz="1300" b="0">
                <a:solidFill>
                  <a:srgbClr val="4C5964"/>
                </a:solidFill>
                <a:latin typeface="Segoe UI"/>
              </a:rPr>
              <a:t>Load-bearing and holding.</a:t>
            </a:r>
          </a:p>
          <a:p>
            <a:pPr>
              <a:lnSpc>
                <a:spcPct val="124000"/>
              </a:lnSpc>
            </a:pPr>
            <a:r>
              <a:rPr sz="1300" b="1">
                <a:solidFill>
                  <a:srgbClr val="10161B"/>
                </a:solidFill>
                <a:latin typeface="Segoe UI"/>
              </a:rPr>
              <a:t>Do not touch 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60704" y="3657600"/>
            <a:ext cx="5282031" cy="1920240"/>
          </a:xfrm>
          <a:prstGeom prst="rect">
            <a:avLst/>
          </a:prstGeom>
          <a:solidFill>
            <a:srgbClr val="ECEFF2"/>
          </a:solidFill>
          <a:ln w="9525">
            <a:solidFill>
              <a:srgbClr val="1016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16736" y="3840480"/>
            <a:ext cx="476996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 spc="60">
                <a:solidFill>
                  <a:srgbClr val="7C8894"/>
                </a:solidFill>
                <a:latin typeface="Consolas"/>
              </a:rPr>
              <a:t>NOT IMPORTANT · BROKEN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16736" y="4096512"/>
            <a:ext cx="4769967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4400" b="1" spc="25">
                <a:solidFill>
                  <a:srgbClr val="6F7C88"/>
                </a:solidFill>
                <a:latin typeface="Arial Narrow"/>
              </a:rPr>
              <a:t>CUT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16736" y="4828032"/>
            <a:ext cx="476996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4000"/>
              </a:lnSpc>
            </a:pPr>
            <a:r>
              <a:rPr sz="1300" b="0">
                <a:solidFill>
                  <a:srgbClr val="4C5964"/>
                </a:solidFill>
                <a:latin typeface="Segoe UI"/>
              </a:rPr>
              <a:t>Overhead nobody relies on.</a:t>
            </a:r>
          </a:p>
          <a:p>
            <a:pPr>
              <a:lnSpc>
                <a:spcPct val="124000"/>
              </a:lnSpc>
            </a:pPr>
            <a:r>
              <a:rPr sz="1300" b="1">
                <a:solidFill>
                  <a:srgbClr val="10161B"/>
                </a:solidFill>
                <a:latin typeface="Segoe UI"/>
              </a:rPr>
              <a:t>The safe early win.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42735" y="3657600"/>
            <a:ext cx="5282031" cy="1920240"/>
          </a:xfrm>
          <a:prstGeom prst="rect">
            <a:avLst/>
          </a:prstGeom>
          <a:solidFill>
            <a:srgbClr val="F5ECD9"/>
          </a:solidFill>
          <a:ln w="9525">
            <a:solidFill>
              <a:srgbClr val="1016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98767" y="3840480"/>
            <a:ext cx="476996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 spc="60">
                <a:solidFill>
                  <a:srgbClr val="7C8894"/>
                </a:solidFill>
                <a:latin typeface="Consolas"/>
              </a:rPr>
              <a:t>NOT IMPORTANT · WORKING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98767" y="4096512"/>
            <a:ext cx="4769967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4400" b="1" spc="25">
                <a:solidFill>
                  <a:srgbClr val="A67722"/>
                </a:solidFill>
                <a:latin typeface="Arial Narrow"/>
              </a:rPr>
              <a:t>SIMPLIFY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98767" y="4828032"/>
            <a:ext cx="476996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4000"/>
              </a:lnSpc>
            </a:pPr>
            <a:r>
              <a:rPr sz="1300" b="0">
                <a:solidFill>
                  <a:srgbClr val="4C5964"/>
                </a:solidFill>
                <a:latin typeface="Segoe UI"/>
              </a:rPr>
              <a:t>Over-served — we pay more than it is worth.</a:t>
            </a:r>
          </a:p>
          <a:p>
            <a:pPr>
              <a:lnSpc>
                <a:spcPct val="124000"/>
              </a:lnSpc>
            </a:pPr>
            <a:r>
              <a:rPr sz="1300" b="1">
                <a:solidFill>
                  <a:srgbClr val="10161B"/>
                </a:solidFill>
                <a:latin typeface="Segoe UI"/>
              </a:rPr>
              <a:t>Trim the effort.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60704" y="1737360"/>
            <a:ext cx="10564063" cy="3840480"/>
          </a:xfrm>
          <a:prstGeom prst="rect">
            <a:avLst/>
          </a:prstGeom>
          <a:noFill/>
          <a:ln w="28575">
            <a:solidFill>
              <a:srgbClr val="1016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1737360"/>
            <a:ext cx="420624" cy="118872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>
              <a:spcBef>
                <a:spcPts val="0"/>
              </a:spcBef>
            </a:pPr>
            <a:r>
              <a:rPr sz="900" b="0" spc="40">
                <a:solidFill>
                  <a:srgbClr val="7C8894"/>
                </a:solidFill>
                <a:latin typeface="Consolas"/>
              </a:rPr>
              <a:t>5 · ESSENTIAL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3035808"/>
            <a:ext cx="420624" cy="128016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>
              <a:spcBef>
                <a:spcPts val="0"/>
              </a:spcBef>
            </a:pPr>
            <a:r>
              <a:rPr sz="1300" b="1" spc="170">
                <a:solidFill>
                  <a:srgbClr val="10161B"/>
                </a:solidFill>
                <a:latin typeface="Arial Narrow"/>
              </a:rPr>
              <a:t>IMPORTANCE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4389120"/>
            <a:ext cx="420624" cy="118872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>
              <a:spcBef>
                <a:spcPts val="0"/>
              </a:spcBef>
            </a:pPr>
            <a:r>
              <a:rPr sz="900" b="0" spc="40">
                <a:solidFill>
                  <a:srgbClr val="7C8894"/>
                </a:solidFill>
                <a:latin typeface="Consolas"/>
              </a:rPr>
              <a:t>1 · NICE-TO-HAVE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" y="5669280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 spc="40">
                <a:solidFill>
                  <a:srgbClr val="7C8894"/>
                </a:solidFill>
                <a:latin typeface="Consolas"/>
              </a:rPr>
              <a:t>1 · VERY POORLY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86784" y="5669280"/>
            <a:ext cx="471190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300" b="1" spc="170">
                <a:solidFill>
                  <a:srgbClr val="10161B"/>
                </a:solidFill>
                <a:latin typeface="Arial Narrow"/>
              </a:rPr>
              <a:t>WORKS TODAY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81567" y="5669280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 spc="40">
                <a:solidFill>
                  <a:srgbClr val="7C8894"/>
                </a:solidFill>
                <a:latin typeface="Consolas"/>
              </a:rPr>
              <a:t>5 · VERY WELL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" y="6035040"/>
            <a:ext cx="1056406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950" b="0" spc="20">
                <a:solidFill>
                  <a:srgbClr val="7C8894"/>
                </a:solidFill>
                <a:latin typeface="Consolas"/>
              </a:rPr>
              <a:t>Hatched row = load-bearing.  Twelve functions plot onto this field once the survey closes — one point each.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6382512"/>
            <a:ext cx="11057839" cy="9525"/>
          </a:xfrm>
          <a:prstGeom prst="rect">
            <a:avLst/>
          </a:prstGeom>
          <a:solidFill>
            <a:srgbClr val="C8D0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6473952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7C8894"/>
                </a:solidFill>
                <a:latin typeface="Consolas"/>
              </a:rPr>
              <a:t>Coordination Model Diagnostic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27487" y="647395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7C8894"/>
                </a:solidFill>
                <a:latin typeface="Consolas"/>
              </a:rPr>
              <a:t>PLATE 1/2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1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8138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3400" b="1" spc="20">
                <a:solidFill>
                  <a:srgbClr val="10161B"/>
                </a:solidFill>
                <a:latin typeface="Arial Narrow"/>
              </a:rPr>
              <a:t>Reading the field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9264"/>
            <a:ext cx="8595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</a:pPr>
            <a:r>
              <a:rPr sz="1300" b="0">
                <a:solidFill>
                  <a:srgbClr val="4C5964"/>
                </a:solidFill>
                <a:latin typeface="Segoe UI"/>
              </a:rPr>
              <a:t>Three things the matrix alone does not say, and the record of what the instrument 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24367" y="402336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  <a:spcBef>
                <a:spcPts val="0"/>
              </a:spcBef>
            </a:pPr>
            <a:r>
              <a:rPr sz="900" b="0" spc="40">
                <a:solidFill>
                  <a:srgbClr val="7C8894"/>
                </a:solidFill>
                <a:latin typeface="Consolas"/>
              </a:rPr>
              <a:t>COORDINATION MODEL DIAGNOSTIC</a:t>
            </a:r>
          </a:p>
          <a:p>
            <a:pPr algn="r">
              <a:lnSpc>
                <a:spcPct val="150000"/>
              </a:lnSpc>
              <a:spcBef>
                <a:spcPts val="0"/>
              </a:spcBef>
            </a:pPr>
            <a:r>
              <a:rPr sz="900" b="0" spc="40">
                <a:solidFill>
                  <a:srgbClr val="7C8894"/>
                </a:solidFill>
                <a:latin typeface="Consolas"/>
              </a:rPr>
              <a:t>HOW TO READ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54480"/>
            <a:ext cx="11057839" cy="22225"/>
          </a:xfrm>
          <a:prstGeom prst="rect">
            <a:avLst/>
          </a:prstGeom>
          <a:solidFill>
            <a:srgbClr val="10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773936"/>
            <a:ext cx="420624" cy="44450"/>
          </a:xfrm>
          <a:prstGeom prst="rect">
            <a:avLst/>
          </a:prstGeom>
          <a:solidFill>
            <a:srgbClr val="10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993392"/>
            <a:ext cx="336895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spc="170">
                <a:solidFill>
                  <a:srgbClr val="10161B"/>
                </a:solidFill>
                <a:latin typeface="Arial Narrow"/>
              </a:rPr>
              <a:t>COST OVERLAY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340864"/>
            <a:ext cx="3368954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1300" b="0">
                <a:solidFill>
                  <a:srgbClr val="4C5964"/>
                </a:solidFill>
                <a:latin typeface="Segoe UI"/>
              </a:rPr>
              <a:t>A third question asks which two or three functions </a:t>
            </a:r>
            <a:r>
              <a:rPr sz="1300" b="1">
                <a:solidFill>
                  <a:srgbClr val="10161B"/>
                </a:solidFill>
                <a:latin typeface="Segoe UI"/>
              </a:rPr>
              <a:t>cost more than they are worth</a:t>
            </a:r>
            <a:r>
              <a:rPr sz="1300" b="0">
                <a:solidFill>
                  <a:srgbClr val="4C5964"/>
                </a:solidFill>
                <a:latin typeface="Segoe UI"/>
              </a:rPr>
              <a:t>.  It moves points; it does not create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360420"/>
            <a:ext cx="109728" cy="109728"/>
          </a:xfrm>
          <a:prstGeom prst="rect">
            <a:avLst/>
          </a:prstGeom>
          <a:solidFill>
            <a:srgbClr val="6F7C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3310128"/>
            <a:ext cx="314949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0">
                <a:solidFill>
                  <a:srgbClr val="4C5964"/>
                </a:solidFill>
                <a:latin typeface="Segoe UI"/>
              </a:rPr>
              <a:t>Not important and costly → cut first.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781044"/>
            <a:ext cx="109728" cy="109728"/>
          </a:xfrm>
          <a:prstGeom prst="rect">
            <a:avLst/>
          </a:prstGeom>
          <a:solidFill>
            <a:srgbClr val="B0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3730752"/>
            <a:ext cx="314949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0">
                <a:solidFill>
                  <a:srgbClr val="4C5964"/>
                </a:solidFill>
                <a:latin typeface="Segoe UI"/>
              </a:rPr>
              <a:t>Important and costly → fix it. Do not kill 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11370" y="1773936"/>
            <a:ext cx="420624" cy="44450"/>
          </a:xfrm>
          <a:prstGeom prst="rect">
            <a:avLst/>
          </a:prstGeom>
          <a:solidFill>
            <a:srgbClr val="10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11370" y="1993392"/>
            <a:ext cx="336895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spc="170">
                <a:solidFill>
                  <a:srgbClr val="10161B"/>
                </a:solidFill>
                <a:latin typeface="Arial Narrow"/>
              </a:rPr>
              <a:t>PLOTTED PER ROLE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1370" y="2340864"/>
            <a:ext cx="3368954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1300" b="0">
                <a:solidFill>
                  <a:srgbClr val="4C5964"/>
                </a:solidFill>
                <a:latin typeface="Segoe UI"/>
              </a:rPr>
              <a:t>The same field is drawn for each role and each tenure band.  </a:t>
            </a:r>
            <a:r>
              <a:rPr sz="1300" b="1">
                <a:solidFill>
                  <a:srgbClr val="10161B"/>
                </a:solidFill>
                <a:latin typeface="Segoe UI"/>
              </a:rPr>
              <a:t>Where roles disagree, the disagreement is the finding.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1300" b="0">
                <a:solidFill>
                  <a:srgbClr val="4C5964"/>
                </a:solidFill>
                <a:latin typeface="Segoe UI"/>
              </a:rPr>
              <a:t>Teams scoring their own decision autonomy at 2 while managers score it at 4 is a diagnosis in itself — and usually more actionable than either number.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55812" y="1773936"/>
            <a:ext cx="420624" cy="44450"/>
          </a:xfrm>
          <a:prstGeom prst="rect">
            <a:avLst/>
          </a:prstGeom>
          <a:solidFill>
            <a:srgbClr val="10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55812" y="1993392"/>
            <a:ext cx="336895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spc="170">
                <a:solidFill>
                  <a:srgbClr val="10161B"/>
                </a:solidFill>
                <a:latin typeface="Arial Narrow"/>
              </a:rPr>
              <a:t>WHAT IT NEVER ASKS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5812" y="2340864"/>
            <a:ext cx="3368954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1300" b="0">
                <a:solidFill>
                  <a:srgbClr val="4C5964"/>
                </a:solidFill>
                <a:latin typeface="Segoe UI"/>
              </a:rPr>
              <a:t>No scored item names a </a:t>
            </a:r>
            <a:r>
              <a:rPr sz="1300" b="1">
                <a:solidFill>
                  <a:srgbClr val="10161B"/>
                </a:solidFill>
                <a:latin typeface="Segoe UI"/>
              </a:rPr>
              <a:t>framework, ceremony, role or tool</a:t>
            </a:r>
            <a:r>
              <a:rPr sz="1300" b="0">
                <a:solidFill>
                  <a:srgbClr val="4C5964"/>
                </a:solidFill>
                <a:latin typeface="Segoe UI"/>
              </a:rPr>
              <a:t>.  Not one.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1300" b="0">
                <a:solidFill>
                  <a:srgbClr val="4C5964"/>
                </a:solidFill>
                <a:latin typeface="Segoe UI"/>
              </a:rPr>
              <a:t>Every item describes a function — the job being done.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1300" b="1">
                <a:solidFill>
                  <a:srgbClr val="10161B"/>
                </a:solidFill>
                <a:latin typeface="Segoe UI"/>
              </a:rPr>
              <a:t>Function is what we cannot lose without noticing. Form is what is on the table.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67935" y="4905756"/>
            <a:ext cx="12070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 spc="60">
                <a:solidFill>
                  <a:srgbClr val="7C8894"/>
                </a:solidFill>
                <a:latin typeface="Consolas"/>
              </a:rPr>
              <a:t>INSTRUMENT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4943" y="4905756"/>
            <a:ext cx="53400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0">
                <a:solidFill>
                  <a:srgbClr val="4C5964"/>
                </a:solidFill>
                <a:latin typeface="Consolas"/>
              </a:rPr>
              <a:t>Coordination Model Diagnostic — anonymous, ~8–10 min, analysed by role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58207" y="5129784"/>
            <a:ext cx="6766560" cy="9525"/>
          </a:xfrm>
          <a:prstGeom prst="rect">
            <a:avLst/>
          </a:prstGeom>
          <a:solidFill>
            <a:srgbClr val="C8D0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67935" y="5207508"/>
            <a:ext cx="12070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 spc="60">
                <a:solidFill>
                  <a:srgbClr val="7C8894"/>
                </a:solidFill>
                <a:latin typeface="Consolas"/>
              </a:rPr>
              <a:t>ITEMS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4943" y="5207508"/>
            <a:ext cx="53400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0">
                <a:solidFill>
                  <a:srgbClr val="4C5964"/>
                </a:solidFill>
                <a:latin typeface="Consolas"/>
              </a:rPr>
              <a:t>12 coordination functions × 2 independent ratings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58207" y="5431536"/>
            <a:ext cx="6766560" cy="9525"/>
          </a:xfrm>
          <a:prstGeom prst="rect">
            <a:avLst/>
          </a:prstGeom>
          <a:solidFill>
            <a:srgbClr val="C8D0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67935" y="5509260"/>
            <a:ext cx="12070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 spc="60">
                <a:solidFill>
                  <a:srgbClr val="7C8894"/>
                </a:solidFill>
                <a:latin typeface="Consolas"/>
              </a:rPr>
              <a:t>OUTPUT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4943" y="5509260"/>
            <a:ext cx="53400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0">
                <a:solidFill>
                  <a:srgbClr val="4C5964"/>
                </a:solidFill>
                <a:latin typeface="Consolas"/>
              </a:rPr>
              <a:t>This field, populated · role-divergence table · ranked keep / fix / cut list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58207" y="5733288"/>
            <a:ext cx="6766560" cy="9525"/>
          </a:xfrm>
          <a:prstGeom prst="rect">
            <a:avLst/>
          </a:prstGeom>
          <a:solidFill>
            <a:srgbClr val="C8D0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67935" y="5811012"/>
            <a:ext cx="12070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 spc="60">
                <a:solidFill>
                  <a:srgbClr val="7C8894"/>
                </a:solidFill>
                <a:latin typeface="Consolas"/>
              </a:rPr>
              <a:t>STATUS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4943" y="5811012"/>
            <a:ext cx="53400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0">
                <a:solidFill>
                  <a:srgbClr val="4C5964"/>
                </a:solidFill>
                <a:latin typeface="Consolas"/>
              </a:rPr>
              <a:t>Blank — no option decided in advance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65215" y="4828032"/>
            <a:ext cx="9525" cy="1207008"/>
          </a:xfrm>
          <a:prstGeom prst="rect">
            <a:avLst/>
          </a:prstGeom>
          <a:solidFill>
            <a:srgbClr val="C8D0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858207" y="4828032"/>
            <a:ext cx="6766560" cy="1207008"/>
          </a:xfrm>
          <a:prstGeom prst="rect">
            <a:avLst/>
          </a:prstGeom>
          <a:noFill/>
          <a:ln w="12700">
            <a:solidFill>
              <a:srgbClr val="1016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66928" y="6382512"/>
            <a:ext cx="11057839" cy="9525"/>
          </a:xfrm>
          <a:prstGeom prst="rect">
            <a:avLst/>
          </a:prstGeom>
          <a:solidFill>
            <a:srgbClr val="C8D0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6473952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7C8894"/>
                </a:solidFill>
                <a:latin typeface="Consolas"/>
              </a:rPr>
              <a:t>Coordination Model Diagnostic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27487" y="647395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7C8894"/>
                </a:solidFill>
                <a:latin typeface="Consolas"/>
              </a:rPr>
              <a:t>PLATE 2/2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