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ade43aca94e4ef1" /><Relationship Type="http://schemas.openxmlformats.org/officeDocument/2006/relationships/extended-properties" Target="/docProps/app.xml" Id="Rc626968556ee40d8" /><Relationship Type="http://schemas.openxmlformats.org/officeDocument/2006/relationships/officeDocument" Target="/ppt/presentation.xml" Id="R7eec548bda874e07" /></Relationships>
</file>

<file path=ppt/presentation.xml><?xml version="1.0" encoding="utf-8"?>
<p:presentation xmlns:p="http://schemas.openxmlformats.org/presentationml/2006/main">
  <p:sldMasterIdLst>
    <p:sldMasterId xmlns:r="http://schemas.openxmlformats.org/officeDocument/2006/relationships" id="2147483648" r:id="R59c1857fbc9447cd"/>
  </p:sldMasterIdLst>
  <p:notesMasterIdLst>
    <p:notesMasterId xmlns:r="http://schemas.openxmlformats.org/officeDocument/2006/relationships" r:id="Rb4514cb2549b42b3"/>
  </p:notesMasterIdLst>
  <p:sldIdLst>
    <p:sldId xmlns:r="http://schemas.openxmlformats.org/officeDocument/2006/relationships" id="256" r:id="Reaf86cf85ed44c5e"/>
    <p:sldId xmlns:r="http://schemas.openxmlformats.org/officeDocument/2006/relationships" id="257" r:id="Rfeacb909b7444fca"/>
    <p:sldId xmlns:r="http://schemas.openxmlformats.org/officeDocument/2006/relationships" id="258" r:id="R146eec002f2449c1"/>
    <p:sldId xmlns:r="http://schemas.openxmlformats.org/officeDocument/2006/relationships" id="259" r:id="R25ced7521e5e4ff7"/>
    <p:sldId xmlns:r="http://schemas.openxmlformats.org/officeDocument/2006/relationships" id="260" r:id="R36aebfa0bdc244cc"/>
    <p:sldId xmlns:r="http://schemas.openxmlformats.org/officeDocument/2006/relationships" id="261" r:id="Reb0b1938d188489b"/>
    <p:sldId xmlns:r="http://schemas.openxmlformats.org/officeDocument/2006/relationships" id="262" r:id="R9ee8d7a2dd42425a"/>
    <p:sldId xmlns:r="http://schemas.openxmlformats.org/officeDocument/2006/relationships" id="263" r:id="Rbb896f2d6f4d45b5"/>
    <p:sldId xmlns:r="http://schemas.openxmlformats.org/officeDocument/2006/relationships" id="264" r:id="R84b1f4f210ad4f5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1852294c3fd4bbc" /><Relationship Type="http://schemas.openxmlformats.org/officeDocument/2006/relationships/slideMaster" Target="/ppt/slideMasters/slideMaster1.xml" Id="R59c1857fbc9447cd" /><Relationship Type="http://schemas.openxmlformats.org/officeDocument/2006/relationships/notesMaster" Target="/ppt/notesMasters/notesMaster1.xml" Id="Rb4514cb2549b42b3" /><Relationship Type="http://schemas.openxmlformats.org/officeDocument/2006/relationships/presProps" Target="/ppt/presProps.xml" Id="R738e154cb08e4443" /><Relationship Type="http://schemas.openxmlformats.org/officeDocument/2006/relationships/tableStyles" Target="/ppt/tableStyles.xml" Id="R747923f8f3534032" /><Relationship Type="http://schemas.openxmlformats.org/officeDocument/2006/relationships/slide" Target="/ppt/slides/slide1.xml" Id="Reaf86cf85ed44c5e" /><Relationship Type="http://schemas.openxmlformats.org/officeDocument/2006/relationships/slide" Target="/ppt/slides/slide2.xml" Id="Rfeacb909b7444fca" /><Relationship Type="http://schemas.openxmlformats.org/officeDocument/2006/relationships/slide" Target="/ppt/slides/slide3.xml" Id="R146eec002f2449c1" /><Relationship Type="http://schemas.openxmlformats.org/officeDocument/2006/relationships/slide" Target="/ppt/slides/slide4.xml" Id="R25ced7521e5e4ff7" /><Relationship Type="http://schemas.openxmlformats.org/officeDocument/2006/relationships/slide" Target="/ppt/slides/slide5.xml" Id="R36aebfa0bdc244cc" /><Relationship Type="http://schemas.openxmlformats.org/officeDocument/2006/relationships/slide" Target="/ppt/slides/slide6.xml" Id="Reb0b1938d188489b" /><Relationship Type="http://schemas.openxmlformats.org/officeDocument/2006/relationships/slide" Target="/ppt/slides/slide7.xml" Id="R9ee8d7a2dd42425a" /><Relationship Type="http://schemas.openxmlformats.org/officeDocument/2006/relationships/slide" Target="/ppt/slides/slide8.xml" Id="Rbb896f2d6f4d45b5" /><Relationship Type="http://schemas.openxmlformats.org/officeDocument/2006/relationships/slide" Target="/ppt/slides/slide9.xml" Id="R84b1f4f210ad4f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a8636ed8b2847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0c589ad056f4712" /><Relationship Type="http://schemas.openxmlformats.org/officeDocument/2006/relationships/notesMaster" Target="/ppt/notesMasters/notesMaster1.xml" Id="R4f83cb1e2be5475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a0e127846d40f0" /><Relationship Type="http://schemas.openxmlformats.org/officeDocument/2006/relationships/notesMaster" Target="/ppt/notesMasters/notesMaster1.xml" Id="R7ac6c79f1b5841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7d6eb2bbb34b97" /><Relationship Type="http://schemas.openxmlformats.org/officeDocument/2006/relationships/notesMaster" Target="/ppt/notesMasters/notesMaster1.xml" Id="Raf8c6876eb774cd2"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d5dbe1949c4a1f" /><Relationship Type="http://schemas.openxmlformats.org/officeDocument/2006/relationships/notesMaster" Target="/ppt/notesMasters/notesMaster1.xml" Id="R10291623a4054bf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c8f0d450e24b0c" /><Relationship Type="http://schemas.openxmlformats.org/officeDocument/2006/relationships/notesMaster" Target="/ppt/notesMasters/notesMaster1.xml" Id="R08106211448d41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5db28b5643054031" /><Relationship Type="http://schemas.openxmlformats.org/officeDocument/2006/relationships/notesMaster" Target="/ppt/notesMasters/notesMaster1.xml" Id="Re85fa14e68db4d4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32428f655eb4481" /><Relationship Type="http://schemas.openxmlformats.org/officeDocument/2006/relationships/notesMaster" Target="/ppt/notesMasters/notesMaster1.xml" Id="Rb6e3b102c3124b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13b4ccb57a9f4cee" /><Relationship Type="http://schemas.openxmlformats.org/officeDocument/2006/relationships/notesMaster" Target="/ppt/notesMasters/notesMaster1.xml" Id="R0302b27ad93241d3" /></Relationships>
</file>

<file path=ppt/notesSlides/_rels/notesSlide9.xml.rels>&#65279;<?xml version="1.0" encoding="utf-8"?><Relationships xmlns="http://schemas.openxmlformats.org/package/2006/relationships"><Relationship Type="http://schemas.openxmlformats.org/officeDocument/2006/relationships/slide" Target="/ppt/slides/slide9.xml" Id="R28e88e78475d4cdd" /><Relationship Type="http://schemas.openxmlformats.org/officeDocument/2006/relationships/notesMaster" Target="/ppt/notesMasters/notesMaster1.xml" Id="R56483c6da300492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2 minutes. Ouvrir sur la tension centrale : on veut simplifier les organisations logicielles a grande echelle, mais on ne peut pas supprimer les problemes que les structures traitaient. Preciser que la presentation suit le papier en huit chapitres. Le fil rouge est simple : partir des contraintes de l'echelle, identifier les principes, decomposer les frameworks, puis reconstruire un modele minimal. Annoncer que l'objectif n'est pas de choisir entre SAFe et anti-SAFe, mais de distinguer les mecanismes utiles des formes devenues couteuses.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5 minutes. Commencer par faire sentir le changement d'echelle : huit personnes peuvent se coordonner par contexte partage ; plusieurs centaines ne le peuvent plus. Insister sur le fait que le probleme n'est pas d'abord methodologique. Il est systemique : plus d'acteurs, plus de relations possibles, plus de decisions locales qui ont des effets globaux. Presenter les cinq familles de complexite comme la grille de lecture de tout le papier. Donner deux exemples concrets : une architecture couplee cree des reunions ; un portefeuille surcharge cree des dependances et de l'attente. Transition : si les problemes sont systemiques, il faut chercher des principes avant de choisir des frameworks.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5 minutes. Expliquer que le chapitre 2 construit le vocabulaire analytique. Un principe n'est ni une ceremonie ni un role. Par exemple, limiter le travail en cours est un principe ; une revue de portefeuille ou une limite WIP sont des mecanismes ; le nom donne par un framework est une implementation. Parcourir les principes les plus importants : alignement explicite, autonomie avec frontieres, reduction des dependances, visibilite du flux, feedback rapide, qualite integree, decision au bon niveau. Insister sur les tensions : alignement contre autonomie, standardisation contre adaptation, feedback contre gouvernance. Transition : les frameworks peuvent maintenant etre lus comme des assemblages de ces principes.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5 minutes. Reintroduire les frameworks apres les principes. Expliquer que chaque approche met le projecteur sur un type de probleme : synchronisation multi-equipes pour SAFe ou Nexus, simplification organisationnelle pour LeSS, design socio-technique pour Team Topologies, flux pour Kanban et Flight Levels. Le chapitre ne classe pas les frameworks ; il les decompose. Mettre l'accent sur les anti-patterns : adoption par vocabulaire, reporting deguise en transparence, autonomie sans droits de decision, simplification sans mecanisme de remplacement. Transition : comme SAFe est souvent le cas le plus lourd et le plus discute, le chapitre suivant le decompose plus finement.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5 minutes. Presenter SAFe comme une bibliotheque integree de mecanismes. Ne pas le caricaturer : il traite de vrais problemes de grandes organisations, notamment l'alignement, les dependances, le portefeuille et l'integration. Mais il devient couteux lorsque les ceremonies remplacent les decisions, lorsque le vocabulaire devient un marqueur de conformite, ou lorsque la planification gere les dependances sans les reduire. Utiliser la grille garder, adapter, supprimer. Le message cle : nous ne sommes pas SAFe ou anti-SAFe ; nous cherchons les mecanismes qui reduisent vraiment le cout de coordination. Transition : le marche actuel confirme cette decomposition en mecanismes.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5 minutes. Presenter ce chapitre comme un test de realite externe. Le marche ne montre pas une disparition simple de SAFe ni l'arrivee d'un successeur unique. Il montre une fragmentation : des organisations conservent certains mecanismes, les renomment, les combinent avec produit, DevOps, plateformes et Team Topologies. Faire ressortir l'enseignement principal : la performance se mesure moins par l'adoption ceremonielle que par le flux, la stabilite, la valeur et l'experience developpeur. Pour l'IA, etre prudent : elle n'annule pas la coordination, elle deplace les goulots vers la verification, la securite, la qualite des donnees et le contexte. Transition : si le marche decompose, le chapitre 6 reconstruit.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5 minutes. Expliquer que la reconstruction inverse la logique habituelle. Au lieu de commencer par organiser les dependances, on cherche a les reduire par frontieres, plateformes, standards, automatisation, architecture et ownership. Ensuite seulement, on coordonne ce qui reste necessaire. Presenter la matrice minimale des mecanismes : alignement strategique leger, portefeuille avec WIP, planification proportionnee, visibility du flux, qualite integree, gouvernance technique legere, plateformes, boucle architecture-organisation, amelioration du modele et gouvernance IA. Insister sur le fait que ce n'est pas une checklist de framework : chaque mecanisme existe parce qu'un risque existe s'il est absent. Transition : le chapitre 7 transforme cette reconstruction en architecture organisationnelle cible.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5 minutes. Decrire le modele cible comme un systeme de decision et de feedback. Niveau 1 : intention strategique, qui clarifie les resultats et contraintes. Niveau 2 : portefeuille limite, qui traduit la strategie en choix et renoncements. Niveau 3 : domaines produit ou capacites, qui organisent la responsabilite. Niveau 4 : equipes stables, qui livrent dans des frontieres explicites. Puis les couches transverses : plateformes internes, gouvernance technique legere, qualite integree, metriques de flux et amelioration du modele. Insister sur les cadences minimales : une reunion sans sortie explicite doit changer ou disparaitre. Transition : la conclusion ramene tout a la discipline de simplification.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 6 minutes. Reprendre le fil complet : l'echelle cree des problemes systemiques ; les principes permettent de les comprendre ; les frameworks assemblent des mecanismes ; SAFe doit etre decompose ; le marche recompose ; le modele minimal garde les fonctions indispensables ; l'organisation cible est une architecture de decisions et de feedbacks. Insister sur les criteres de succes : priorites plus claires, WIP portefeuille reduit, dependances visibles ou reduites, decisions au bon niveau, integration plus frequente, qualite detectee plus tot, ceremonies restantes decisives. Terminer avec la phrase centrale : la simplification n'est pas l'absence de structure, c'est la discipline de retirer les structures qui ne resolvent plus rien et de renforcer celles qui permettent encore au systeme de livrer, apprendre et evoluer.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81a3760d6c45f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ed8c27f26e4838" /><Relationship Type="http://schemas.openxmlformats.org/officeDocument/2006/relationships/slideLayout" Target="/ppt/slideLayouts/slideLayout1.xml" Id="Ra3b3c0fb854042f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b3c0fb854042f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432a949fc224fa3" /><Relationship Type="http://schemas.openxmlformats.org/officeDocument/2006/relationships/notesSlide" Target="/ppt/notesSlides/notesSlide1.xml" Id="R9ffcdd7fdc854aa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244338366ac4d1e" /><Relationship Type="http://schemas.openxmlformats.org/officeDocument/2006/relationships/notesSlide" Target="/ppt/notesSlides/notesSlide2.xml" Id="R73d140c0a75a42c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dc21e9a98bd4d46" /><Relationship Type="http://schemas.openxmlformats.org/officeDocument/2006/relationships/notesSlide" Target="/ppt/notesSlides/notesSlide3.xml" Id="R0210d06db6d84fa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d0ee88fa1584e0f" /><Relationship Type="http://schemas.openxmlformats.org/officeDocument/2006/relationships/notesSlide" Target="/ppt/notesSlides/notesSlide4.xml" Id="R1a1e79a117b64ef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afbf3f110604211" /><Relationship Type="http://schemas.openxmlformats.org/officeDocument/2006/relationships/notesSlide" Target="/ppt/notesSlides/notesSlide5.xml" Id="R55a49d3e77f441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1c89f4315ce4827" /><Relationship Type="http://schemas.openxmlformats.org/officeDocument/2006/relationships/notesSlide" Target="/ppt/notesSlides/notesSlide6.xml" Id="R09ef16800dd249f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aa199d816814012" /><Relationship Type="http://schemas.openxmlformats.org/officeDocument/2006/relationships/notesSlide" Target="/ppt/notesSlides/notesSlide7.xml" Id="R703ff6e3977646b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464410671fa4433" /><Relationship Type="http://schemas.openxmlformats.org/officeDocument/2006/relationships/notesSlide" Target="/ppt/notesSlides/notesSlide8.xml" Id="R8bcaab6fb11c46c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4cec4f4d8724340" /><Relationship Type="http://schemas.openxmlformats.org/officeDocument/2006/relationships/notesSlide" Target="/ppt/notesSlides/notesSlide9.xml" Id="R4e3a97c347b8421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83E99BA-6929-4522-8715-6ECB84FEEE38}"/>
              </a:ext>
            </a:extLst>
          </p:cNvPr>
          <p:cNvSpPr>
            <a:spLocks xmlns:a="http://schemas.openxmlformats.org/drawingml/2006/main" noGrp="1"/>
          </p:cNvSpPr>
          <p:nvPr/>
        </p:nvSpPr>
        <p:spPr>
          <a:xfrm xmlns:a="http://schemas.openxmlformats.org/drawingml/2006/main">
            <a:off x="514350" y="4953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565656"/>
                </a:solidFill>
              </a:defRPr>
            </a:pPr>
            <a:r>
              <a:rPr sz="1050" b="1">
                <a:solidFill>
                  <a:srgbClr val="565656"/>
                </a:solidFill>
              </a:rPr>
              <a:t>PRESENTATION DE 45 MINUTES</a:t>
            </a:r>
          </a:p>
        </p:txBody>
      </p:sp>
      <p:sp>
        <p:nvSpPr>
          <p:cNvPr id="2" name="">
            <a:extLst xmlns:a="http://schemas.openxmlformats.org/drawingml/2006/main">
              <a:ext uri="{FF2B5EF4-FFF2-40B4-BE49-F238E27FC236}">
                <a16:creationId xmlns:a16="http://schemas.microsoft.com/office/drawing/2014/main" id="{5A869BB9-D3DC-4A67-9713-F40FEF538CA4}"/>
              </a:ext>
            </a:extLst>
          </p:cNvPr>
          <p:cNvSpPr>
            <a:spLocks xmlns:a="http://schemas.openxmlformats.org/drawingml/2006/main" noGrp="1"/>
          </p:cNvSpPr>
          <p:nvPr/>
        </p:nvSpPr>
        <p:spPr>
          <a:xfrm xmlns:a="http://schemas.openxmlformats.org/drawingml/2006/main">
            <a:off x="514350" y="1238250"/>
            <a:ext cx="8096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200" b="1">
                <a:solidFill>
                  <a:srgbClr val="111111"/>
                </a:solidFill>
              </a:defRPr>
            </a:pPr>
            <a:r>
              <a:rPr sz="4200" b="1">
                <a:solidFill>
                  <a:srgbClr val="111111"/>
                </a:solidFill>
              </a:rPr>
              <a:t>Repenser la coordination logicielle a grande echelle</a:t>
            </a:r>
          </a:p>
        </p:txBody>
      </p:sp>
      <p:sp>
        <p:nvSpPr>
          <p:cNvPr id="3" name="">
            <a:extLst xmlns:a="http://schemas.openxmlformats.org/drawingml/2006/main">
              <a:ext uri="{FF2B5EF4-FFF2-40B4-BE49-F238E27FC236}">
                <a16:creationId xmlns:a16="http://schemas.microsoft.com/office/drawing/2014/main" id="{B5E4C566-3D67-40BD-841C-74D02A44DB30}"/>
              </a:ext>
            </a:extLst>
          </p:cNvPr>
          <p:cNvSpPr>
            <a:spLocks xmlns:a="http://schemas.openxmlformats.org/drawingml/2006/main" noGrp="1"/>
          </p:cNvSpPr>
          <p:nvPr/>
        </p:nvSpPr>
        <p:spPr>
          <a:xfrm xmlns:a="http://schemas.openxmlformats.org/drawingml/2006/main">
            <a:off x="514350" y="3257550"/>
            <a:ext cx="723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565656"/>
                </a:solidFill>
              </a:defRPr>
            </a:pPr>
            <a:r>
              <a:rPr sz="1800" b="0">
                <a:solidFill>
                  <a:srgbClr val="565656"/>
                </a:solidFill>
              </a:rPr>
              <a:t>Une lecture par premiers principes pour simplifier sans perdre les mecanismes indispensables.</a:t>
            </a:r>
          </a:p>
        </p:txBody>
      </p:sp>
      <p:sp>
        <p:nvSpPr>
          <p:cNvPr id="4" name="">
            <a:extLst xmlns:a="http://schemas.openxmlformats.org/drawingml/2006/main">
              <a:ext uri="{FF2B5EF4-FFF2-40B4-BE49-F238E27FC236}">
                <a16:creationId xmlns:a16="http://schemas.microsoft.com/office/drawing/2014/main" id="{16FB639E-2EDF-4687-A5D9-49B674FBB367}"/>
              </a:ext>
            </a:extLst>
          </p:cNvPr>
          <p:cNvSpPr>
            <a:spLocks xmlns:a="http://schemas.openxmlformats.org/drawingml/2006/main" noGrp="1"/>
          </p:cNvSpPr>
          <p:nvPr/>
        </p:nvSpPr>
        <p:spPr>
          <a:xfrm xmlns:a="http://schemas.openxmlformats.org/drawingml/2006/main">
            <a:off x="8705850" y="1028700"/>
            <a:ext cx="2266950" cy="413385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5" name="">
            <a:extLst xmlns:a="http://schemas.openxmlformats.org/drawingml/2006/main">
              <a:ext uri="{FF2B5EF4-FFF2-40B4-BE49-F238E27FC236}">
                <a16:creationId xmlns:a16="http://schemas.microsoft.com/office/drawing/2014/main" id="{54F63554-224D-439B-AD84-70C8A0D68638}"/>
              </a:ext>
            </a:extLst>
          </p:cNvPr>
          <p:cNvSpPr>
            <a:spLocks xmlns:a="http://schemas.openxmlformats.org/drawingml/2006/main" noGrp="1"/>
          </p:cNvSpPr>
          <p:nvPr/>
        </p:nvSpPr>
        <p:spPr>
          <a:xfrm xmlns:a="http://schemas.openxmlformats.org/drawingml/2006/main">
            <a:off x="9086850" y="1676400"/>
            <a:ext cx="838200" cy="57150"/>
          </a:xfrm>
          <a:prstGeom xmlns:a="http://schemas.openxmlformats.org/drawingml/2006/main" prst="rect">
            <a:avLst/>
          </a:prstGeom>
          <a:solidFill xmlns:a="http://schemas.openxmlformats.org/drawingml/2006/main">
            <a:srgbClr val="FF6B35"/>
          </a:solidFill>
          <a:ln xmlns:a="http://schemas.openxmlformats.org/drawingml/2006/main" w="0">
            <a:solidFill>
              <a:srgbClr val="FF6B35"/>
            </a:solidFill>
            <a:prstDash val="solid"/>
          </a:ln>
        </p:spPr>
      </p:sp>
      <p:sp>
        <p:nvSpPr>
          <p:cNvPr id="6" name="">
            <a:extLst xmlns:a="http://schemas.openxmlformats.org/drawingml/2006/main">
              <a:ext uri="{FF2B5EF4-FFF2-40B4-BE49-F238E27FC236}">
                <a16:creationId xmlns:a16="http://schemas.microsoft.com/office/drawing/2014/main" id="{7207E583-72F4-44BC-AA4F-2862815F3747}"/>
              </a:ext>
            </a:extLst>
          </p:cNvPr>
          <p:cNvSpPr>
            <a:spLocks xmlns:a="http://schemas.openxmlformats.org/drawingml/2006/main" noGrp="1"/>
          </p:cNvSpPr>
          <p:nvPr/>
        </p:nvSpPr>
        <p:spPr>
          <a:xfrm xmlns:a="http://schemas.openxmlformats.org/drawingml/2006/main">
            <a:off x="9086850" y="17907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111111"/>
                </a:solidFill>
              </a:defRPr>
            </a:pPr>
            <a:r>
              <a:rPr sz="1500" b="1">
                <a:solidFill>
                  <a:srgbClr val="111111"/>
                </a:solidFill>
              </a:rPr>
              <a:t>Problemes</a:t>
            </a:r>
          </a:p>
        </p:txBody>
      </p:sp>
      <p:sp>
        <p:nvSpPr>
          <p:cNvPr id="7" name="">
            <a:extLst xmlns:a="http://schemas.openxmlformats.org/drawingml/2006/main">
              <a:ext uri="{FF2B5EF4-FFF2-40B4-BE49-F238E27FC236}">
                <a16:creationId xmlns:a16="http://schemas.microsoft.com/office/drawing/2014/main" id="{3C9E507D-EF01-4AA0-90AD-678BD420B033}"/>
              </a:ext>
            </a:extLst>
          </p:cNvPr>
          <p:cNvSpPr>
            <a:spLocks xmlns:a="http://schemas.openxmlformats.org/drawingml/2006/main" noGrp="1"/>
          </p:cNvSpPr>
          <p:nvPr/>
        </p:nvSpPr>
        <p:spPr>
          <a:xfrm xmlns:a="http://schemas.openxmlformats.org/drawingml/2006/main">
            <a:off x="9086850" y="2400300"/>
            <a:ext cx="838200" cy="5715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8" name="">
            <a:extLst xmlns:a="http://schemas.openxmlformats.org/drawingml/2006/main">
              <a:ext uri="{FF2B5EF4-FFF2-40B4-BE49-F238E27FC236}">
                <a16:creationId xmlns:a16="http://schemas.microsoft.com/office/drawing/2014/main" id="{55DF668E-7D35-4142-84EA-5DD38988A55D}"/>
              </a:ext>
            </a:extLst>
          </p:cNvPr>
          <p:cNvSpPr>
            <a:spLocks xmlns:a="http://schemas.openxmlformats.org/drawingml/2006/main" noGrp="1"/>
          </p:cNvSpPr>
          <p:nvPr/>
        </p:nvSpPr>
        <p:spPr>
          <a:xfrm xmlns:a="http://schemas.openxmlformats.org/drawingml/2006/main">
            <a:off x="9086850" y="25146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Principes</a:t>
            </a:r>
          </a:p>
        </p:txBody>
      </p:sp>
      <p:sp>
        <p:nvSpPr>
          <p:cNvPr id="9" name="">
            <a:extLst xmlns:a="http://schemas.openxmlformats.org/drawingml/2006/main">
              <a:ext uri="{FF2B5EF4-FFF2-40B4-BE49-F238E27FC236}">
                <a16:creationId xmlns:a16="http://schemas.microsoft.com/office/drawing/2014/main" id="{490DB866-477B-4B8A-80F5-82758C6472A7}"/>
              </a:ext>
            </a:extLst>
          </p:cNvPr>
          <p:cNvSpPr>
            <a:spLocks xmlns:a="http://schemas.openxmlformats.org/drawingml/2006/main" noGrp="1"/>
          </p:cNvSpPr>
          <p:nvPr/>
        </p:nvSpPr>
        <p:spPr>
          <a:xfrm xmlns:a="http://schemas.openxmlformats.org/drawingml/2006/main">
            <a:off x="9086850" y="3124200"/>
            <a:ext cx="838200" cy="5715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10" name="">
            <a:extLst xmlns:a="http://schemas.openxmlformats.org/drawingml/2006/main">
              <a:ext uri="{FF2B5EF4-FFF2-40B4-BE49-F238E27FC236}">
                <a16:creationId xmlns:a16="http://schemas.microsoft.com/office/drawing/2014/main" id="{27C069D4-017A-4C8F-B39A-029AE80E9F53}"/>
              </a:ext>
            </a:extLst>
          </p:cNvPr>
          <p:cNvSpPr>
            <a:spLocks xmlns:a="http://schemas.openxmlformats.org/drawingml/2006/main" noGrp="1"/>
          </p:cNvSpPr>
          <p:nvPr/>
        </p:nvSpPr>
        <p:spPr>
          <a:xfrm xmlns:a="http://schemas.openxmlformats.org/drawingml/2006/main">
            <a:off x="9086850" y="32385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Mecanismes</a:t>
            </a:r>
          </a:p>
        </p:txBody>
      </p:sp>
      <p:sp>
        <p:nvSpPr>
          <p:cNvPr id="11" name="">
            <a:extLst xmlns:a="http://schemas.openxmlformats.org/drawingml/2006/main">
              <a:ext uri="{FF2B5EF4-FFF2-40B4-BE49-F238E27FC236}">
                <a16:creationId xmlns:a16="http://schemas.microsoft.com/office/drawing/2014/main" id="{5B0BEEC8-DB90-40EC-AF07-2ECAC76CFA52}"/>
              </a:ext>
            </a:extLst>
          </p:cNvPr>
          <p:cNvSpPr>
            <a:spLocks xmlns:a="http://schemas.openxmlformats.org/drawingml/2006/main" noGrp="1"/>
          </p:cNvSpPr>
          <p:nvPr/>
        </p:nvSpPr>
        <p:spPr>
          <a:xfrm xmlns:a="http://schemas.openxmlformats.org/drawingml/2006/main">
            <a:off x="9086850" y="3848100"/>
            <a:ext cx="838200" cy="5715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12" name="">
            <a:extLst xmlns:a="http://schemas.openxmlformats.org/drawingml/2006/main">
              <a:ext uri="{FF2B5EF4-FFF2-40B4-BE49-F238E27FC236}">
                <a16:creationId xmlns:a16="http://schemas.microsoft.com/office/drawing/2014/main" id="{6D381C65-A948-4C41-A1A9-0990A784995E}"/>
              </a:ext>
            </a:extLst>
          </p:cNvPr>
          <p:cNvSpPr>
            <a:spLocks xmlns:a="http://schemas.openxmlformats.org/drawingml/2006/main" noGrp="1"/>
          </p:cNvSpPr>
          <p:nvPr/>
        </p:nvSpPr>
        <p:spPr>
          <a:xfrm xmlns:a="http://schemas.openxmlformats.org/drawingml/2006/main">
            <a:off x="9086850" y="39624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Modele cible</a:t>
            </a:r>
          </a:p>
        </p:txBody>
      </p:sp>
      <p:sp>
        <p:nvSpPr>
          <p:cNvPr id="13" name="">
            <a:extLst xmlns:a="http://schemas.openxmlformats.org/drawingml/2006/main">
              <a:ext uri="{FF2B5EF4-FFF2-40B4-BE49-F238E27FC236}">
                <a16:creationId xmlns:a16="http://schemas.microsoft.com/office/drawing/2014/main" id="{B49D4609-9C06-4631-8783-CAEC320C1546}"/>
              </a:ext>
            </a:extLst>
          </p:cNvPr>
          <p:cNvSpPr>
            <a:spLocks xmlns:a="http://schemas.openxmlformats.org/drawingml/2006/main" noGrp="1"/>
          </p:cNvSpPr>
          <p:nvPr/>
        </p:nvSpPr>
        <p:spPr>
          <a:xfrm xmlns:a="http://schemas.openxmlformats.org/drawingml/2006/main">
            <a:off x="514350" y="6191250"/>
            <a:ext cx="111633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4" name="">
            <a:extLst xmlns:a="http://schemas.openxmlformats.org/drawingml/2006/main">
              <a:ext uri="{FF2B5EF4-FFF2-40B4-BE49-F238E27FC236}">
                <a16:creationId xmlns:a16="http://schemas.microsoft.com/office/drawing/2014/main" id="{C93E8882-14D9-4114-BAF6-96F453F97D4A}"/>
              </a:ext>
            </a:extLst>
          </p:cNvPr>
          <p:cNvSpPr>
            <a:spLocks xmlns:a="http://schemas.openxmlformats.org/drawingml/2006/main" noGrp="1"/>
          </p:cNvSpPr>
          <p:nvPr/>
        </p:nvSpPr>
        <p:spPr>
          <a:xfrm xmlns:a="http://schemas.openxmlformats.org/drawingml/2006/main">
            <a:off x="514350" y="63055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65656"/>
                </a:solidFill>
              </a:defRPr>
            </a:pPr>
            <a:r>
              <a:rPr sz="975" b="0">
                <a:solidFill>
                  <a:srgbClr val="565656"/>
                </a:solidFill>
              </a:rPr>
              <a:t>Repenser la coordination logicielle a grande echelle</a:t>
            </a:r>
          </a:p>
        </p:txBody>
      </p:sp>
      <p:sp>
        <p:nvSpPr>
          <p:cNvPr id="15" name="">
            <a:extLst xmlns:a="http://schemas.openxmlformats.org/drawingml/2006/main">
              <a:ext uri="{FF2B5EF4-FFF2-40B4-BE49-F238E27FC236}">
                <a16:creationId xmlns:a16="http://schemas.microsoft.com/office/drawing/2014/main" id="{90A5298F-9411-4BD4-A3BF-79232F0EA114}"/>
              </a:ext>
            </a:extLst>
          </p:cNvPr>
          <p:cNvSpPr>
            <a:spLocks xmlns:a="http://schemas.openxmlformats.org/drawingml/2006/main" noGrp="1"/>
          </p:cNvSpPr>
          <p:nvPr/>
        </p:nvSpPr>
        <p:spPr>
          <a:xfrm xmlns:a="http://schemas.openxmlformats.org/drawingml/2006/main">
            <a:off x="11258550" y="63055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65656"/>
                </a:solidFill>
              </a:defRPr>
            </a:pPr>
            <a:r>
              <a:rPr sz="975" b="0">
                <a:solidFill>
                  <a:srgbClr val="565656"/>
                </a:solidFill>
              </a:rPr>
              <a:t>01</a:t>
            </a:r>
          </a:p>
        </p:txBody>
      </p:sp>
    </p:spTree>
    <p:extLst>
      <p:ext uri="{BB962C8B-B14F-4D97-AF65-F5344CB8AC3E}">
        <p14:creationId xmlns:p14="http://schemas.microsoft.com/office/powerpoint/2010/main" val="594139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129A885-9A77-4D40-8A7C-11D6FF32BFC8}"/>
              </a:ext>
            </a:extLst>
          </p:cNvPr>
          <p:cNvSpPr>
            <a:spLocks xmlns:a="http://schemas.openxmlformats.org/drawingml/2006/main" noGrp="1"/>
          </p:cNvSpPr>
          <p:nvPr/>
        </p:nvSpPr>
        <p:spPr>
          <a:xfrm xmlns:a="http://schemas.openxmlformats.org/drawingml/2006/main">
            <a:off x="514350" y="381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565656"/>
                </a:solidFill>
              </a:defRPr>
            </a:pPr>
            <a:r>
              <a:rPr sz="1050" b="1">
                <a:solidFill>
                  <a:srgbClr val="565656"/>
                </a:solidFill>
              </a:rPr>
              <a:t>CHAPITRE 1</a:t>
            </a:r>
          </a:p>
        </p:txBody>
      </p:sp>
      <p:sp>
        <p:nvSpPr>
          <p:cNvPr id="2" name="">
            <a:extLst xmlns:a="http://schemas.openxmlformats.org/drawingml/2006/main">
              <a:ext uri="{FF2B5EF4-FFF2-40B4-BE49-F238E27FC236}">
                <a16:creationId xmlns:a16="http://schemas.microsoft.com/office/drawing/2014/main" id="{0E8B6FC4-95A6-40D5-85E3-1129D2356525}"/>
              </a:ext>
            </a:extLst>
          </p:cNvPr>
          <p:cNvSpPr>
            <a:spLocks xmlns:a="http://schemas.openxmlformats.org/drawingml/2006/main" noGrp="1"/>
          </p:cNvSpPr>
          <p:nvPr/>
        </p:nvSpPr>
        <p:spPr>
          <a:xfrm xmlns:a="http://schemas.openxmlformats.org/drawingml/2006/main">
            <a:off x="514350" y="800100"/>
            <a:ext cx="7429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111111"/>
                </a:solidFill>
              </a:defRPr>
            </a:pPr>
            <a:r>
              <a:rPr sz="3150" b="1">
                <a:solidFill>
                  <a:srgbClr val="111111"/>
                </a:solidFill>
              </a:rPr>
              <a:t>L'echelle transforme un probleme d'equipe en probleme de systeme</a:t>
            </a:r>
          </a:p>
        </p:txBody>
      </p:sp>
      <p:sp>
        <p:nvSpPr>
          <p:cNvPr id="3" name="">
            <a:extLst xmlns:a="http://schemas.openxmlformats.org/drawingml/2006/main">
              <a:ext uri="{FF2B5EF4-FFF2-40B4-BE49-F238E27FC236}">
                <a16:creationId xmlns:a16="http://schemas.microsoft.com/office/drawing/2014/main" id="{31A983D5-A71C-46CD-B93A-C17AFB5C37BE}"/>
              </a:ext>
            </a:extLst>
          </p:cNvPr>
          <p:cNvSpPr>
            <a:spLocks xmlns:a="http://schemas.openxmlformats.org/drawingml/2006/main" noGrp="1"/>
          </p:cNvSpPr>
          <p:nvPr/>
        </p:nvSpPr>
        <p:spPr>
          <a:xfrm xmlns:a="http://schemas.openxmlformats.org/drawingml/2006/main">
            <a:off x="514350" y="1962150"/>
            <a:ext cx="733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65656"/>
                </a:solidFill>
              </a:defRPr>
            </a:pPr>
            <a:r>
              <a:rPr sz="1500" b="0">
                <a:solidFill>
                  <a:srgbClr val="565656"/>
                </a:solidFill>
              </a:rPr>
              <a:t>Le point de depart n'est pas la methode, mais les contraintes qui apparaissent quand plusieurs centaines de developpeurs travaillent sur des systemes interdépendants.</a:t>
            </a:r>
          </a:p>
        </p:txBody>
      </p:sp>
      <p:sp>
        <p:nvSpPr>
          <p:cNvPr id="4" name="">
            <a:extLst xmlns:a="http://schemas.openxmlformats.org/drawingml/2006/main">
              <a:ext uri="{FF2B5EF4-FFF2-40B4-BE49-F238E27FC236}">
                <a16:creationId xmlns:a16="http://schemas.microsoft.com/office/drawing/2014/main" id="{E3EEBB9F-5312-4E99-8A6F-F8569AE642EA}"/>
              </a:ext>
            </a:extLst>
          </p:cNvPr>
          <p:cNvSpPr>
            <a:spLocks xmlns:a="http://schemas.openxmlformats.org/drawingml/2006/main" noGrp="1"/>
          </p:cNvSpPr>
          <p:nvPr/>
        </p:nvSpPr>
        <p:spPr>
          <a:xfrm xmlns:a="http://schemas.openxmlformats.org/drawingml/2006/main">
            <a:off x="514350" y="6191250"/>
            <a:ext cx="111633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
            <a:extLst xmlns:a="http://schemas.openxmlformats.org/drawingml/2006/main">
              <a:ext uri="{FF2B5EF4-FFF2-40B4-BE49-F238E27FC236}">
                <a16:creationId xmlns:a16="http://schemas.microsoft.com/office/drawing/2014/main" id="{EA49F18F-04F8-4167-812F-0124A2D06F80}"/>
              </a:ext>
            </a:extLst>
          </p:cNvPr>
          <p:cNvSpPr>
            <a:spLocks xmlns:a="http://schemas.openxmlformats.org/drawingml/2006/main" noGrp="1"/>
          </p:cNvSpPr>
          <p:nvPr/>
        </p:nvSpPr>
        <p:spPr>
          <a:xfrm xmlns:a="http://schemas.openxmlformats.org/drawingml/2006/main">
            <a:off x="514350" y="63055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65656"/>
                </a:solidFill>
              </a:defRPr>
            </a:pPr>
            <a:r>
              <a:rPr sz="975" b="0">
                <a:solidFill>
                  <a:srgbClr val="565656"/>
                </a:solidFill>
              </a:rPr>
              <a:t>Repenser la coordination logicielle a grande echelle</a:t>
            </a:r>
          </a:p>
        </p:txBody>
      </p:sp>
      <p:sp>
        <p:nvSpPr>
          <p:cNvPr id="6" name="">
            <a:extLst xmlns:a="http://schemas.openxmlformats.org/drawingml/2006/main">
              <a:ext uri="{FF2B5EF4-FFF2-40B4-BE49-F238E27FC236}">
                <a16:creationId xmlns:a16="http://schemas.microsoft.com/office/drawing/2014/main" id="{FE320636-B4FE-4C5A-98E4-A56C2B2BFC68}"/>
              </a:ext>
            </a:extLst>
          </p:cNvPr>
          <p:cNvSpPr>
            <a:spLocks xmlns:a="http://schemas.openxmlformats.org/drawingml/2006/main" noGrp="1"/>
          </p:cNvSpPr>
          <p:nvPr/>
        </p:nvSpPr>
        <p:spPr>
          <a:xfrm xmlns:a="http://schemas.openxmlformats.org/drawingml/2006/main">
            <a:off x="11258550" y="63055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65656"/>
                </a:solidFill>
              </a:defRPr>
            </a:pPr>
            <a:r>
              <a:rPr sz="975" b="0">
                <a:solidFill>
                  <a:srgbClr val="565656"/>
                </a:solidFill>
              </a:rPr>
              <a:t>02</a:t>
            </a:r>
          </a:p>
        </p:txBody>
      </p:sp>
      <p:sp>
        <p:nvSpPr>
          <p:cNvPr id="7" name="">
            <a:extLst xmlns:a="http://schemas.openxmlformats.org/drawingml/2006/main">
              <a:ext uri="{FF2B5EF4-FFF2-40B4-BE49-F238E27FC236}">
                <a16:creationId xmlns:a16="http://schemas.microsoft.com/office/drawing/2014/main" id="{A44C1C24-55D1-4A73-86C5-1127F89F1B24}"/>
              </a:ext>
            </a:extLst>
          </p:cNvPr>
          <p:cNvSpPr>
            <a:spLocks xmlns:a="http://schemas.openxmlformats.org/drawingml/2006/main" noGrp="1"/>
          </p:cNvSpPr>
          <p:nvPr/>
        </p:nvSpPr>
        <p:spPr>
          <a:xfrm xmlns:a="http://schemas.openxmlformats.org/drawingml/2006/main">
            <a:off x="8420100" y="495300"/>
            <a:ext cx="2857500" cy="266700"/>
          </a:xfrm>
          <a:prstGeom xmlns:a="http://schemas.openxmlformats.org/drawingml/2006/main" prst="rect">
            <a:avLst/>
          </a:prstGeom>
          <a:solidFill xmlns:a="http://schemas.openxmlformats.org/drawingml/2006/main">
            <a:srgbClr val="FF6B35"/>
          </a:solidFill>
          <a:ln xmlns:a="http://schemas.openxmlformats.org/drawingml/2006/main" w="0">
            <a:solidFill>
              <a:srgbClr val="FF6B35"/>
            </a:solidFill>
            <a:prstDash val="solid"/>
          </a:ln>
        </p:spPr>
      </p:sp>
      <p:sp>
        <p:nvSpPr>
          <p:cNvPr id="8" name="">
            <a:extLst xmlns:a="http://schemas.openxmlformats.org/drawingml/2006/main">
              <a:ext uri="{FF2B5EF4-FFF2-40B4-BE49-F238E27FC236}">
                <a16:creationId xmlns:a16="http://schemas.microsoft.com/office/drawing/2014/main" id="{4AA46E73-44AD-4FAC-A473-0094554FA8A7}"/>
              </a:ext>
            </a:extLst>
          </p:cNvPr>
          <p:cNvSpPr>
            <a:spLocks xmlns:a="http://schemas.openxmlformats.org/drawingml/2006/main" noGrp="1"/>
          </p:cNvSpPr>
          <p:nvPr/>
        </p:nvSpPr>
        <p:spPr>
          <a:xfrm xmlns:a="http://schemas.openxmlformats.org/drawingml/2006/main">
            <a:off x="8515350" y="542925"/>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defRPr>
            </a:pPr>
            <a:r>
              <a:rPr sz="975" b="1">
                <a:solidFill>
                  <a:srgbClr val="FFFFFF"/>
                </a:solidFill>
              </a:rPr>
              <a:t>Diagnostic initial</a:t>
            </a:r>
          </a:p>
        </p:txBody>
      </p:sp>
      <p:sp>
        <p:nvSpPr>
          <p:cNvPr id="9" name="">
            <a:extLst xmlns:a="http://schemas.openxmlformats.org/drawingml/2006/main">
              <a:ext uri="{FF2B5EF4-FFF2-40B4-BE49-F238E27FC236}">
                <a16:creationId xmlns:a16="http://schemas.microsoft.com/office/drawing/2014/main" id="{0316FA0B-4C24-4E50-AAC9-023678D716DF}"/>
              </a:ext>
            </a:extLst>
          </p:cNvPr>
          <p:cNvSpPr>
            <a:spLocks xmlns:a="http://schemas.openxmlformats.org/drawingml/2006/main" noGrp="1"/>
          </p:cNvSpPr>
          <p:nvPr/>
        </p:nvSpPr>
        <p:spPr>
          <a:xfrm xmlns:a="http://schemas.openxmlformats.org/drawingml/2006/main">
            <a:off x="7334250" y="2876550"/>
            <a:ext cx="3905250" cy="240030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10" name="">
            <a:extLst xmlns:a="http://schemas.openxmlformats.org/drawingml/2006/main">
              <a:ext uri="{FF2B5EF4-FFF2-40B4-BE49-F238E27FC236}">
                <a16:creationId xmlns:a16="http://schemas.microsoft.com/office/drawing/2014/main" id="{6A904745-E0EF-40CC-A951-63B66E9F4023}"/>
              </a:ext>
            </a:extLst>
          </p:cNvPr>
          <p:cNvSpPr>
            <a:spLocks xmlns:a="http://schemas.openxmlformats.org/drawingml/2006/main" noGrp="1"/>
          </p:cNvSpPr>
          <p:nvPr/>
        </p:nvSpPr>
        <p:spPr>
          <a:xfrm xmlns:a="http://schemas.openxmlformats.org/drawingml/2006/main">
            <a:off x="514350" y="3009900"/>
            <a:ext cx="6000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111111"/>
                </a:solidFill>
              </a:defRPr>
            </a:pPr>
            <a:r>
              <a:rPr sz="2250" b="1">
                <a:solidFill>
                  <a:srgbClr val="111111"/>
                </a:solidFill>
              </a:rPr>
              <a:t>Une organisation peut retirer un framework ; elle ne peut pas retirer les problemes de coordination.</a:t>
            </a:r>
          </a:p>
        </p:txBody>
      </p:sp>
      <p:sp>
        <p:nvSpPr>
          <p:cNvPr id="11" name="">
            <a:extLst xmlns:a="http://schemas.openxmlformats.org/drawingml/2006/main">
              <a:ext uri="{FF2B5EF4-FFF2-40B4-BE49-F238E27FC236}">
                <a16:creationId xmlns:a16="http://schemas.microsoft.com/office/drawing/2014/main" id="{06F00F70-E8E9-4B93-8ACF-C0E35F2026A5}"/>
              </a:ext>
            </a:extLst>
          </p:cNvPr>
          <p:cNvSpPr>
            <a:spLocks xmlns:a="http://schemas.openxmlformats.org/drawingml/2006/main" noGrp="1"/>
          </p:cNvSpPr>
          <p:nvPr/>
        </p:nvSpPr>
        <p:spPr>
          <a:xfrm xmlns:a="http://schemas.openxmlformats.org/drawingml/2006/main">
            <a:off x="514350" y="40100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1</a:t>
            </a:r>
          </a:p>
        </p:txBody>
      </p:sp>
      <p:sp>
        <p:nvSpPr>
          <p:cNvPr id="12" name="">
            <a:extLst xmlns:a="http://schemas.openxmlformats.org/drawingml/2006/main">
              <a:ext uri="{FF2B5EF4-FFF2-40B4-BE49-F238E27FC236}">
                <a16:creationId xmlns:a16="http://schemas.microsoft.com/office/drawing/2014/main" id="{DDBFF7A6-383F-4887-A830-F07D7FF88B2C}"/>
              </a:ext>
            </a:extLst>
          </p:cNvPr>
          <p:cNvSpPr>
            <a:spLocks xmlns:a="http://schemas.openxmlformats.org/drawingml/2006/main" noGrp="1"/>
          </p:cNvSpPr>
          <p:nvPr/>
        </p:nvSpPr>
        <p:spPr>
          <a:xfrm xmlns:a="http://schemas.openxmlformats.org/drawingml/2006/main">
            <a:off x="914400" y="400050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Les interactions, le couplage et l'incertitude croissent plus vite que la taille des equipes.</a:t>
            </a:r>
          </a:p>
        </p:txBody>
      </p:sp>
      <p:sp>
        <p:nvSpPr>
          <p:cNvPr id="13" name="">
            <a:extLst xmlns:a="http://schemas.openxmlformats.org/drawingml/2006/main">
              <a:ext uri="{FF2B5EF4-FFF2-40B4-BE49-F238E27FC236}">
                <a16:creationId xmlns:a16="http://schemas.microsoft.com/office/drawing/2014/main" id="{8A7C2677-6246-42D9-9AB6-8C84324244E9}"/>
              </a:ext>
            </a:extLst>
          </p:cNvPr>
          <p:cNvSpPr>
            <a:spLocks xmlns:a="http://schemas.openxmlformats.org/drawingml/2006/main" noGrp="1"/>
          </p:cNvSpPr>
          <p:nvPr/>
        </p:nvSpPr>
        <p:spPr>
          <a:xfrm xmlns:a="http://schemas.openxmlformats.org/drawingml/2006/main">
            <a:off x="514350" y="452437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2</a:t>
            </a:r>
          </a:p>
        </p:txBody>
      </p:sp>
      <p:sp>
        <p:nvSpPr>
          <p:cNvPr id="14" name="">
            <a:extLst xmlns:a="http://schemas.openxmlformats.org/drawingml/2006/main">
              <a:ext uri="{FF2B5EF4-FFF2-40B4-BE49-F238E27FC236}">
                <a16:creationId xmlns:a16="http://schemas.microsoft.com/office/drawing/2014/main" id="{400CA566-A405-4BCE-84B7-7BB0E5CBAB4D}"/>
              </a:ext>
            </a:extLst>
          </p:cNvPr>
          <p:cNvSpPr>
            <a:spLocks xmlns:a="http://schemas.openxmlformats.org/drawingml/2006/main" noGrp="1"/>
          </p:cNvSpPr>
          <p:nvPr/>
        </p:nvSpPr>
        <p:spPr>
          <a:xfrm xmlns:a="http://schemas.openxmlformats.org/drawingml/2006/main">
            <a:off x="914400" y="451485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Les cinq complexites clefs sont structurelle, coordination, decisionnelle, operationnelle, cognitive et sociale.</a:t>
            </a:r>
          </a:p>
        </p:txBody>
      </p:sp>
      <p:sp>
        <p:nvSpPr>
          <p:cNvPr id="15" name="">
            <a:extLst xmlns:a="http://schemas.openxmlformats.org/drawingml/2006/main">
              <a:ext uri="{FF2B5EF4-FFF2-40B4-BE49-F238E27FC236}">
                <a16:creationId xmlns:a16="http://schemas.microsoft.com/office/drawing/2014/main" id="{6EF13C19-8B90-4DBB-9FD5-25D44EABDC0A}"/>
              </a:ext>
            </a:extLst>
          </p:cNvPr>
          <p:cNvSpPr>
            <a:spLocks xmlns:a="http://schemas.openxmlformats.org/drawingml/2006/main" noGrp="1"/>
          </p:cNvSpPr>
          <p:nvPr/>
        </p:nvSpPr>
        <p:spPr>
          <a:xfrm xmlns:a="http://schemas.openxmlformats.org/drawingml/2006/main">
            <a:off x="514350" y="50387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3</a:t>
            </a:r>
          </a:p>
        </p:txBody>
      </p:sp>
      <p:sp>
        <p:nvSpPr>
          <p:cNvPr id="16" name="">
            <a:extLst xmlns:a="http://schemas.openxmlformats.org/drawingml/2006/main">
              <a:ext uri="{FF2B5EF4-FFF2-40B4-BE49-F238E27FC236}">
                <a16:creationId xmlns:a16="http://schemas.microsoft.com/office/drawing/2014/main" id="{5A5EDD4C-AD09-4923-B2F4-080999AE36AF}"/>
              </a:ext>
            </a:extLst>
          </p:cNvPr>
          <p:cNvSpPr>
            <a:spLocks xmlns:a="http://schemas.openxmlformats.org/drawingml/2006/main" noGrp="1"/>
          </p:cNvSpPr>
          <p:nvPr/>
        </p:nvSpPr>
        <p:spPr>
          <a:xfrm xmlns:a="http://schemas.openxmlformats.org/drawingml/2006/main">
            <a:off x="914400" y="502920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Le bon niveau de coordination depend du couplage, des risques et de la maturite technique.</a:t>
            </a:r>
          </a:p>
        </p:txBody>
      </p:sp>
      <p:sp>
        <p:nvSpPr>
          <p:cNvPr id="17" name="">
            <a:extLst xmlns:a="http://schemas.openxmlformats.org/drawingml/2006/main">
              <a:ext uri="{FF2B5EF4-FFF2-40B4-BE49-F238E27FC236}">
                <a16:creationId xmlns:a16="http://schemas.microsoft.com/office/drawing/2014/main" id="{093BFF84-553F-419D-86D4-6D816CE87962}"/>
              </a:ext>
            </a:extLst>
          </p:cNvPr>
          <p:cNvSpPr>
            <a:spLocks xmlns:a="http://schemas.openxmlformats.org/drawingml/2006/main" noGrp="1"/>
          </p:cNvSpPr>
          <p:nvPr/>
        </p:nvSpPr>
        <p:spPr>
          <a:xfrm xmlns:a="http://schemas.openxmlformats.org/drawingml/2006/main">
            <a:off x="7620000" y="31051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defRPr>
            </a:pPr>
            <a:r>
              <a:rPr sz="1650" b="1">
                <a:solidFill>
                  <a:srgbClr val="111111"/>
                </a:solidFill>
              </a:rPr>
              <a:t>Signaux faibles</a:t>
            </a:r>
          </a:p>
        </p:txBody>
      </p:sp>
      <p:sp>
        <p:nvSpPr>
          <p:cNvPr id="18" name="">
            <a:extLst xmlns:a="http://schemas.openxmlformats.org/drawingml/2006/main">
              <a:ext uri="{FF2B5EF4-FFF2-40B4-BE49-F238E27FC236}">
                <a16:creationId xmlns:a16="http://schemas.microsoft.com/office/drawing/2014/main" id="{3E8A7D12-7C99-4230-B5B5-7FA25A0A477B}"/>
              </a:ext>
            </a:extLst>
          </p:cNvPr>
          <p:cNvSpPr>
            <a:spLocks xmlns:a="http://schemas.openxmlformats.org/drawingml/2006/main" noGrp="1"/>
          </p:cNvSpPr>
          <p:nvPr/>
        </p:nvSpPr>
        <p:spPr>
          <a:xfrm xmlns:a="http://schemas.openxmlformats.org/drawingml/2006/main">
            <a:off x="7620000" y="3638550"/>
            <a:ext cx="342900" cy="38100"/>
          </a:xfrm>
          <a:prstGeom xmlns:a="http://schemas.openxmlformats.org/drawingml/2006/main" prst="rect">
            <a:avLst/>
          </a:prstGeom>
          <a:solidFill xmlns:a="http://schemas.openxmlformats.org/drawingml/2006/main">
            <a:srgbClr val="FF6B35"/>
          </a:solidFill>
          <a:ln xmlns:a="http://schemas.openxmlformats.org/drawingml/2006/main" w="0">
            <a:solidFill>
              <a:srgbClr val="FF6B35"/>
            </a:solidFill>
            <a:prstDash val="solid"/>
          </a:ln>
        </p:spPr>
      </p:sp>
      <p:sp>
        <p:nvSpPr>
          <p:cNvPr id="19" name="">
            <a:extLst xmlns:a="http://schemas.openxmlformats.org/drawingml/2006/main">
              <a:ext uri="{FF2B5EF4-FFF2-40B4-BE49-F238E27FC236}">
                <a16:creationId xmlns:a16="http://schemas.microsoft.com/office/drawing/2014/main" id="{1500034A-C161-4ED3-91DD-F62CB0C153DA}"/>
              </a:ext>
            </a:extLst>
          </p:cNvPr>
          <p:cNvSpPr>
            <a:spLocks xmlns:a="http://schemas.openxmlformats.org/drawingml/2006/main" noGrp="1"/>
          </p:cNvSpPr>
          <p:nvPr/>
        </p:nvSpPr>
        <p:spPr>
          <a:xfrm xmlns:a="http://schemas.openxmlformats.org/drawingml/2006/main">
            <a:off x="8077200" y="35433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Attentes entre equipes</a:t>
            </a:r>
          </a:p>
        </p:txBody>
      </p:sp>
      <p:sp>
        <p:nvSpPr>
          <p:cNvPr id="20" name="">
            <a:extLst xmlns:a="http://schemas.openxmlformats.org/drawingml/2006/main">
              <a:ext uri="{FF2B5EF4-FFF2-40B4-BE49-F238E27FC236}">
                <a16:creationId xmlns:a16="http://schemas.microsoft.com/office/drawing/2014/main" id="{D52715F5-7736-484C-A78F-6258D1438D4B}"/>
              </a:ext>
            </a:extLst>
          </p:cNvPr>
          <p:cNvSpPr>
            <a:spLocks xmlns:a="http://schemas.openxmlformats.org/drawingml/2006/main" noGrp="1"/>
          </p:cNvSpPr>
          <p:nvPr/>
        </p:nvSpPr>
        <p:spPr>
          <a:xfrm xmlns:a="http://schemas.openxmlformats.org/drawingml/2006/main">
            <a:off x="7620000" y="40576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1" name="">
            <a:extLst xmlns:a="http://schemas.openxmlformats.org/drawingml/2006/main">
              <a:ext uri="{FF2B5EF4-FFF2-40B4-BE49-F238E27FC236}">
                <a16:creationId xmlns:a16="http://schemas.microsoft.com/office/drawing/2014/main" id="{61FD0B01-0890-40D6-879B-F445BEDDB94E}"/>
              </a:ext>
            </a:extLst>
          </p:cNvPr>
          <p:cNvSpPr>
            <a:spLocks xmlns:a="http://schemas.openxmlformats.org/drawingml/2006/main" noGrp="1"/>
          </p:cNvSpPr>
          <p:nvPr/>
        </p:nvSpPr>
        <p:spPr>
          <a:xfrm xmlns:a="http://schemas.openxmlformats.org/drawingml/2006/main">
            <a:off x="8077200" y="39624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Dependances tardives</a:t>
            </a:r>
          </a:p>
        </p:txBody>
      </p:sp>
      <p:sp>
        <p:nvSpPr>
          <p:cNvPr id="22" name="">
            <a:extLst xmlns:a="http://schemas.openxmlformats.org/drawingml/2006/main">
              <a:ext uri="{FF2B5EF4-FFF2-40B4-BE49-F238E27FC236}">
                <a16:creationId xmlns:a16="http://schemas.microsoft.com/office/drawing/2014/main" id="{F26045F3-A2F9-4497-9242-80DA06CD1C82}"/>
              </a:ext>
            </a:extLst>
          </p:cNvPr>
          <p:cNvSpPr>
            <a:spLocks xmlns:a="http://schemas.openxmlformats.org/drawingml/2006/main" noGrp="1"/>
          </p:cNvSpPr>
          <p:nvPr/>
        </p:nvSpPr>
        <p:spPr>
          <a:xfrm xmlns:a="http://schemas.openxmlformats.org/drawingml/2006/main">
            <a:off x="7620000" y="44767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3" name="">
            <a:extLst xmlns:a="http://schemas.openxmlformats.org/drawingml/2006/main">
              <a:ext uri="{FF2B5EF4-FFF2-40B4-BE49-F238E27FC236}">
                <a16:creationId xmlns:a16="http://schemas.microsoft.com/office/drawing/2014/main" id="{4D016F4E-02EC-4FD2-8A81-0D16CF15DACC}"/>
              </a:ext>
            </a:extLst>
          </p:cNvPr>
          <p:cNvSpPr>
            <a:spLocks xmlns:a="http://schemas.openxmlformats.org/drawingml/2006/main" noGrp="1"/>
          </p:cNvSpPr>
          <p:nvPr/>
        </p:nvSpPr>
        <p:spPr>
          <a:xfrm xmlns:a="http://schemas.openxmlformats.org/drawingml/2006/main">
            <a:off x="8077200" y="43815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Experts satures</a:t>
            </a:r>
          </a:p>
        </p:txBody>
      </p:sp>
      <p:sp>
        <p:nvSpPr>
          <p:cNvPr id="24" name="">
            <a:extLst xmlns:a="http://schemas.openxmlformats.org/drawingml/2006/main">
              <a:ext uri="{FF2B5EF4-FFF2-40B4-BE49-F238E27FC236}">
                <a16:creationId xmlns:a16="http://schemas.microsoft.com/office/drawing/2014/main" id="{1EB3F3C9-7607-45B1-9728-D562757549BF}"/>
              </a:ext>
            </a:extLst>
          </p:cNvPr>
          <p:cNvSpPr>
            <a:spLocks xmlns:a="http://schemas.openxmlformats.org/drawingml/2006/main" noGrp="1"/>
          </p:cNvSpPr>
          <p:nvPr/>
        </p:nvSpPr>
        <p:spPr>
          <a:xfrm xmlns:a="http://schemas.openxmlformats.org/drawingml/2006/main">
            <a:off x="7620000" y="48958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5" name="">
            <a:extLst xmlns:a="http://schemas.openxmlformats.org/drawingml/2006/main">
              <a:ext uri="{FF2B5EF4-FFF2-40B4-BE49-F238E27FC236}">
                <a16:creationId xmlns:a16="http://schemas.microsoft.com/office/drawing/2014/main" id="{2CCE7BEC-60DC-4DEE-BCA3-B48ED403EAC0}"/>
              </a:ext>
            </a:extLst>
          </p:cNvPr>
          <p:cNvSpPr>
            <a:spLocks xmlns:a="http://schemas.openxmlformats.org/drawingml/2006/main" noGrp="1"/>
          </p:cNvSpPr>
          <p:nvPr/>
        </p:nvSpPr>
        <p:spPr>
          <a:xfrm xmlns:a="http://schemas.openxmlformats.org/drawingml/2006/main">
            <a:off x="8077200" y="48006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Escalades repetees</a:t>
            </a:r>
          </a:p>
        </p:txBody>
      </p:sp>
    </p:spTree>
    <p:extLst>
      <p:ext uri="{BB962C8B-B14F-4D97-AF65-F5344CB8AC3E}">
        <p14:creationId xmlns:p14="http://schemas.microsoft.com/office/powerpoint/2010/main" val="1284116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60DF5BE-2035-406E-B6D0-B83A916BE516}"/>
              </a:ext>
            </a:extLst>
          </p:cNvPr>
          <p:cNvSpPr>
            <a:spLocks xmlns:a="http://schemas.openxmlformats.org/drawingml/2006/main" noGrp="1"/>
          </p:cNvSpPr>
          <p:nvPr/>
        </p:nvSpPr>
        <p:spPr>
          <a:xfrm xmlns:a="http://schemas.openxmlformats.org/drawingml/2006/main">
            <a:off x="514350" y="381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565656"/>
                </a:solidFill>
              </a:defRPr>
            </a:pPr>
            <a:r>
              <a:rPr sz="1050" b="1">
                <a:solidFill>
                  <a:srgbClr val="565656"/>
                </a:solidFill>
              </a:rPr>
              <a:t>CHAPITRE 2</a:t>
            </a:r>
          </a:p>
        </p:txBody>
      </p:sp>
      <p:sp>
        <p:nvSpPr>
          <p:cNvPr id="2" name="">
            <a:extLst xmlns:a="http://schemas.openxmlformats.org/drawingml/2006/main">
              <a:ext uri="{FF2B5EF4-FFF2-40B4-BE49-F238E27FC236}">
                <a16:creationId xmlns:a16="http://schemas.microsoft.com/office/drawing/2014/main" id="{FAC4C638-6986-4E5E-B59B-B361746E2C05}"/>
              </a:ext>
            </a:extLst>
          </p:cNvPr>
          <p:cNvSpPr>
            <a:spLocks xmlns:a="http://schemas.openxmlformats.org/drawingml/2006/main" noGrp="1"/>
          </p:cNvSpPr>
          <p:nvPr/>
        </p:nvSpPr>
        <p:spPr>
          <a:xfrm xmlns:a="http://schemas.openxmlformats.org/drawingml/2006/main">
            <a:off x="514350" y="800100"/>
            <a:ext cx="7429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111111"/>
                </a:solidFill>
              </a:defRPr>
            </a:pPr>
            <a:r>
              <a:rPr sz="3150" b="1">
                <a:solidFill>
                  <a:srgbClr val="111111"/>
                </a:solidFill>
              </a:rPr>
              <a:t>Les principes universels se situent sous les ceremonies</a:t>
            </a:r>
          </a:p>
        </p:txBody>
      </p:sp>
      <p:sp>
        <p:nvSpPr>
          <p:cNvPr id="3" name="">
            <a:extLst xmlns:a="http://schemas.openxmlformats.org/drawingml/2006/main">
              <a:ext uri="{FF2B5EF4-FFF2-40B4-BE49-F238E27FC236}">
                <a16:creationId xmlns:a16="http://schemas.microsoft.com/office/drawing/2014/main" id="{892B9307-A743-48A7-A956-E7B17C9109BA}"/>
              </a:ext>
            </a:extLst>
          </p:cNvPr>
          <p:cNvSpPr>
            <a:spLocks xmlns:a="http://schemas.openxmlformats.org/drawingml/2006/main" noGrp="1"/>
          </p:cNvSpPr>
          <p:nvPr/>
        </p:nvSpPr>
        <p:spPr>
          <a:xfrm xmlns:a="http://schemas.openxmlformats.org/drawingml/2006/main">
            <a:off x="514350" y="1962150"/>
            <a:ext cx="733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65656"/>
                </a:solidFill>
              </a:defRPr>
            </a:pPr>
            <a:r>
              <a:rPr sz="1500" b="0">
                <a:solidFill>
                  <a:srgbClr val="565656"/>
                </a:solidFill>
              </a:rPr>
              <a:t>Une pratique visible n'est utile que si elle met en oeuvre un principe necessaire face a un probleme reel.</a:t>
            </a:r>
          </a:p>
        </p:txBody>
      </p:sp>
      <p:sp>
        <p:nvSpPr>
          <p:cNvPr id="4" name="">
            <a:extLst xmlns:a="http://schemas.openxmlformats.org/drawingml/2006/main">
              <a:ext uri="{FF2B5EF4-FFF2-40B4-BE49-F238E27FC236}">
                <a16:creationId xmlns:a16="http://schemas.microsoft.com/office/drawing/2014/main" id="{D81F3E17-C817-4C35-96B9-FB921718EC87}"/>
              </a:ext>
            </a:extLst>
          </p:cNvPr>
          <p:cNvSpPr>
            <a:spLocks xmlns:a="http://schemas.openxmlformats.org/drawingml/2006/main" noGrp="1"/>
          </p:cNvSpPr>
          <p:nvPr/>
        </p:nvSpPr>
        <p:spPr>
          <a:xfrm xmlns:a="http://schemas.openxmlformats.org/drawingml/2006/main">
            <a:off x="514350" y="6191250"/>
            <a:ext cx="111633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
            <a:extLst xmlns:a="http://schemas.openxmlformats.org/drawingml/2006/main">
              <a:ext uri="{FF2B5EF4-FFF2-40B4-BE49-F238E27FC236}">
                <a16:creationId xmlns:a16="http://schemas.microsoft.com/office/drawing/2014/main" id="{CDC0361E-8BB8-43F8-B6AF-45D23543B944}"/>
              </a:ext>
            </a:extLst>
          </p:cNvPr>
          <p:cNvSpPr>
            <a:spLocks xmlns:a="http://schemas.openxmlformats.org/drawingml/2006/main" noGrp="1"/>
          </p:cNvSpPr>
          <p:nvPr/>
        </p:nvSpPr>
        <p:spPr>
          <a:xfrm xmlns:a="http://schemas.openxmlformats.org/drawingml/2006/main">
            <a:off x="514350" y="63055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65656"/>
                </a:solidFill>
              </a:defRPr>
            </a:pPr>
            <a:r>
              <a:rPr sz="975" b="0">
                <a:solidFill>
                  <a:srgbClr val="565656"/>
                </a:solidFill>
              </a:rPr>
              <a:t>Repenser la coordination logicielle a grande echelle</a:t>
            </a:r>
          </a:p>
        </p:txBody>
      </p:sp>
      <p:sp>
        <p:nvSpPr>
          <p:cNvPr id="6" name="">
            <a:extLst xmlns:a="http://schemas.openxmlformats.org/drawingml/2006/main">
              <a:ext uri="{FF2B5EF4-FFF2-40B4-BE49-F238E27FC236}">
                <a16:creationId xmlns:a16="http://schemas.microsoft.com/office/drawing/2014/main" id="{6B8F2EA5-98CB-43D8-8606-CB8DA13D517E}"/>
              </a:ext>
            </a:extLst>
          </p:cNvPr>
          <p:cNvSpPr>
            <a:spLocks xmlns:a="http://schemas.openxmlformats.org/drawingml/2006/main" noGrp="1"/>
          </p:cNvSpPr>
          <p:nvPr/>
        </p:nvSpPr>
        <p:spPr>
          <a:xfrm xmlns:a="http://schemas.openxmlformats.org/drawingml/2006/main">
            <a:off x="11258550" y="63055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65656"/>
                </a:solidFill>
              </a:defRPr>
            </a:pPr>
            <a:r>
              <a:rPr sz="975" b="0">
                <a:solidFill>
                  <a:srgbClr val="565656"/>
                </a:solidFill>
              </a:rPr>
              <a:t>03</a:t>
            </a:r>
          </a:p>
        </p:txBody>
      </p:sp>
      <p:sp>
        <p:nvSpPr>
          <p:cNvPr id="7" name="">
            <a:extLst xmlns:a="http://schemas.openxmlformats.org/drawingml/2006/main">
              <a:ext uri="{FF2B5EF4-FFF2-40B4-BE49-F238E27FC236}">
                <a16:creationId xmlns:a16="http://schemas.microsoft.com/office/drawing/2014/main" id="{B37E9BB2-89A8-469D-9C6A-20634C235DDF}"/>
              </a:ext>
            </a:extLst>
          </p:cNvPr>
          <p:cNvSpPr>
            <a:spLocks xmlns:a="http://schemas.openxmlformats.org/drawingml/2006/main" noGrp="1"/>
          </p:cNvSpPr>
          <p:nvPr/>
        </p:nvSpPr>
        <p:spPr>
          <a:xfrm xmlns:a="http://schemas.openxmlformats.org/drawingml/2006/main">
            <a:off x="8420100" y="495300"/>
            <a:ext cx="2857500" cy="266700"/>
          </a:xfrm>
          <a:prstGeom xmlns:a="http://schemas.openxmlformats.org/drawingml/2006/main" prst="rect">
            <a:avLst/>
          </a:prstGeom>
          <a:solidFill xmlns:a="http://schemas.openxmlformats.org/drawingml/2006/main">
            <a:srgbClr val="FF6B35"/>
          </a:solidFill>
          <a:ln xmlns:a="http://schemas.openxmlformats.org/drawingml/2006/main" w="0">
            <a:solidFill>
              <a:srgbClr val="FF6B35"/>
            </a:solidFill>
            <a:prstDash val="solid"/>
          </a:ln>
        </p:spPr>
      </p:sp>
      <p:sp>
        <p:nvSpPr>
          <p:cNvPr id="8" name="">
            <a:extLst xmlns:a="http://schemas.openxmlformats.org/drawingml/2006/main">
              <a:ext uri="{FF2B5EF4-FFF2-40B4-BE49-F238E27FC236}">
                <a16:creationId xmlns:a16="http://schemas.microsoft.com/office/drawing/2014/main" id="{A68140CD-F795-4048-8191-2AC2C1C6C4AD}"/>
              </a:ext>
            </a:extLst>
          </p:cNvPr>
          <p:cNvSpPr>
            <a:spLocks xmlns:a="http://schemas.openxmlformats.org/drawingml/2006/main" noGrp="1"/>
          </p:cNvSpPr>
          <p:nvPr/>
        </p:nvSpPr>
        <p:spPr>
          <a:xfrm xmlns:a="http://schemas.openxmlformats.org/drawingml/2006/main">
            <a:off x="8515350" y="542925"/>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defRPr>
            </a:pPr>
            <a:r>
              <a:rPr sz="975" b="1">
                <a:solidFill>
                  <a:srgbClr val="FFFFFF"/>
                </a:solidFill>
              </a:rPr>
              <a:t>Principes</a:t>
            </a:r>
          </a:p>
        </p:txBody>
      </p:sp>
      <p:sp>
        <p:nvSpPr>
          <p:cNvPr id="9" name="">
            <a:extLst xmlns:a="http://schemas.openxmlformats.org/drawingml/2006/main">
              <a:ext uri="{FF2B5EF4-FFF2-40B4-BE49-F238E27FC236}">
                <a16:creationId xmlns:a16="http://schemas.microsoft.com/office/drawing/2014/main" id="{51AFEC29-8CB9-4E68-88DD-A9E5AEB5C253}"/>
              </a:ext>
            </a:extLst>
          </p:cNvPr>
          <p:cNvSpPr>
            <a:spLocks xmlns:a="http://schemas.openxmlformats.org/drawingml/2006/main" noGrp="1"/>
          </p:cNvSpPr>
          <p:nvPr/>
        </p:nvSpPr>
        <p:spPr>
          <a:xfrm xmlns:a="http://schemas.openxmlformats.org/drawingml/2006/main">
            <a:off x="7334250" y="2876550"/>
            <a:ext cx="3905250" cy="240030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10" name="">
            <a:extLst xmlns:a="http://schemas.openxmlformats.org/drawingml/2006/main">
              <a:ext uri="{FF2B5EF4-FFF2-40B4-BE49-F238E27FC236}">
                <a16:creationId xmlns:a16="http://schemas.microsoft.com/office/drawing/2014/main" id="{9398E3E0-3A90-4FCF-8AC1-68B87420C66B}"/>
              </a:ext>
            </a:extLst>
          </p:cNvPr>
          <p:cNvSpPr>
            <a:spLocks xmlns:a="http://schemas.openxmlformats.org/drawingml/2006/main" noGrp="1"/>
          </p:cNvSpPr>
          <p:nvPr/>
        </p:nvSpPr>
        <p:spPr>
          <a:xfrm xmlns:a="http://schemas.openxmlformats.org/drawingml/2006/main">
            <a:off x="514350" y="3009900"/>
            <a:ext cx="6000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111111"/>
                </a:solidFill>
              </a:defRPr>
            </a:pPr>
            <a:r>
              <a:rPr sz="2250" b="1">
                <a:solidFill>
                  <a:srgbClr val="111111"/>
                </a:solidFill>
              </a:rPr>
              <a:t>Le papier separe trois niveaux : probleme, principe, mecanisme.</a:t>
            </a:r>
          </a:p>
        </p:txBody>
      </p:sp>
      <p:sp>
        <p:nvSpPr>
          <p:cNvPr id="11" name="">
            <a:extLst xmlns:a="http://schemas.openxmlformats.org/drawingml/2006/main">
              <a:ext uri="{FF2B5EF4-FFF2-40B4-BE49-F238E27FC236}">
                <a16:creationId xmlns:a16="http://schemas.microsoft.com/office/drawing/2014/main" id="{5E03739F-D6CF-465F-9526-0DB93050F1F6}"/>
              </a:ext>
            </a:extLst>
          </p:cNvPr>
          <p:cNvSpPr>
            <a:spLocks xmlns:a="http://schemas.openxmlformats.org/drawingml/2006/main" noGrp="1"/>
          </p:cNvSpPr>
          <p:nvPr/>
        </p:nvSpPr>
        <p:spPr>
          <a:xfrm xmlns:a="http://schemas.openxmlformats.org/drawingml/2006/main">
            <a:off x="514350" y="40100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1</a:t>
            </a:r>
          </a:p>
        </p:txBody>
      </p:sp>
      <p:sp>
        <p:nvSpPr>
          <p:cNvPr id="12" name="">
            <a:extLst xmlns:a="http://schemas.openxmlformats.org/drawingml/2006/main">
              <a:ext uri="{FF2B5EF4-FFF2-40B4-BE49-F238E27FC236}">
                <a16:creationId xmlns:a16="http://schemas.microsoft.com/office/drawing/2014/main" id="{F3FCE18C-7AE6-44CC-AA5B-615153767931}"/>
              </a:ext>
            </a:extLst>
          </p:cNvPr>
          <p:cNvSpPr>
            <a:spLocks xmlns:a="http://schemas.openxmlformats.org/drawingml/2006/main" noGrp="1"/>
          </p:cNvSpPr>
          <p:nvPr/>
        </p:nvSpPr>
        <p:spPr>
          <a:xfrm xmlns:a="http://schemas.openxmlformats.org/drawingml/2006/main">
            <a:off x="914400" y="400050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Aligner explicitement sans transformer l'organisation en machine d'execution centrale.</a:t>
            </a:r>
          </a:p>
        </p:txBody>
      </p:sp>
      <p:sp>
        <p:nvSpPr>
          <p:cNvPr id="13" name="">
            <a:extLst xmlns:a="http://schemas.openxmlformats.org/drawingml/2006/main">
              <a:ext uri="{FF2B5EF4-FFF2-40B4-BE49-F238E27FC236}">
                <a16:creationId xmlns:a16="http://schemas.microsoft.com/office/drawing/2014/main" id="{BD9C89E2-0B8B-4FC9-A3A3-A7ECA55CCC39}"/>
              </a:ext>
            </a:extLst>
          </p:cNvPr>
          <p:cNvSpPr>
            <a:spLocks xmlns:a="http://schemas.openxmlformats.org/drawingml/2006/main" noGrp="1"/>
          </p:cNvSpPr>
          <p:nvPr/>
        </p:nvSpPr>
        <p:spPr>
          <a:xfrm xmlns:a="http://schemas.openxmlformats.org/drawingml/2006/main">
            <a:off x="514350" y="452437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2</a:t>
            </a:r>
          </a:p>
        </p:txBody>
      </p:sp>
      <p:sp>
        <p:nvSpPr>
          <p:cNvPr id="14" name="">
            <a:extLst xmlns:a="http://schemas.openxmlformats.org/drawingml/2006/main">
              <a:ext uri="{FF2B5EF4-FFF2-40B4-BE49-F238E27FC236}">
                <a16:creationId xmlns:a16="http://schemas.microsoft.com/office/drawing/2014/main" id="{51D46F2C-C2D4-49B7-A77F-789D72FDCB3D}"/>
              </a:ext>
            </a:extLst>
          </p:cNvPr>
          <p:cNvSpPr>
            <a:spLocks xmlns:a="http://schemas.openxmlformats.org/drawingml/2006/main" noGrp="1"/>
          </p:cNvSpPr>
          <p:nvPr/>
        </p:nvSpPr>
        <p:spPr>
          <a:xfrm xmlns:a="http://schemas.openxmlformats.org/drawingml/2006/main">
            <a:off x="914400" y="451485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Donner de l'autonomie dans des frontieres d'ownership, d'architecture et de decision.</a:t>
            </a:r>
          </a:p>
        </p:txBody>
      </p:sp>
      <p:sp>
        <p:nvSpPr>
          <p:cNvPr id="15" name="">
            <a:extLst xmlns:a="http://schemas.openxmlformats.org/drawingml/2006/main">
              <a:ext uri="{FF2B5EF4-FFF2-40B4-BE49-F238E27FC236}">
                <a16:creationId xmlns:a16="http://schemas.microsoft.com/office/drawing/2014/main" id="{4C0F40AB-FBC2-4E24-8504-4E8572073243}"/>
              </a:ext>
            </a:extLst>
          </p:cNvPr>
          <p:cNvSpPr>
            <a:spLocks xmlns:a="http://schemas.openxmlformats.org/drawingml/2006/main" noGrp="1"/>
          </p:cNvSpPr>
          <p:nvPr/>
        </p:nvSpPr>
        <p:spPr>
          <a:xfrm xmlns:a="http://schemas.openxmlformats.org/drawingml/2006/main">
            <a:off x="514350" y="50387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3</a:t>
            </a:r>
          </a:p>
        </p:txBody>
      </p:sp>
      <p:sp>
        <p:nvSpPr>
          <p:cNvPr id="16" name="">
            <a:extLst xmlns:a="http://schemas.openxmlformats.org/drawingml/2006/main">
              <a:ext uri="{FF2B5EF4-FFF2-40B4-BE49-F238E27FC236}">
                <a16:creationId xmlns:a16="http://schemas.microsoft.com/office/drawing/2014/main" id="{19E9AC0B-685C-4370-8EC8-BE0751B663CE}"/>
              </a:ext>
            </a:extLst>
          </p:cNvPr>
          <p:cNvSpPr>
            <a:spLocks xmlns:a="http://schemas.openxmlformats.org/drawingml/2006/main" noGrp="1"/>
          </p:cNvSpPr>
          <p:nvPr/>
        </p:nvSpPr>
        <p:spPr>
          <a:xfrm xmlns:a="http://schemas.openxmlformats.org/drawingml/2006/main">
            <a:off x="914400" y="502920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Limiter le WIP, rendre le flux visible, integrer souvent et apprendre continuellement.</a:t>
            </a:r>
          </a:p>
        </p:txBody>
      </p:sp>
      <p:sp>
        <p:nvSpPr>
          <p:cNvPr id="17" name="">
            <a:extLst xmlns:a="http://schemas.openxmlformats.org/drawingml/2006/main">
              <a:ext uri="{FF2B5EF4-FFF2-40B4-BE49-F238E27FC236}">
                <a16:creationId xmlns:a16="http://schemas.microsoft.com/office/drawing/2014/main" id="{F075C0AD-FA35-4F87-8A11-756AF3EE4136}"/>
              </a:ext>
            </a:extLst>
          </p:cNvPr>
          <p:cNvSpPr>
            <a:spLocks xmlns:a="http://schemas.openxmlformats.org/drawingml/2006/main" noGrp="1"/>
          </p:cNvSpPr>
          <p:nvPr/>
        </p:nvSpPr>
        <p:spPr>
          <a:xfrm xmlns:a="http://schemas.openxmlformats.org/drawingml/2006/main">
            <a:off x="7620000" y="31051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defRPr>
            </a:pPr>
            <a:r>
              <a:rPr sz="1650" b="1">
                <a:solidFill>
                  <a:srgbClr val="111111"/>
                </a:solidFill>
              </a:rPr>
              <a:t>Question utile</a:t>
            </a:r>
          </a:p>
        </p:txBody>
      </p:sp>
      <p:sp>
        <p:nvSpPr>
          <p:cNvPr id="18" name="">
            <a:extLst xmlns:a="http://schemas.openxmlformats.org/drawingml/2006/main">
              <a:ext uri="{FF2B5EF4-FFF2-40B4-BE49-F238E27FC236}">
                <a16:creationId xmlns:a16="http://schemas.microsoft.com/office/drawing/2014/main" id="{5660CBCB-A68E-47DF-BF12-16C894444884}"/>
              </a:ext>
            </a:extLst>
          </p:cNvPr>
          <p:cNvSpPr>
            <a:spLocks xmlns:a="http://schemas.openxmlformats.org/drawingml/2006/main" noGrp="1"/>
          </p:cNvSpPr>
          <p:nvPr/>
        </p:nvSpPr>
        <p:spPr>
          <a:xfrm xmlns:a="http://schemas.openxmlformats.org/drawingml/2006/main">
            <a:off x="7620000" y="3638550"/>
            <a:ext cx="342900" cy="38100"/>
          </a:xfrm>
          <a:prstGeom xmlns:a="http://schemas.openxmlformats.org/drawingml/2006/main" prst="rect">
            <a:avLst/>
          </a:prstGeom>
          <a:solidFill xmlns:a="http://schemas.openxmlformats.org/drawingml/2006/main">
            <a:srgbClr val="FF6B35"/>
          </a:solidFill>
          <a:ln xmlns:a="http://schemas.openxmlformats.org/drawingml/2006/main" w="0">
            <a:solidFill>
              <a:srgbClr val="FF6B35"/>
            </a:solidFill>
            <a:prstDash val="solid"/>
          </a:ln>
        </p:spPr>
      </p:sp>
      <p:sp>
        <p:nvSpPr>
          <p:cNvPr id="19" name="">
            <a:extLst xmlns:a="http://schemas.openxmlformats.org/drawingml/2006/main">
              <a:ext uri="{FF2B5EF4-FFF2-40B4-BE49-F238E27FC236}">
                <a16:creationId xmlns:a16="http://schemas.microsoft.com/office/drawing/2014/main" id="{564E01E8-FFEA-4167-88B5-B782A1186789}"/>
              </a:ext>
            </a:extLst>
          </p:cNvPr>
          <p:cNvSpPr>
            <a:spLocks xmlns:a="http://schemas.openxmlformats.org/drawingml/2006/main" noGrp="1"/>
          </p:cNvSpPr>
          <p:nvPr/>
        </p:nvSpPr>
        <p:spPr>
          <a:xfrm xmlns:a="http://schemas.openxmlformats.org/drawingml/2006/main">
            <a:off x="8077200" y="35433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Quel probleme avons-nous ?</a:t>
            </a:r>
          </a:p>
        </p:txBody>
      </p:sp>
      <p:sp>
        <p:nvSpPr>
          <p:cNvPr id="20" name="">
            <a:extLst xmlns:a="http://schemas.openxmlformats.org/drawingml/2006/main">
              <a:ext uri="{FF2B5EF4-FFF2-40B4-BE49-F238E27FC236}">
                <a16:creationId xmlns:a16="http://schemas.microsoft.com/office/drawing/2014/main" id="{7CDEFF19-6A70-4171-8819-BEC9E4383367}"/>
              </a:ext>
            </a:extLst>
          </p:cNvPr>
          <p:cNvSpPr>
            <a:spLocks xmlns:a="http://schemas.openxmlformats.org/drawingml/2006/main" noGrp="1"/>
          </p:cNvSpPr>
          <p:nvPr/>
        </p:nvSpPr>
        <p:spPr>
          <a:xfrm xmlns:a="http://schemas.openxmlformats.org/drawingml/2006/main">
            <a:off x="7620000" y="40576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1" name="">
            <a:extLst xmlns:a="http://schemas.openxmlformats.org/drawingml/2006/main">
              <a:ext uri="{FF2B5EF4-FFF2-40B4-BE49-F238E27FC236}">
                <a16:creationId xmlns:a16="http://schemas.microsoft.com/office/drawing/2014/main" id="{B296B340-60F5-4397-96B8-165C364BEE06}"/>
              </a:ext>
            </a:extLst>
          </p:cNvPr>
          <p:cNvSpPr>
            <a:spLocks xmlns:a="http://schemas.openxmlformats.org/drawingml/2006/main" noGrp="1"/>
          </p:cNvSpPr>
          <p:nvPr/>
        </p:nvSpPr>
        <p:spPr>
          <a:xfrm xmlns:a="http://schemas.openxmlformats.org/drawingml/2006/main">
            <a:off x="8077200" y="39624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Quel principe repond au probleme ?</a:t>
            </a:r>
          </a:p>
        </p:txBody>
      </p:sp>
      <p:sp>
        <p:nvSpPr>
          <p:cNvPr id="22" name="">
            <a:extLst xmlns:a="http://schemas.openxmlformats.org/drawingml/2006/main">
              <a:ext uri="{FF2B5EF4-FFF2-40B4-BE49-F238E27FC236}">
                <a16:creationId xmlns:a16="http://schemas.microsoft.com/office/drawing/2014/main" id="{DFEA96A8-1D3E-47B0-874B-118D0DFA0E27}"/>
              </a:ext>
            </a:extLst>
          </p:cNvPr>
          <p:cNvSpPr>
            <a:spLocks xmlns:a="http://schemas.openxmlformats.org/drawingml/2006/main" noGrp="1"/>
          </p:cNvSpPr>
          <p:nvPr/>
        </p:nvSpPr>
        <p:spPr>
          <a:xfrm xmlns:a="http://schemas.openxmlformats.org/drawingml/2006/main">
            <a:off x="7620000" y="44767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3" name="">
            <a:extLst xmlns:a="http://schemas.openxmlformats.org/drawingml/2006/main">
              <a:ext uri="{FF2B5EF4-FFF2-40B4-BE49-F238E27FC236}">
                <a16:creationId xmlns:a16="http://schemas.microsoft.com/office/drawing/2014/main" id="{609D8644-00CC-4D3D-BBD9-0A55316608F2}"/>
              </a:ext>
            </a:extLst>
          </p:cNvPr>
          <p:cNvSpPr>
            <a:spLocks xmlns:a="http://schemas.openxmlformats.org/drawingml/2006/main" noGrp="1"/>
          </p:cNvSpPr>
          <p:nvPr/>
        </p:nvSpPr>
        <p:spPr>
          <a:xfrm xmlns:a="http://schemas.openxmlformats.org/drawingml/2006/main">
            <a:off x="8077200" y="43815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Quel mecanisme coute le moins ?</a:t>
            </a:r>
          </a:p>
        </p:txBody>
      </p:sp>
      <p:sp>
        <p:nvSpPr>
          <p:cNvPr id="24" name="">
            <a:extLst xmlns:a="http://schemas.openxmlformats.org/drawingml/2006/main">
              <a:ext uri="{FF2B5EF4-FFF2-40B4-BE49-F238E27FC236}">
                <a16:creationId xmlns:a16="http://schemas.microsoft.com/office/drawing/2014/main" id="{07C069F4-6303-426C-8B6C-549DC3DCC9C8}"/>
              </a:ext>
            </a:extLst>
          </p:cNvPr>
          <p:cNvSpPr>
            <a:spLocks xmlns:a="http://schemas.openxmlformats.org/drawingml/2006/main" noGrp="1"/>
          </p:cNvSpPr>
          <p:nvPr/>
        </p:nvSpPr>
        <p:spPr>
          <a:xfrm xmlns:a="http://schemas.openxmlformats.org/drawingml/2006/main">
            <a:off x="7620000" y="48958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5" name="">
            <a:extLst xmlns:a="http://schemas.openxmlformats.org/drawingml/2006/main">
              <a:ext uri="{FF2B5EF4-FFF2-40B4-BE49-F238E27FC236}">
                <a16:creationId xmlns:a16="http://schemas.microsoft.com/office/drawing/2014/main" id="{95D71920-3941-4051-BFB5-644ADF6D0A5C}"/>
              </a:ext>
            </a:extLst>
          </p:cNvPr>
          <p:cNvSpPr>
            <a:spLocks xmlns:a="http://schemas.openxmlformats.org/drawingml/2006/main" noGrp="1"/>
          </p:cNvSpPr>
          <p:nvPr/>
        </p:nvSpPr>
        <p:spPr>
          <a:xfrm xmlns:a="http://schemas.openxmlformats.org/drawingml/2006/main">
            <a:off x="8077200" y="48006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Quel risque si on retire ?</a:t>
            </a:r>
          </a:p>
        </p:txBody>
      </p:sp>
    </p:spTree>
    <p:extLst>
      <p:ext uri="{BB962C8B-B14F-4D97-AF65-F5344CB8AC3E}">
        <p14:creationId xmlns:p14="http://schemas.microsoft.com/office/powerpoint/2010/main" val="75006676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8A5AEA8-D514-418E-AB30-896A98928591}"/>
              </a:ext>
            </a:extLst>
          </p:cNvPr>
          <p:cNvSpPr>
            <a:spLocks xmlns:a="http://schemas.openxmlformats.org/drawingml/2006/main" noGrp="1"/>
          </p:cNvSpPr>
          <p:nvPr/>
        </p:nvSpPr>
        <p:spPr>
          <a:xfrm xmlns:a="http://schemas.openxmlformats.org/drawingml/2006/main">
            <a:off x="514350" y="381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565656"/>
                </a:solidFill>
              </a:defRPr>
            </a:pPr>
            <a:r>
              <a:rPr sz="1050" b="1">
                <a:solidFill>
                  <a:srgbClr val="565656"/>
                </a:solidFill>
              </a:rPr>
              <a:t>CHAPITRE 3</a:t>
            </a:r>
          </a:p>
        </p:txBody>
      </p:sp>
      <p:sp>
        <p:nvSpPr>
          <p:cNvPr id="2" name="">
            <a:extLst xmlns:a="http://schemas.openxmlformats.org/drawingml/2006/main">
              <a:ext uri="{FF2B5EF4-FFF2-40B4-BE49-F238E27FC236}">
                <a16:creationId xmlns:a16="http://schemas.microsoft.com/office/drawing/2014/main" id="{6C4F1087-54B6-4B57-99AB-07370E9D74F1}"/>
              </a:ext>
            </a:extLst>
          </p:cNvPr>
          <p:cNvSpPr>
            <a:spLocks xmlns:a="http://schemas.openxmlformats.org/drawingml/2006/main" noGrp="1"/>
          </p:cNvSpPr>
          <p:nvPr/>
        </p:nvSpPr>
        <p:spPr>
          <a:xfrm xmlns:a="http://schemas.openxmlformats.org/drawingml/2006/main">
            <a:off x="514350" y="800100"/>
            <a:ext cx="7429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111111"/>
                </a:solidFill>
              </a:defRPr>
            </a:pPr>
            <a:r>
              <a:rPr sz="3150" b="1">
                <a:solidFill>
                  <a:srgbClr val="111111"/>
                </a:solidFill>
              </a:rPr>
              <a:t>Les frameworks sont des bibliotheques de mecanismes, pas des reponses totales</a:t>
            </a:r>
          </a:p>
        </p:txBody>
      </p:sp>
      <p:sp>
        <p:nvSpPr>
          <p:cNvPr id="3" name="">
            <a:extLst xmlns:a="http://schemas.openxmlformats.org/drawingml/2006/main">
              <a:ext uri="{FF2B5EF4-FFF2-40B4-BE49-F238E27FC236}">
                <a16:creationId xmlns:a16="http://schemas.microsoft.com/office/drawing/2014/main" id="{61608D04-B14A-4558-AB27-5F9577F20672}"/>
              </a:ext>
            </a:extLst>
          </p:cNvPr>
          <p:cNvSpPr>
            <a:spLocks xmlns:a="http://schemas.openxmlformats.org/drawingml/2006/main" noGrp="1"/>
          </p:cNvSpPr>
          <p:nvPr/>
        </p:nvSpPr>
        <p:spPr>
          <a:xfrm xmlns:a="http://schemas.openxmlformats.org/drawingml/2006/main">
            <a:off x="514350" y="1962150"/>
            <a:ext cx="733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65656"/>
                </a:solidFill>
              </a:defRPr>
            </a:pPr>
            <a:r>
              <a:rPr sz="1500" b="0">
                <a:solidFill>
                  <a:srgbClr val="565656"/>
                </a:solidFill>
              </a:rPr>
              <a:t>SAFe, LeSS, Nexus, Kanban, Team Topologies, Flight Levels ou Shape Up ne partent pas du meme diagnostic.</a:t>
            </a:r>
          </a:p>
        </p:txBody>
      </p:sp>
      <p:sp>
        <p:nvSpPr>
          <p:cNvPr id="4" name="">
            <a:extLst xmlns:a="http://schemas.openxmlformats.org/drawingml/2006/main">
              <a:ext uri="{FF2B5EF4-FFF2-40B4-BE49-F238E27FC236}">
                <a16:creationId xmlns:a16="http://schemas.microsoft.com/office/drawing/2014/main" id="{9841F0DD-B8C8-4ECE-BC22-CCA945AEA5BB}"/>
              </a:ext>
            </a:extLst>
          </p:cNvPr>
          <p:cNvSpPr>
            <a:spLocks xmlns:a="http://schemas.openxmlformats.org/drawingml/2006/main" noGrp="1"/>
          </p:cNvSpPr>
          <p:nvPr/>
        </p:nvSpPr>
        <p:spPr>
          <a:xfrm xmlns:a="http://schemas.openxmlformats.org/drawingml/2006/main">
            <a:off x="514350" y="6191250"/>
            <a:ext cx="111633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
            <a:extLst xmlns:a="http://schemas.openxmlformats.org/drawingml/2006/main">
              <a:ext uri="{FF2B5EF4-FFF2-40B4-BE49-F238E27FC236}">
                <a16:creationId xmlns:a16="http://schemas.microsoft.com/office/drawing/2014/main" id="{D5AF1B3B-0FE3-48AA-825B-A78D9A07E04B}"/>
              </a:ext>
            </a:extLst>
          </p:cNvPr>
          <p:cNvSpPr>
            <a:spLocks xmlns:a="http://schemas.openxmlformats.org/drawingml/2006/main" noGrp="1"/>
          </p:cNvSpPr>
          <p:nvPr/>
        </p:nvSpPr>
        <p:spPr>
          <a:xfrm xmlns:a="http://schemas.openxmlformats.org/drawingml/2006/main">
            <a:off x="514350" y="63055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65656"/>
                </a:solidFill>
              </a:defRPr>
            </a:pPr>
            <a:r>
              <a:rPr sz="975" b="0">
                <a:solidFill>
                  <a:srgbClr val="565656"/>
                </a:solidFill>
              </a:rPr>
              <a:t>Repenser la coordination logicielle a grande echelle</a:t>
            </a:r>
          </a:p>
        </p:txBody>
      </p:sp>
      <p:sp>
        <p:nvSpPr>
          <p:cNvPr id="6" name="">
            <a:extLst xmlns:a="http://schemas.openxmlformats.org/drawingml/2006/main">
              <a:ext uri="{FF2B5EF4-FFF2-40B4-BE49-F238E27FC236}">
                <a16:creationId xmlns:a16="http://schemas.microsoft.com/office/drawing/2014/main" id="{E742A1F3-E307-427C-96E5-384FC93D1EE3}"/>
              </a:ext>
            </a:extLst>
          </p:cNvPr>
          <p:cNvSpPr>
            <a:spLocks xmlns:a="http://schemas.openxmlformats.org/drawingml/2006/main" noGrp="1"/>
          </p:cNvSpPr>
          <p:nvPr/>
        </p:nvSpPr>
        <p:spPr>
          <a:xfrm xmlns:a="http://schemas.openxmlformats.org/drawingml/2006/main">
            <a:off x="11258550" y="63055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65656"/>
                </a:solidFill>
              </a:defRPr>
            </a:pPr>
            <a:r>
              <a:rPr sz="975" b="0">
                <a:solidFill>
                  <a:srgbClr val="565656"/>
                </a:solidFill>
              </a:rPr>
              <a:t>04</a:t>
            </a:r>
          </a:p>
        </p:txBody>
      </p:sp>
      <p:sp>
        <p:nvSpPr>
          <p:cNvPr id="7" name="">
            <a:extLst xmlns:a="http://schemas.openxmlformats.org/drawingml/2006/main">
              <a:ext uri="{FF2B5EF4-FFF2-40B4-BE49-F238E27FC236}">
                <a16:creationId xmlns:a16="http://schemas.microsoft.com/office/drawing/2014/main" id="{9AF80F26-5A17-41C3-8A2D-23B11E1374DB}"/>
              </a:ext>
            </a:extLst>
          </p:cNvPr>
          <p:cNvSpPr>
            <a:spLocks xmlns:a="http://schemas.openxmlformats.org/drawingml/2006/main" noGrp="1"/>
          </p:cNvSpPr>
          <p:nvPr/>
        </p:nvSpPr>
        <p:spPr>
          <a:xfrm xmlns:a="http://schemas.openxmlformats.org/drawingml/2006/main">
            <a:off x="8420100" y="495300"/>
            <a:ext cx="2857500" cy="266700"/>
          </a:xfrm>
          <a:prstGeom xmlns:a="http://schemas.openxmlformats.org/drawingml/2006/main" prst="rect">
            <a:avLst/>
          </a:prstGeom>
          <a:solidFill xmlns:a="http://schemas.openxmlformats.org/drawingml/2006/main">
            <a:srgbClr val="FF6B35"/>
          </a:solidFill>
          <a:ln xmlns:a="http://schemas.openxmlformats.org/drawingml/2006/main" w="0">
            <a:solidFill>
              <a:srgbClr val="FF6B35"/>
            </a:solidFill>
            <a:prstDash val="solid"/>
          </a:ln>
        </p:spPr>
      </p:sp>
      <p:sp>
        <p:nvSpPr>
          <p:cNvPr id="8" name="">
            <a:extLst xmlns:a="http://schemas.openxmlformats.org/drawingml/2006/main">
              <a:ext uri="{FF2B5EF4-FFF2-40B4-BE49-F238E27FC236}">
                <a16:creationId xmlns:a16="http://schemas.microsoft.com/office/drawing/2014/main" id="{1F750AE1-B82A-425B-AC3C-032410CE80B2}"/>
              </a:ext>
            </a:extLst>
          </p:cNvPr>
          <p:cNvSpPr>
            <a:spLocks xmlns:a="http://schemas.openxmlformats.org/drawingml/2006/main" noGrp="1"/>
          </p:cNvSpPr>
          <p:nvPr/>
        </p:nvSpPr>
        <p:spPr>
          <a:xfrm xmlns:a="http://schemas.openxmlformats.org/drawingml/2006/main">
            <a:off x="8515350" y="542925"/>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defRPr>
            </a:pPr>
            <a:r>
              <a:rPr sz="975" b="1">
                <a:solidFill>
                  <a:srgbClr val="FFFFFF"/>
                </a:solidFill>
              </a:rPr>
              <a:t>Lecture comparative</a:t>
            </a:r>
          </a:p>
        </p:txBody>
      </p:sp>
      <p:sp>
        <p:nvSpPr>
          <p:cNvPr id="9" name="">
            <a:extLst xmlns:a="http://schemas.openxmlformats.org/drawingml/2006/main">
              <a:ext uri="{FF2B5EF4-FFF2-40B4-BE49-F238E27FC236}">
                <a16:creationId xmlns:a16="http://schemas.microsoft.com/office/drawing/2014/main" id="{FB018FE1-311D-4F39-B049-695C0726AB66}"/>
              </a:ext>
            </a:extLst>
          </p:cNvPr>
          <p:cNvSpPr>
            <a:spLocks xmlns:a="http://schemas.openxmlformats.org/drawingml/2006/main" noGrp="1"/>
          </p:cNvSpPr>
          <p:nvPr/>
        </p:nvSpPr>
        <p:spPr>
          <a:xfrm xmlns:a="http://schemas.openxmlformats.org/drawingml/2006/main">
            <a:off x="7334250" y="2876550"/>
            <a:ext cx="3905250" cy="240030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10" name="">
            <a:extLst xmlns:a="http://schemas.openxmlformats.org/drawingml/2006/main">
              <a:ext uri="{FF2B5EF4-FFF2-40B4-BE49-F238E27FC236}">
                <a16:creationId xmlns:a16="http://schemas.microsoft.com/office/drawing/2014/main" id="{137F698F-2C85-4C20-9028-DAFAA3F1D1E0}"/>
              </a:ext>
            </a:extLst>
          </p:cNvPr>
          <p:cNvSpPr>
            <a:spLocks xmlns:a="http://schemas.openxmlformats.org/drawingml/2006/main" noGrp="1"/>
          </p:cNvSpPr>
          <p:nvPr/>
        </p:nvSpPr>
        <p:spPr>
          <a:xfrm xmlns:a="http://schemas.openxmlformats.org/drawingml/2006/main">
            <a:off x="514350" y="3009900"/>
            <a:ext cx="6000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111111"/>
                </a:solidFill>
              </a:defRPr>
            </a:pPr>
            <a:r>
              <a:rPr sz="2250" b="1">
                <a:solidFill>
                  <a:srgbClr val="111111"/>
                </a:solidFill>
              </a:rPr>
              <a:t>La bonne comparaison n'est pas 'quel framework est meilleur ?', mais 'quel compromis traite quel probleme ?'.</a:t>
            </a:r>
          </a:p>
        </p:txBody>
      </p:sp>
      <p:sp>
        <p:nvSpPr>
          <p:cNvPr id="11" name="">
            <a:extLst xmlns:a="http://schemas.openxmlformats.org/drawingml/2006/main">
              <a:ext uri="{FF2B5EF4-FFF2-40B4-BE49-F238E27FC236}">
                <a16:creationId xmlns:a16="http://schemas.microsoft.com/office/drawing/2014/main" id="{DF678E5B-7C31-4CE2-8171-7401AA8583BF}"/>
              </a:ext>
            </a:extLst>
          </p:cNvPr>
          <p:cNvSpPr>
            <a:spLocks xmlns:a="http://schemas.openxmlformats.org/drawingml/2006/main" noGrp="1"/>
          </p:cNvSpPr>
          <p:nvPr/>
        </p:nvSpPr>
        <p:spPr>
          <a:xfrm xmlns:a="http://schemas.openxmlformats.org/drawingml/2006/main">
            <a:off x="514350" y="40100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1</a:t>
            </a:r>
          </a:p>
        </p:txBody>
      </p:sp>
      <p:sp>
        <p:nvSpPr>
          <p:cNvPr id="12" name="">
            <a:extLst xmlns:a="http://schemas.openxmlformats.org/drawingml/2006/main">
              <a:ext uri="{FF2B5EF4-FFF2-40B4-BE49-F238E27FC236}">
                <a16:creationId xmlns:a16="http://schemas.microsoft.com/office/drawing/2014/main" id="{0043285D-F1B2-4E69-9E81-65D81DA2D69A}"/>
              </a:ext>
            </a:extLst>
          </p:cNvPr>
          <p:cNvSpPr>
            <a:spLocks xmlns:a="http://schemas.openxmlformats.org/drawingml/2006/main" noGrp="1"/>
          </p:cNvSpPr>
          <p:nvPr/>
        </p:nvSpPr>
        <p:spPr>
          <a:xfrm xmlns:a="http://schemas.openxmlformats.org/drawingml/2006/main">
            <a:off x="914400" y="400050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SAFe explicite la coordination d'entreprise, mais peut institutionnaliser les dependances.</a:t>
            </a:r>
          </a:p>
        </p:txBody>
      </p:sp>
      <p:sp>
        <p:nvSpPr>
          <p:cNvPr id="13" name="">
            <a:extLst xmlns:a="http://schemas.openxmlformats.org/drawingml/2006/main">
              <a:ext uri="{FF2B5EF4-FFF2-40B4-BE49-F238E27FC236}">
                <a16:creationId xmlns:a16="http://schemas.microsoft.com/office/drawing/2014/main" id="{56DA3E99-4C65-4582-8D58-C29456754BD2}"/>
              </a:ext>
            </a:extLst>
          </p:cNvPr>
          <p:cNvSpPr>
            <a:spLocks xmlns:a="http://schemas.openxmlformats.org/drawingml/2006/main" noGrp="1"/>
          </p:cNvSpPr>
          <p:nvPr/>
        </p:nvSpPr>
        <p:spPr>
          <a:xfrm xmlns:a="http://schemas.openxmlformats.org/drawingml/2006/main">
            <a:off x="514350" y="452437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2</a:t>
            </a:r>
          </a:p>
        </p:txBody>
      </p:sp>
      <p:sp>
        <p:nvSpPr>
          <p:cNvPr id="14" name="">
            <a:extLst xmlns:a="http://schemas.openxmlformats.org/drawingml/2006/main">
              <a:ext uri="{FF2B5EF4-FFF2-40B4-BE49-F238E27FC236}">
                <a16:creationId xmlns:a16="http://schemas.microsoft.com/office/drawing/2014/main" id="{CE75B581-C120-4086-A850-20AB6A47C337}"/>
              </a:ext>
            </a:extLst>
          </p:cNvPr>
          <p:cNvSpPr>
            <a:spLocks xmlns:a="http://schemas.openxmlformats.org/drawingml/2006/main" noGrp="1"/>
          </p:cNvSpPr>
          <p:nvPr/>
        </p:nvSpPr>
        <p:spPr>
          <a:xfrm xmlns:a="http://schemas.openxmlformats.org/drawingml/2006/main">
            <a:off x="914400" y="451485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LeSS et Team Topologies cherchent davantage a reduire la complexite structurelle.</a:t>
            </a:r>
          </a:p>
        </p:txBody>
      </p:sp>
      <p:sp>
        <p:nvSpPr>
          <p:cNvPr id="15" name="">
            <a:extLst xmlns:a="http://schemas.openxmlformats.org/drawingml/2006/main">
              <a:ext uri="{FF2B5EF4-FFF2-40B4-BE49-F238E27FC236}">
                <a16:creationId xmlns:a16="http://schemas.microsoft.com/office/drawing/2014/main" id="{FAA92EB2-26D8-4041-A4A6-C9D40930E8D7}"/>
              </a:ext>
            </a:extLst>
          </p:cNvPr>
          <p:cNvSpPr>
            <a:spLocks xmlns:a="http://schemas.openxmlformats.org/drawingml/2006/main" noGrp="1"/>
          </p:cNvSpPr>
          <p:nvPr/>
        </p:nvSpPr>
        <p:spPr>
          <a:xfrm xmlns:a="http://schemas.openxmlformats.org/drawingml/2006/main">
            <a:off x="514350" y="50387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3</a:t>
            </a:r>
          </a:p>
        </p:txBody>
      </p:sp>
      <p:sp>
        <p:nvSpPr>
          <p:cNvPr id="16" name="">
            <a:extLst xmlns:a="http://schemas.openxmlformats.org/drawingml/2006/main">
              <a:ext uri="{FF2B5EF4-FFF2-40B4-BE49-F238E27FC236}">
                <a16:creationId xmlns:a16="http://schemas.microsoft.com/office/drawing/2014/main" id="{F8A4A688-4C67-45E0-826A-DF1EE9A3CE6A}"/>
              </a:ext>
            </a:extLst>
          </p:cNvPr>
          <p:cNvSpPr>
            <a:spLocks xmlns:a="http://schemas.openxmlformats.org/drawingml/2006/main" noGrp="1"/>
          </p:cNvSpPr>
          <p:nvPr/>
        </p:nvSpPr>
        <p:spPr>
          <a:xfrm xmlns:a="http://schemas.openxmlformats.org/drawingml/2006/main">
            <a:off x="914400" y="502920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Kanban et Flight Levels rendent le flux et la capacite visibles, mais exigent de vrais arbitrages.</a:t>
            </a:r>
          </a:p>
        </p:txBody>
      </p:sp>
      <p:sp>
        <p:nvSpPr>
          <p:cNvPr id="17" name="">
            <a:extLst xmlns:a="http://schemas.openxmlformats.org/drawingml/2006/main">
              <a:ext uri="{FF2B5EF4-FFF2-40B4-BE49-F238E27FC236}">
                <a16:creationId xmlns:a16="http://schemas.microsoft.com/office/drawing/2014/main" id="{DB2465A8-5031-42F6-A7FB-99B0D5CBF625}"/>
              </a:ext>
            </a:extLst>
          </p:cNvPr>
          <p:cNvSpPr>
            <a:spLocks xmlns:a="http://schemas.openxmlformats.org/drawingml/2006/main" noGrp="1"/>
          </p:cNvSpPr>
          <p:nvPr/>
        </p:nvSpPr>
        <p:spPr>
          <a:xfrm xmlns:a="http://schemas.openxmlformats.org/drawingml/2006/main">
            <a:off x="7620000" y="31051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defRPr>
            </a:pPr>
            <a:r>
              <a:rPr sz="1650" b="1">
                <a:solidFill>
                  <a:srgbClr val="111111"/>
                </a:solidFill>
              </a:rPr>
              <a:t>Patterns communs</a:t>
            </a:r>
          </a:p>
        </p:txBody>
      </p:sp>
      <p:sp>
        <p:nvSpPr>
          <p:cNvPr id="18" name="">
            <a:extLst xmlns:a="http://schemas.openxmlformats.org/drawingml/2006/main">
              <a:ext uri="{FF2B5EF4-FFF2-40B4-BE49-F238E27FC236}">
                <a16:creationId xmlns:a16="http://schemas.microsoft.com/office/drawing/2014/main" id="{4D270871-C715-4A07-85F4-67B7554578FE}"/>
              </a:ext>
            </a:extLst>
          </p:cNvPr>
          <p:cNvSpPr>
            <a:spLocks xmlns:a="http://schemas.openxmlformats.org/drawingml/2006/main" noGrp="1"/>
          </p:cNvSpPr>
          <p:nvPr/>
        </p:nvSpPr>
        <p:spPr>
          <a:xfrm xmlns:a="http://schemas.openxmlformats.org/drawingml/2006/main">
            <a:off x="7620000" y="3638550"/>
            <a:ext cx="342900" cy="38100"/>
          </a:xfrm>
          <a:prstGeom xmlns:a="http://schemas.openxmlformats.org/drawingml/2006/main" prst="rect">
            <a:avLst/>
          </a:prstGeom>
          <a:solidFill xmlns:a="http://schemas.openxmlformats.org/drawingml/2006/main">
            <a:srgbClr val="FF6B35"/>
          </a:solidFill>
          <a:ln xmlns:a="http://schemas.openxmlformats.org/drawingml/2006/main" w="0">
            <a:solidFill>
              <a:srgbClr val="FF6B35"/>
            </a:solidFill>
            <a:prstDash val="solid"/>
          </a:ln>
        </p:spPr>
      </p:sp>
      <p:sp>
        <p:nvSpPr>
          <p:cNvPr id="19" name="">
            <a:extLst xmlns:a="http://schemas.openxmlformats.org/drawingml/2006/main">
              <a:ext uri="{FF2B5EF4-FFF2-40B4-BE49-F238E27FC236}">
                <a16:creationId xmlns:a16="http://schemas.microsoft.com/office/drawing/2014/main" id="{4CD36924-49BD-46A4-A825-88234EB956F1}"/>
              </a:ext>
            </a:extLst>
          </p:cNvPr>
          <p:cNvSpPr>
            <a:spLocks xmlns:a="http://schemas.openxmlformats.org/drawingml/2006/main" noGrp="1"/>
          </p:cNvSpPr>
          <p:nvPr/>
        </p:nvSpPr>
        <p:spPr>
          <a:xfrm xmlns:a="http://schemas.openxmlformats.org/drawingml/2006/main">
            <a:off x="8077200" y="35433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Rendre visible</a:t>
            </a:r>
          </a:p>
        </p:txBody>
      </p:sp>
      <p:sp>
        <p:nvSpPr>
          <p:cNvPr id="20" name="">
            <a:extLst xmlns:a="http://schemas.openxmlformats.org/drawingml/2006/main">
              <a:ext uri="{FF2B5EF4-FFF2-40B4-BE49-F238E27FC236}">
                <a16:creationId xmlns:a16="http://schemas.microsoft.com/office/drawing/2014/main" id="{85B97A11-516A-4D50-99C7-5F381CB4BD5C}"/>
              </a:ext>
            </a:extLst>
          </p:cNvPr>
          <p:cNvSpPr>
            <a:spLocks xmlns:a="http://schemas.openxmlformats.org/drawingml/2006/main" noGrp="1"/>
          </p:cNvSpPr>
          <p:nvPr/>
        </p:nvSpPr>
        <p:spPr>
          <a:xfrm xmlns:a="http://schemas.openxmlformats.org/drawingml/2006/main">
            <a:off x="7620000" y="40576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1" name="">
            <a:extLst xmlns:a="http://schemas.openxmlformats.org/drawingml/2006/main">
              <a:ext uri="{FF2B5EF4-FFF2-40B4-BE49-F238E27FC236}">
                <a16:creationId xmlns:a16="http://schemas.microsoft.com/office/drawing/2014/main" id="{BA0B0415-6014-45FC-9C5F-4F3E21815F96}"/>
              </a:ext>
            </a:extLst>
          </p:cNvPr>
          <p:cNvSpPr>
            <a:spLocks xmlns:a="http://schemas.openxmlformats.org/drawingml/2006/main" noGrp="1"/>
          </p:cNvSpPr>
          <p:nvPr/>
        </p:nvSpPr>
        <p:spPr>
          <a:xfrm xmlns:a="http://schemas.openxmlformats.org/drawingml/2006/main">
            <a:off x="8077200" y="39624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Creer une cadence</a:t>
            </a:r>
          </a:p>
        </p:txBody>
      </p:sp>
      <p:sp>
        <p:nvSpPr>
          <p:cNvPr id="22" name="">
            <a:extLst xmlns:a="http://schemas.openxmlformats.org/drawingml/2006/main">
              <a:ext uri="{FF2B5EF4-FFF2-40B4-BE49-F238E27FC236}">
                <a16:creationId xmlns:a16="http://schemas.microsoft.com/office/drawing/2014/main" id="{A08C07D4-C462-402E-82AB-F977DD9FE583}"/>
              </a:ext>
            </a:extLst>
          </p:cNvPr>
          <p:cNvSpPr>
            <a:spLocks xmlns:a="http://schemas.openxmlformats.org/drawingml/2006/main" noGrp="1"/>
          </p:cNvSpPr>
          <p:nvPr/>
        </p:nvSpPr>
        <p:spPr>
          <a:xfrm xmlns:a="http://schemas.openxmlformats.org/drawingml/2006/main">
            <a:off x="7620000" y="44767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3" name="">
            <a:extLst xmlns:a="http://schemas.openxmlformats.org/drawingml/2006/main">
              <a:ext uri="{FF2B5EF4-FFF2-40B4-BE49-F238E27FC236}">
                <a16:creationId xmlns:a16="http://schemas.microsoft.com/office/drawing/2014/main" id="{C2A288F1-13CB-4D9F-8C9D-DC955381EE9C}"/>
              </a:ext>
            </a:extLst>
          </p:cNvPr>
          <p:cNvSpPr>
            <a:spLocks xmlns:a="http://schemas.openxmlformats.org/drawingml/2006/main" noGrp="1"/>
          </p:cNvSpPr>
          <p:nvPr/>
        </p:nvSpPr>
        <p:spPr>
          <a:xfrm xmlns:a="http://schemas.openxmlformats.org/drawingml/2006/main">
            <a:off x="8077200" y="43815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Definir des frontieres</a:t>
            </a:r>
          </a:p>
        </p:txBody>
      </p:sp>
      <p:sp>
        <p:nvSpPr>
          <p:cNvPr id="24" name="">
            <a:extLst xmlns:a="http://schemas.openxmlformats.org/drawingml/2006/main">
              <a:ext uri="{FF2B5EF4-FFF2-40B4-BE49-F238E27FC236}">
                <a16:creationId xmlns:a16="http://schemas.microsoft.com/office/drawing/2014/main" id="{296DD26D-BC52-45B8-B092-1E7F6D5ED166}"/>
              </a:ext>
            </a:extLst>
          </p:cNvPr>
          <p:cNvSpPr>
            <a:spLocks xmlns:a="http://schemas.openxmlformats.org/drawingml/2006/main" noGrp="1"/>
          </p:cNvSpPr>
          <p:nvPr/>
        </p:nvSpPr>
        <p:spPr>
          <a:xfrm xmlns:a="http://schemas.openxmlformats.org/drawingml/2006/main">
            <a:off x="7620000" y="48958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5" name="">
            <a:extLst xmlns:a="http://schemas.openxmlformats.org/drawingml/2006/main">
              <a:ext uri="{FF2B5EF4-FFF2-40B4-BE49-F238E27FC236}">
                <a16:creationId xmlns:a16="http://schemas.microsoft.com/office/drawing/2014/main" id="{44793F1B-1091-4BF8-9385-1F5A204B061B}"/>
              </a:ext>
            </a:extLst>
          </p:cNvPr>
          <p:cNvSpPr>
            <a:spLocks xmlns:a="http://schemas.openxmlformats.org/drawingml/2006/main" noGrp="1"/>
          </p:cNvSpPr>
          <p:nvPr/>
        </p:nvSpPr>
        <p:spPr>
          <a:xfrm xmlns:a="http://schemas.openxmlformats.org/drawingml/2006/main">
            <a:off x="8077200" y="48006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Arbitrer la capacite</a:t>
            </a:r>
          </a:p>
        </p:txBody>
      </p:sp>
    </p:spTree>
    <p:extLst>
      <p:ext uri="{BB962C8B-B14F-4D97-AF65-F5344CB8AC3E}">
        <p14:creationId xmlns:p14="http://schemas.microsoft.com/office/powerpoint/2010/main" val="20363169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AB7BCAA-A8C2-4A93-9A83-89168460237A}"/>
              </a:ext>
            </a:extLst>
          </p:cNvPr>
          <p:cNvSpPr>
            <a:spLocks xmlns:a="http://schemas.openxmlformats.org/drawingml/2006/main" noGrp="1"/>
          </p:cNvSpPr>
          <p:nvPr/>
        </p:nvSpPr>
        <p:spPr>
          <a:xfrm xmlns:a="http://schemas.openxmlformats.org/drawingml/2006/main">
            <a:off x="514350" y="381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565656"/>
                </a:solidFill>
              </a:defRPr>
            </a:pPr>
            <a:r>
              <a:rPr sz="1050" b="1">
                <a:solidFill>
                  <a:srgbClr val="565656"/>
                </a:solidFill>
              </a:rPr>
              <a:t>CHAPITRE 4</a:t>
            </a:r>
          </a:p>
        </p:txBody>
      </p:sp>
      <p:sp>
        <p:nvSpPr>
          <p:cNvPr id="2" name="">
            <a:extLst xmlns:a="http://schemas.openxmlformats.org/drawingml/2006/main">
              <a:ext uri="{FF2B5EF4-FFF2-40B4-BE49-F238E27FC236}">
                <a16:creationId xmlns:a16="http://schemas.microsoft.com/office/drawing/2014/main" id="{67DC4CE9-FF99-4F00-A8DB-DB907BFFCA14}"/>
              </a:ext>
            </a:extLst>
          </p:cNvPr>
          <p:cNvSpPr>
            <a:spLocks xmlns:a="http://schemas.openxmlformats.org/drawingml/2006/main" noGrp="1"/>
          </p:cNvSpPr>
          <p:nvPr/>
        </p:nvSpPr>
        <p:spPr>
          <a:xfrm xmlns:a="http://schemas.openxmlformats.org/drawingml/2006/main">
            <a:off x="514350" y="800100"/>
            <a:ext cx="7429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111111"/>
                </a:solidFill>
              </a:defRPr>
            </a:pPr>
            <a:r>
              <a:rPr sz="3150" b="1">
                <a:solidFill>
                  <a:srgbClr val="111111"/>
                </a:solidFill>
              </a:rPr>
              <a:t>SAFe doit etre juge mecanisme par mecanisme</a:t>
            </a:r>
          </a:p>
        </p:txBody>
      </p:sp>
      <p:sp>
        <p:nvSpPr>
          <p:cNvPr id="3" name="">
            <a:extLst xmlns:a="http://schemas.openxmlformats.org/drawingml/2006/main">
              <a:ext uri="{FF2B5EF4-FFF2-40B4-BE49-F238E27FC236}">
                <a16:creationId xmlns:a16="http://schemas.microsoft.com/office/drawing/2014/main" id="{316CEC3A-5C61-4B76-AC58-2B18480988CC}"/>
              </a:ext>
            </a:extLst>
          </p:cNvPr>
          <p:cNvSpPr>
            <a:spLocks xmlns:a="http://schemas.openxmlformats.org/drawingml/2006/main" noGrp="1"/>
          </p:cNvSpPr>
          <p:nvPr/>
        </p:nvSpPr>
        <p:spPr>
          <a:xfrm xmlns:a="http://schemas.openxmlformats.org/drawingml/2006/main">
            <a:off x="514350" y="1962150"/>
            <a:ext cx="733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65656"/>
                </a:solidFill>
              </a:defRPr>
            </a:pPr>
            <a:r>
              <a:rPr sz="1500" b="0">
                <a:solidFill>
                  <a:srgbClr val="565656"/>
                </a:solidFill>
              </a:rPr>
              <a:t>Sa force est de rendre explicites des problemes reels ; sa faiblesse est de pouvoir transformer cette explicitation en lourdeur.</a:t>
            </a:r>
          </a:p>
        </p:txBody>
      </p:sp>
      <p:sp>
        <p:nvSpPr>
          <p:cNvPr id="4" name="">
            <a:extLst xmlns:a="http://schemas.openxmlformats.org/drawingml/2006/main">
              <a:ext uri="{FF2B5EF4-FFF2-40B4-BE49-F238E27FC236}">
                <a16:creationId xmlns:a16="http://schemas.microsoft.com/office/drawing/2014/main" id="{F5A16E33-28BF-4619-93A6-22EFCFE71C3A}"/>
              </a:ext>
            </a:extLst>
          </p:cNvPr>
          <p:cNvSpPr>
            <a:spLocks xmlns:a="http://schemas.openxmlformats.org/drawingml/2006/main" noGrp="1"/>
          </p:cNvSpPr>
          <p:nvPr/>
        </p:nvSpPr>
        <p:spPr>
          <a:xfrm xmlns:a="http://schemas.openxmlformats.org/drawingml/2006/main">
            <a:off x="514350" y="6191250"/>
            <a:ext cx="111633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
            <a:extLst xmlns:a="http://schemas.openxmlformats.org/drawingml/2006/main">
              <a:ext uri="{FF2B5EF4-FFF2-40B4-BE49-F238E27FC236}">
                <a16:creationId xmlns:a16="http://schemas.microsoft.com/office/drawing/2014/main" id="{B873A1F8-AB23-48AB-A6CA-DC53950C248B}"/>
              </a:ext>
            </a:extLst>
          </p:cNvPr>
          <p:cNvSpPr>
            <a:spLocks xmlns:a="http://schemas.openxmlformats.org/drawingml/2006/main" noGrp="1"/>
          </p:cNvSpPr>
          <p:nvPr/>
        </p:nvSpPr>
        <p:spPr>
          <a:xfrm xmlns:a="http://schemas.openxmlformats.org/drawingml/2006/main">
            <a:off x="514350" y="63055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65656"/>
                </a:solidFill>
              </a:defRPr>
            </a:pPr>
            <a:r>
              <a:rPr sz="975" b="0">
                <a:solidFill>
                  <a:srgbClr val="565656"/>
                </a:solidFill>
              </a:rPr>
              <a:t>Repenser la coordination logicielle a grande echelle</a:t>
            </a:r>
          </a:p>
        </p:txBody>
      </p:sp>
      <p:sp>
        <p:nvSpPr>
          <p:cNvPr id="6" name="">
            <a:extLst xmlns:a="http://schemas.openxmlformats.org/drawingml/2006/main">
              <a:ext uri="{FF2B5EF4-FFF2-40B4-BE49-F238E27FC236}">
                <a16:creationId xmlns:a16="http://schemas.microsoft.com/office/drawing/2014/main" id="{0493D6E7-EC11-4459-A8AB-46747059F552}"/>
              </a:ext>
            </a:extLst>
          </p:cNvPr>
          <p:cNvSpPr>
            <a:spLocks xmlns:a="http://schemas.openxmlformats.org/drawingml/2006/main" noGrp="1"/>
          </p:cNvSpPr>
          <p:nvPr/>
        </p:nvSpPr>
        <p:spPr>
          <a:xfrm xmlns:a="http://schemas.openxmlformats.org/drawingml/2006/main">
            <a:off x="11258550" y="63055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65656"/>
                </a:solidFill>
              </a:defRPr>
            </a:pPr>
            <a:r>
              <a:rPr sz="975" b="0">
                <a:solidFill>
                  <a:srgbClr val="565656"/>
                </a:solidFill>
              </a:rPr>
              <a:t>05</a:t>
            </a:r>
          </a:p>
        </p:txBody>
      </p:sp>
      <p:sp>
        <p:nvSpPr>
          <p:cNvPr id="7" name="">
            <a:extLst xmlns:a="http://schemas.openxmlformats.org/drawingml/2006/main">
              <a:ext uri="{FF2B5EF4-FFF2-40B4-BE49-F238E27FC236}">
                <a16:creationId xmlns:a16="http://schemas.microsoft.com/office/drawing/2014/main" id="{192D350E-FA6F-4299-B95E-7AA1E6C27186}"/>
              </a:ext>
            </a:extLst>
          </p:cNvPr>
          <p:cNvSpPr>
            <a:spLocks xmlns:a="http://schemas.openxmlformats.org/drawingml/2006/main" noGrp="1"/>
          </p:cNvSpPr>
          <p:nvPr/>
        </p:nvSpPr>
        <p:spPr>
          <a:xfrm xmlns:a="http://schemas.openxmlformats.org/drawingml/2006/main">
            <a:off x="8420100" y="495300"/>
            <a:ext cx="2857500" cy="266700"/>
          </a:xfrm>
          <a:prstGeom xmlns:a="http://schemas.openxmlformats.org/drawingml/2006/main" prst="rect">
            <a:avLst/>
          </a:prstGeom>
          <a:solidFill xmlns:a="http://schemas.openxmlformats.org/drawingml/2006/main">
            <a:srgbClr val="FF6B35"/>
          </a:solidFill>
          <a:ln xmlns:a="http://schemas.openxmlformats.org/drawingml/2006/main" w="0">
            <a:solidFill>
              <a:srgbClr val="FF6B35"/>
            </a:solidFill>
            <a:prstDash val="solid"/>
          </a:ln>
        </p:spPr>
      </p:sp>
      <p:sp>
        <p:nvSpPr>
          <p:cNvPr id="8" name="">
            <a:extLst xmlns:a="http://schemas.openxmlformats.org/drawingml/2006/main">
              <a:ext uri="{FF2B5EF4-FFF2-40B4-BE49-F238E27FC236}">
                <a16:creationId xmlns:a16="http://schemas.microsoft.com/office/drawing/2014/main" id="{BB04788C-A193-4552-A2C7-CE6A2DAB3482}"/>
              </a:ext>
            </a:extLst>
          </p:cNvPr>
          <p:cNvSpPr>
            <a:spLocks xmlns:a="http://schemas.openxmlformats.org/drawingml/2006/main" noGrp="1"/>
          </p:cNvSpPr>
          <p:nvPr/>
        </p:nvSpPr>
        <p:spPr>
          <a:xfrm xmlns:a="http://schemas.openxmlformats.org/drawingml/2006/main">
            <a:off x="8515350" y="542925"/>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defRPr>
            </a:pPr>
            <a:r>
              <a:rPr sz="975" b="1">
                <a:solidFill>
                  <a:srgbClr val="FFFFFF"/>
                </a:solidFill>
              </a:rPr>
              <a:t>Decomposition SAFe</a:t>
            </a:r>
          </a:p>
        </p:txBody>
      </p:sp>
      <p:sp>
        <p:nvSpPr>
          <p:cNvPr id="9" name="">
            <a:extLst xmlns:a="http://schemas.openxmlformats.org/drawingml/2006/main">
              <a:ext uri="{FF2B5EF4-FFF2-40B4-BE49-F238E27FC236}">
                <a16:creationId xmlns:a16="http://schemas.microsoft.com/office/drawing/2014/main" id="{948F3570-F11A-4F6F-A99D-084876711FEB}"/>
              </a:ext>
            </a:extLst>
          </p:cNvPr>
          <p:cNvSpPr>
            <a:spLocks xmlns:a="http://schemas.openxmlformats.org/drawingml/2006/main" noGrp="1"/>
          </p:cNvSpPr>
          <p:nvPr/>
        </p:nvSpPr>
        <p:spPr>
          <a:xfrm xmlns:a="http://schemas.openxmlformats.org/drawingml/2006/main">
            <a:off x="7334250" y="2876550"/>
            <a:ext cx="3905250" cy="240030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10" name="">
            <a:extLst xmlns:a="http://schemas.openxmlformats.org/drawingml/2006/main">
              <a:ext uri="{FF2B5EF4-FFF2-40B4-BE49-F238E27FC236}">
                <a16:creationId xmlns:a16="http://schemas.microsoft.com/office/drawing/2014/main" id="{285390A3-54AB-4197-A060-D64F8C708875}"/>
              </a:ext>
            </a:extLst>
          </p:cNvPr>
          <p:cNvSpPr>
            <a:spLocks xmlns:a="http://schemas.openxmlformats.org/drawingml/2006/main" noGrp="1"/>
          </p:cNvSpPr>
          <p:nvPr/>
        </p:nvSpPr>
        <p:spPr>
          <a:xfrm xmlns:a="http://schemas.openxmlformats.org/drawingml/2006/main">
            <a:off x="514350" y="3009900"/>
            <a:ext cx="6000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111111"/>
                </a:solidFill>
              </a:defRPr>
            </a:pPr>
            <a:r>
              <a:rPr sz="2250" b="1">
                <a:solidFill>
                  <a:srgbClr val="111111"/>
                </a:solidFill>
              </a:rPr>
              <a:t>Il faut conserver les fonctions utiles, simplifier les formes, et rendre le vocabulaire optionnel.</a:t>
            </a:r>
          </a:p>
        </p:txBody>
      </p:sp>
      <p:sp>
        <p:nvSpPr>
          <p:cNvPr id="11" name="">
            <a:extLst xmlns:a="http://schemas.openxmlformats.org/drawingml/2006/main">
              <a:ext uri="{FF2B5EF4-FFF2-40B4-BE49-F238E27FC236}">
                <a16:creationId xmlns:a16="http://schemas.microsoft.com/office/drawing/2014/main" id="{BFD13ADD-65F9-482E-9089-513D5E49C29F}"/>
              </a:ext>
            </a:extLst>
          </p:cNvPr>
          <p:cNvSpPr>
            <a:spLocks xmlns:a="http://schemas.openxmlformats.org/drawingml/2006/main" noGrp="1"/>
          </p:cNvSpPr>
          <p:nvPr/>
        </p:nvSpPr>
        <p:spPr>
          <a:xfrm xmlns:a="http://schemas.openxmlformats.org/drawingml/2006/main">
            <a:off x="514350" y="40100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1</a:t>
            </a:r>
          </a:p>
        </p:txBody>
      </p:sp>
      <p:sp>
        <p:nvSpPr>
          <p:cNvPr id="12" name="">
            <a:extLst xmlns:a="http://schemas.openxmlformats.org/drawingml/2006/main">
              <a:ext uri="{FF2B5EF4-FFF2-40B4-BE49-F238E27FC236}">
                <a16:creationId xmlns:a16="http://schemas.microsoft.com/office/drawing/2014/main" id="{5CCA8F85-37DA-4CE0-B245-4FDE0DD30C20}"/>
              </a:ext>
            </a:extLst>
          </p:cNvPr>
          <p:cNvSpPr>
            <a:spLocks xmlns:a="http://schemas.openxmlformats.org/drawingml/2006/main" noGrp="1"/>
          </p:cNvSpPr>
          <p:nvPr/>
        </p:nvSpPr>
        <p:spPr>
          <a:xfrm xmlns:a="http://schemas.openxmlformats.org/drawingml/2006/main">
            <a:off x="914400" y="400050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A garder sous une forme ou une autre : alignement, dependances, portefeuille, WIP, qualite, decisions.</a:t>
            </a:r>
          </a:p>
        </p:txBody>
      </p:sp>
      <p:sp>
        <p:nvSpPr>
          <p:cNvPr id="13" name="">
            <a:extLst xmlns:a="http://schemas.openxmlformats.org/drawingml/2006/main">
              <a:ext uri="{FF2B5EF4-FFF2-40B4-BE49-F238E27FC236}">
                <a16:creationId xmlns:a16="http://schemas.microsoft.com/office/drawing/2014/main" id="{2DF96B65-7A2B-4274-AB7F-174831DE69C5}"/>
              </a:ext>
            </a:extLst>
          </p:cNvPr>
          <p:cNvSpPr>
            <a:spLocks xmlns:a="http://schemas.openxmlformats.org/drawingml/2006/main" noGrp="1"/>
          </p:cNvSpPr>
          <p:nvPr/>
        </p:nvSpPr>
        <p:spPr>
          <a:xfrm xmlns:a="http://schemas.openxmlformats.org/drawingml/2006/main">
            <a:off x="514350" y="452437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2</a:t>
            </a:r>
          </a:p>
        </p:txBody>
      </p:sp>
      <p:sp>
        <p:nvSpPr>
          <p:cNvPr id="14" name="">
            <a:extLst xmlns:a="http://schemas.openxmlformats.org/drawingml/2006/main">
              <a:ext uri="{FF2B5EF4-FFF2-40B4-BE49-F238E27FC236}">
                <a16:creationId xmlns:a16="http://schemas.microsoft.com/office/drawing/2014/main" id="{AF647144-79CC-40F2-BB1A-3E8AC874B097}"/>
              </a:ext>
            </a:extLst>
          </p:cNvPr>
          <p:cNvSpPr>
            <a:spLocks xmlns:a="http://schemas.openxmlformats.org/drawingml/2006/main" noGrp="1"/>
          </p:cNvSpPr>
          <p:nvPr/>
        </p:nvSpPr>
        <p:spPr>
          <a:xfrm xmlns:a="http://schemas.openxmlformats.org/drawingml/2006/main">
            <a:off x="914400" y="451485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A adapter : duree des cycles, roles dedies, taille des unites, profondeur des artefacts.</a:t>
            </a:r>
          </a:p>
        </p:txBody>
      </p:sp>
      <p:sp>
        <p:nvSpPr>
          <p:cNvPr id="15" name="">
            <a:extLst xmlns:a="http://schemas.openxmlformats.org/drawingml/2006/main">
              <a:ext uri="{FF2B5EF4-FFF2-40B4-BE49-F238E27FC236}">
                <a16:creationId xmlns:a16="http://schemas.microsoft.com/office/drawing/2014/main" id="{DA0CA84D-C953-450A-BF77-788CAE8734C7}"/>
              </a:ext>
            </a:extLst>
          </p:cNvPr>
          <p:cNvSpPr>
            <a:spLocks xmlns:a="http://schemas.openxmlformats.org/drawingml/2006/main" noGrp="1"/>
          </p:cNvSpPr>
          <p:nvPr/>
        </p:nvSpPr>
        <p:spPr>
          <a:xfrm xmlns:a="http://schemas.openxmlformats.org/drawingml/2006/main">
            <a:off x="514350" y="50387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3</a:t>
            </a:r>
          </a:p>
        </p:txBody>
      </p:sp>
      <p:sp>
        <p:nvSpPr>
          <p:cNvPr id="16" name="">
            <a:extLst xmlns:a="http://schemas.openxmlformats.org/drawingml/2006/main">
              <a:ext uri="{FF2B5EF4-FFF2-40B4-BE49-F238E27FC236}">
                <a16:creationId xmlns:a16="http://schemas.microsoft.com/office/drawing/2014/main" id="{C87C8425-6428-47CD-9A3D-601BE93D8401}"/>
              </a:ext>
            </a:extLst>
          </p:cNvPr>
          <p:cNvSpPr>
            <a:spLocks xmlns:a="http://schemas.openxmlformats.org/drawingml/2006/main" noGrp="1"/>
          </p:cNvSpPr>
          <p:nvPr/>
        </p:nvSpPr>
        <p:spPr>
          <a:xfrm xmlns:a="http://schemas.openxmlformats.org/drawingml/2006/main">
            <a:off x="914400" y="502920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A supprimer : ceremonie sans decision, role sans mandat, reporting redondant, jargon de conformite.</a:t>
            </a:r>
          </a:p>
        </p:txBody>
      </p:sp>
      <p:sp>
        <p:nvSpPr>
          <p:cNvPr id="17" name="">
            <a:extLst xmlns:a="http://schemas.openxmlformats.org/drawingml/2006/main">
              <a:ext uri="{FF2B5EF4-FFF2-40B4-BE49-F238E27FC236}">
                <a16:creationId xmlns:a16="http://schemas.microsoft.com/office/drawing/2014/main" id="{C3E00A5A-6AF5-4BD7-9AD7-9D6A0DB7F34C}"/>
              </a:ext>
            </a:extLst>
          </p:cNvPr>
          <p:cNvSpPr>
            <a:spLocks xmlns:a="http://schemas.openxmlformats.org/drawingml/2006/main" noGrp="1"/>
          </p:cNvSpPr>
          <p:nvPr/>
        </p:nvSpPr>
        <p:spPr>
          <a:xfrm xmlns:a="http://schemas.openxmlformats.org/drawingml/2006/main">
            <a:off x="7620000" y="31051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defRPr>
            </a:pPr>
            <a:r>
              <a:rPr sz="1650" b="1">
                <a:solidFill>
                  <a:srgbClr val="111111"/>
                </a:solidFill>
              </a:rPr>
              <a:t>Critere de tri</a:t>
            </a:r>
          </a:p>
        </p:txBody>
      </p:sp>
      <p:sp>
        <p:nvSpPr>
          <p:cNvPr id="18" name="">
            <a:extLst xmlns:a="http://schemas.openxmlformats.org/drawingml/2006/main">
              <a:ext uri="{FF2B5EF4-FFF2-40B4-BE49-F238E27FC236}">
                <a16:creationId xmlns:a16="http://schemas.microsoft.com/office/drawing/2014/main" id="{64EE7C64-C173-42DF-A163-438778B880D0}"/>
              </a:ext>
            </a:extLst>
          </p:cNvPr>
          <p:cNvSpPr>
            <a:spLocks xmlns:a="http://schemas.openxmlformats.org/drawingml/2006/main" noGrp="1"/>
          </p:cNvSpPr>
          <p:nvPr/>
        </p:nvSpPr>
        <p:spPr>
          <a:xfrm xmlns:a="http://schemas.openxmlformats.org/drawingml/2006/main">
            <a:off x="7620000" y="3638550"/>
            <a:ext cx="342900" cy="38100"/>
          </a:xfrm>
          <a:prstGeom xmlns:a="http://schemas.openxmlformats.org/drawingml/2006/main" prst="rect">
            <a:avLst/>
          </a:prstGeom>
          <a:solidFill xmlns:a="http://schemas.openxmlformats.org/drawingml/2006/main">
            <a:srgbClr val="FF6B35"/>
          </a:solidFill>
          <a:ln xmlns:a="http://schemas.openxmlformats.org/drawingml/2006/main" w="0">
            <a:solidFill>
              <a:srgbClr val="FF6B35"/>
            </a:solidFill>
            <a:prstDash val="solid"/>
          </a:ln>
        </p:spPr>
      </p:sp>
      <p:sp>
        <p:nvSpPr>
          <p:cNvPr id="19" name="">
            <a:extLst xmlns:a="http://schemas.openxmlformats.org/drawingml/2006/main">
              <a:ext uri="{FF2B5EF4-FFF2-40B4-BE49-F238E27FC236}">
                <a16:creationId xmlns:a16="http://schemas.microsoft.com/office/drawing/2014/main" id="{9DFF96F5-12F0-413C-A682-50468BE45E33}"/>
              </a:ext>
            </a:extLst>
          </p:cNvPr>
          <p:cNvSpPr>
            <a:spLocks xmlns:a="http://schemas.openxmlformats.org/drawingml/2006/main" noGrp="1"/>
          </p:cNvSpPr>
          <p:nvPr/>
        </p:nvSpPr>
        <p:spPr>
          <a:xfrm xmlns:a="http://schemas.openxmlformats.org/drawingml/2006/main">
            <a:off x="8077200" y="35433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Produit-il une decision ?</a:t>
            </a:r>
          </a:p>
        </p:txBody>
      </p:sp>
      <p:sp>
        <p:nvSpPr>
          <p:cNvPr id="20" name="">
            <a:extLst xmlns:a="http://schemas.openxmlformats.org/drawingml/2006/main">
              <a:ext uri="{FF2B5EF4-FFF2-40B4-BE49-F238E27FC236}">
                <a16:creationId xmlns:a16="http://schemas.microsoft.com/office/drawing/2014/main" id="{D555A337-7D47-4656-ABAF-E338742842E7}"/>
              </a:ext>
            </a:extLst>
          </p:cNvPr>
          <p:cNvSpPr>
            <a:spLocks xmlns:a="http://schemas.openxmlformats.org/drawingml/2006/main" noGrp="1"/>
          </p:cNvSpPr>
          <p:nvPr/>
        </p:nvSpPr>
        <p:spPr>
          <a:xfrm xmlns:a="http://schemas.openxmlformats.org/drawingml/2006/main">
            <a:off x="7620000" y="40576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1" name="">
            <a:extLst xmlns:a="http://schemas.openxmlformats.org/drawingml/2006/main">
              <a:ext uri="{FF2B5EF4-FFF2-40B4-BE49-F238E27FC236}">
                <a16:creationId xmlns:a16="http://schemas.microsoft.com/office/drawing/2014/main" id="{38DF31EB-54A4-4905-BF91-F1D46CA494B4}"/>
              </a:ext>
            </a:extLst>
          </p:cNvPr>
          <p:cNvSpPr>
            <a:spLocks xmlns:a="http://schemas.openxmlformats.org/drawingml/2006/main" noGrp="1"/>
          </p:cNvSpPr>
          <p:nvPr/>
        </p:nvSpPr>
        <p:spPr>
          <a:xfrm xmlns:a="http://schemas.openxmlformats.org/drawingml/2006/main">
            <a:off x="8077200" y="39624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Reduit-il le WIP ?</a:t>
            </a:r>
          </a:p>
        </p:txBody>
      </p:sp>
      <p:sp>
        <p:nvSpPr>
          <p:cNvPr id="22" name="">
            <a:extLst xmlns:a="http://schemas.openxmlformats.org/drawingml/2006/main">
              <a:ext uri="{FF2B5EF4-FFF2-40B4-BE49-F238E27FC236}">
                <a16:creationId xmlns:a16="http://schemas.microsoft.com/office/drawing/2014/main" id="{99E860D4-2514-4304-B93A-12F00F475732}"/>
              </a:ext>
            </a:extLst>
          </p:cNvPr>
          <p:cNvSpPr>
            <a:spLocks xmlns:a="http://schemas.openxmlformats.org/drawingml/2006/main" noGrp="1"/>
          </p:cNvSpPr>
          <p:nvPr/>
        </p:nvSpPr>
        <p:spPr>
          <a:xfrm xmlns:a="http://schemas.openxmlformats.org/drawingml/2006/main">
            <a:off x="7620000" y="44767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3" name="">
            <a:extLst xmlns:a="http://schemas.openxmlformats.org/drawingml/2006/main">
              <a:ext uri="{FF2B5EF4-FFF2-40B4-BE49-F238E27FC236}">
                <a16:creationId xmlns:a16="http://schemas.microsoft.com/office/drawing/2014/main" id="{47662AF9-28B6-438D-AC6B-7CD20C6956A2}"/>
              </a:ext>
            </a:extLst>
          </p:cNvPr>
          <p:cNvSpPr>
            <a:spLocks xmlns:a="http://schemas.openxmlformats.org/drawingml/2006/main" noGrp="1"/>
          </p:cNvSpPr>
          <p:nvPr/>
        </p:nvSpPr>
        <p:spPr>
          <a:xfrm xmlns:a="http://schemas.openxmlformats.org/drawingml/2006/main">
            <a:off x="8077200" y="43815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Clarifie-t-il l'ownership ?</a:t>
            </a:r>
          </a:p>
        </p:txBody>
      </p:sp>
      <p:sp>
        <p:nvSpPr>
          <p:cNvPr id="24" name="">
            <a:extLst xmlns:a="http://schemas.openxmlformats.org/drawingml/2006/main">
              <a:ext uri="{FF2B5EF4-FFF2-40B4-BE49-F238E27FC236}">
                <a16:creationId xmlns:a16="http://schemas.microsoft.com/office/drawing/2014/main" id="{2AC34EEF-D7A6-4EAE-91EA-340AEF079719}"/>
              </a:ext>
            </a:extLst>
          </p:cNvPr>
          <p:cNvSpPr>
            <a:spLocks xmlns:a="http://schemas.openxmlformats.org/drawingml/2006/main" noGrp="1"/>
          </p:cNvSpPr>
          <p:nvPr/>
        </p:nvSpPr>
        <p:spPr>
          <a:xfrm xmlns:a="http://schemas.openxmlformats.org/drawingml/2006/main">
            <a:off x="7620000" y="48958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5" name="">
            <a:extLst xmlns:a="http://schemas.openxmlformats.org/drawingml/2006/main">
              <a:ext uri="{FF2B5EF4-FFF2-40B4-BE49-F238E27FC236}">
                <a16:creationId xmlns:a16="http://schemas.microsoft.com/office/drawing/2014/main" id="{BF3194D0-5B3C-42D6-882D-8FC29FF280E2}"/>
              </a:ext>
            </a:extLst>
          </p:cNvPr>
          <p:cNvSpPr>
            <a:spLocks xmlns:a="http://schemas.openxmlformats.org/drawingml/2006/main" noGrp="1"/>
          </p:cNvSpPr>
          <p:nvPr/>
        </p:nvSpPr>
        <p:spPr>
          <a:xfrm xmlns:a="http://schemas.openxmlformats.org/drawingml/2006/main">
            <a:off x="8077200" y="48006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Accelere-t-il le feedback ?</a:t>
            </a:r>
          </a:p>
        </p:txBody>
      </p:sp>
    </p:spTree>
    <p:extLst>
      <p:ext uri="{BB962C8B-B14F-4D97-AF65-F5344CB8AC3E}">
        <p14:creationId xmlns:p14="http://schemas.microsoft.com/office/powerpoint/2010/main" val="58183629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43BDDF7-0B7C-4B70-B10A-7777091DDB4A}"/>
              </a:ext>
            </a:extLst>
          </p:cNvPr>
          <p:cNvSpPr>
            <a:spLocks xmlns:a="http://schemas.openxmlformats.org/drawingml/2006/main" noGrp="1"/>
          </p:cNvSpPr>
          <p:nvPr/>
        </p:nvSpPr>
        <p:spPr>
          <a:xfrm xmlns:a="http://schemas.openxmlformats.org/drawingml/2006/main">
            <a:off x="514350" y="381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565656"/>
                </a:solidFill>
              </a:defRPr>
            </a:pPr>
            <a:r>
              <a:rPr sz="1050" b="1">
                <a:solidFill>
                  <a:srgbClr val="565656"/>
                </a:solidFill>
              </a:rPr>
              <a:t>CHAPITRE 5</a:t>
            </a:r>
          </a:p>
        </p:txBody>
      </p:sp>
      <p:sp>
        <p:nvSpPr>
          <p:cNvPr id="2" name="">
            <a:extLst xmlns:a="http://schemas.openxmlformats.org/drawingml/2006/main">
              <a:ext uri="{FF2B5EF4-FFF2-40B4-BE49-F238E27FC236}">
                <a16:creationId xmlns:a16="http://schemas.microsoft.com/office/drawing/2014/main" id="{1E8760E3-5027-4322-AFC7-D56FA7013572}"/>
              </a:ext>
            </a:extLst>
          </p:cNvPr>
          <p:cNvSpPr>
            <a:spLocks xmlns:a="http://schemas.openxmlformats.org/drawingml/2006/main" noGrp="1"/>
          </p:cNvSpPr>
          <p:nvPr/>
        </p:nvSpPr>
        <p:spPr>
          <a:xfrm xmlns:a="http://schemas.openxmlformats.org/drawingml/2006/main">
            <a:off x="514350" y="800100"/>
            <a:ext cx="7429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111111"/>
                </a:solidFill>
              </a:defRPr>
            </a:pPr>
            <a:r>
              <a:rPr sz="3150" b="1">
                <a:solidFill>
                  <a:srgbClr val="111111"/>
                </a:solidFill>
              </a:rPr>
              <a:t>Le marche ne remplace pas un framework par un autre, il recompose</a:t>
            </a:r>
          </a:p>
        </p:txBody>
      </p:sp>
      <p:sp>
        <p:nvSpPr>
          <p:cNvPr id="3" name="">
            <a:extLst xmlns:a="http://schemas.openxmlformats.org/drawingml/2006/main">
              <a:ext uri="{FF2B5EF4-FFF2-40B4-BE49-F238E27FC236}">
                <a16:creationId xmlns:a16="http://schemas.microsoft.com/office/drawing/2014/main" id="{D8C5AC96-A864-4ABE-B089-4B892250CF05}"/>
              </a:ext>
            </a:extLst>
          </p:cNvPr>
          <p:cNvSpPr>
            <a:spLocks xmlns:a="http://schemas.openxmlformats.org/drawingml/2006/main" noGrp="1"/>
          </p:cNvSpPr>
          <p:nvPr/>
        </p:nvSpPr>
        <p:spPr>
          <a:xfrm xmlns:a="http://schemas.openxmlformats.org/drawingml/2006/main">
            <a:off x="514350" y="1962150"/>
            <a:ext cx="733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65656"/>
                </a:solidFill>
              </a:defRPr>
            </a:pPr>
            <a:r>
              <a:rPr sz="1500" b="0">
                <a:solidFill>
                  <a:srgbClr val="565656"/>
                </a:solidFill>
              </a:rPr>
              <a:t>Les tendances 2025-2026 pointent vers l'hybridation, le produit, les plateformes, les metriques de flux et la gouvernance de l'IA.</a:t>
            </a:r>
          </a:p>
        </p:txBody>
      </p:sp>
      <p:sp>
        <p:nvSpPr>
          <p:cNvPr id="4" name="">
            <a:extLst xmlns:a="http://schemas.openxmlformats.org/drawingml/2006/main">
              <a:ext uri="{FF2B5EF4-FFF2-40B4-BE49-F238E27FC236}">
                <a16:creationId xmlns:a16="http://schemas.microsoft.com/office/drawing/2014/main" id="{2BAEF31D-A964-4A48-8CB5-2EB0FE45E0B0}"/>
              </a:ext>
            </a:extLst>
          </p:cNvPr>
          <p:cNvSpPr>
            <a:spLocks xmlns:a="http://schemas.openxmlformats.org/drawingml/2006/main" noGrp="1"/>
          </p:cNvSpPr>
          <p:nvPr/>
        </p:nvSpPr>
        <p:spPr>
          <a:xfrm xmlns:a="http://schemas.openxmlformats.org/drawingml/2006/main">
            <a:off x="514350" y="6191250"/>
            <a:ext cx="111633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
            <a:extLst xmlns:a="http://schemas.openxmlformats.org/drawingml/2006/main">
              <a:ext uri="{FF2B5EF4-FFF2-40B4-BE49-F238E27FC236}">
                <a16:creationId xmlns:a16="http://schemas.microsoft.com/office/drawing/2014/main" id="{96D5E735-661D-4902-A458-EFC7179E79AF}"/>
              </a:ext>
            </a:extLst>
          </p:cNvPr>
          <p:cNvSpPr>
            <a:spLocks xmlns:a="http://schemas.openxmlformats.org/drawingml/2006/main" noGrp="1"/>
          </p:cNvSpPr>
          <p:nvPr/>
        </p:nvSpPr>
        <p:spPr>
          <a:xfrm xmlns:a="http://schemas.openxmlformats.org/drawingml/2006/main">
            <a:off x="514350" y="63055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65656"/>
                </a:solidFill>
              </a:defRPr>
            </a:pPr>
            <a:r>
              <a:rPr sz="975" b="0">
                <a:solidFill>
                  <a:srgbClr val="565656"/>
                </a:solidFill>
              </a:rPr>
              <a:t>Repenser la coordination logicielle a grande echelle</a:t>
            </a:r>
          </a:p>
        </p:txBody>
      </p:sp>
      <p:sp>
        <p:nvSpPr>
          <p:cNvPr id="6" name="">
            <a:extLst xmlns:a="http://schemas.openxmlformats.org/drawingml/2006/main">
              <a:ext uri="{FF2B5EF4-FFF2-40B4-BE49-F238E27FC236}">
                <a16:creationId xmlns:a16="http://schemas.microsoft.com/office/drawing/2014/main" id="{2B0BC16E-5305-43DA-8FD3-F7E3FB652B61}"/>
              </a:ext>
            </a:extLst>
          </p:cNvPr>
          <p:cNvSpPr>
            <a:spLocks xmlns:a="http://schemas.openxmlformats.org/drawingml/2006/main" noGrp="1"/>
          </p:cNvSpPr>
          <p:nvPr/>
        </p:nvSpPr>
        <p:spPr>
          <a:xfrm xmlns:a="http://schemas.openxmlformats.org/drawingml/2006/main">
            <a:off x="11258550" y="63055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65656"/>
                </a:solidFill>
              </a:defRPr>
            </a:pPr>
            <a:r>
              <a:rPr sz="975" b="0">
                <a:solidFill>
                  <a:srgbClr val="565656"/>
                </a:solidFill>
              </a:rPr>
              <a:t>06</a:t>
            </a:r>
          </a:p>
        </p:txBody>
      </p:sp>
      <p:sp>
        <p:nvSpPr>
          <p:cNvPr id="7" name="">
            <a:extLst xmlns:a="http://schemas.openxmlformats.org/drawingml/2006/main">
              <a:ext uri="{FF2B5EF4-FFF2-40B4-BE49-F238E27FC236}">
                <a16:creationId xmlns:a16="http://schemas.microsoft.com/office/drawing/2014/main" id="{81277491-19CE-4C5D-B664-B6A076842134}"/>
              </a:ext>
            </a:extLst>
          </p:cNvPr>
          <p:cNvSpPr>
            <a:spLocks xmlns:a="http://schemas.openxmlformats.org/drawingml/2006/main" noGrp="1"/>
          </p:cNvSpPr>
          <p:nvPr/>
        </p:nvSpPr>
        <p:spPr>
          <a:xfrm xmlns:a="http://schemas.openxmlformats.org/drawingml/2006/main">
            <a:off x="8420100" y="495300"/>
            <a:ext cx="2857500" cy="266700"/>
          </a:xfrm>
          <a:prstGeom xmlns:a="http://schemas.openxmlformats.org/drawingml/2006/main" prst="rect">
            <a:avLst/>
          </a:prstGeom>
          <a:solidFill xmlns:a="http://schemas.openxmlformats.org/drawingml/2006/main">
            <a:srgbClr val="FF6B35"/>
          </a:solidFill>
          <a:ln xmlns:a="http://schemas.openxmlformats.org/drawingml/2006/main" w="0">
            <a:solidFill>
              <a:srgbClr val="FF6B35"/>
            </a:solidFill>
            <a:prstDash val="solid"/>
          </a:ln>
        </p:spPr>
      </p:sp>
      <p:sp>
        <p:nvSpPr>
          <p:cNvPr id="8" name="">
            <a:extLst xmlns:a="http://schemas.openxmlformats.org/drawingml/2006/main">
              <a:ext uri="{FF2B5EF4-FFF2-40B4-BE49-F238E27FC236}">
                <a16:creationId xmlns:a16="http://schemas.microsoft.com/office/drawing/2014/main" id="{063BAC7A-2A9A-4E66-A87D-8FEBD46E3E30}"/>
              </a:ext>
            </a:extLst>
          </p:cNvPr>
          <p:cNvSpPr>
            <a:spLocks xmlns:a="http://schemas.openxmlformats.org/drawingml/2006/main" noGrp="1"/>
          </p:cNvSpPr>
          <p:nvPr/>
        </p:nvSpPr>
        <p:spPr>
          <a:xfrm xmlns:a="http://schemas.openxmlformats.org/drawingml/2006/main">
            <a:off x="8515350" y="542925"/>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defRPr>
            </a:pPr>
            <a:r>
              <a:rPr sz="975" b="1">
                <a:solidFill>
                  <a:srgbClr val="FFFFFF"/>
                </a:solidFill>
              </a:rPr>
              <a:t>Tendances</a:t>
            </a:r>
          </a:p>
        </p:txBody>
      </p:sp>
      <p:sp>
        <p:nvSpPr>
          <p:cNvPr id="9" name="">
            <a:extLst xmlns:a="http://schemas.openxmlformats.org/drawingml/2006/main">
              <a:ext uri="{FF2B5EF4-FFF2-40B4-BE49-F238E27FC236}">
                <a16:creationId xmlns:a16="http://schemas.microsoft.com/office/drawing/2014/main" id="{FD8FC808-C3FE-4389-9E18-30EA19A02834}"/>
              </a:ext>
            </a:extLst>
          </p:cNvPr>
          <p:cNvSpPr>
            <a:spLocks xmlns:a="http://schemas.openxmlformats.org/drawingml/2006/main" noGrp="1"/>
          </p:cNvSpPr>
          <p:nvPr/>
        </p:nvSpPr>
        <p:spPr>
          <a:xfrm xmlns:a="http://schemas.openxmlformats.org/drawingml/2006/main">
            <a:off x="7334250" y="2876550"/>
            <a:ext cx="3905250" cy="240030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10" name="">
            <a:extLst xmlns:a="http://schemas.openxmlformats.org/drawingml/2006/main">
              <a:ext uri="{FF2B5EF4-FFF2-40B4-BE49-F238E27FC236}">
                <a16:creationId xmlns:a16="http://schemas.microsoft.com/office/drawing/2014/main" id="{0264CA7B-5E6C-45EF-8C92-185F0F6E6ABD}"/>
              </a:ext>
            </a:extLst>
          </p:cNvPr>
          <p:cNvSpPr>
            <a:spLocks xmlns:a="http://schemas.openxmlformats.org/drawingml/2006/main" noGrp="1"/>
          </p:cNvSpPr>
          <p:nvPr/>
        </p:nvSpPr>
        <p:spPr>
          <a:xfrm xmlns:a="http://schemas.openxmlformats.org/drawingml/2006/main">
            <a:off x="514350" y="3009900"/>
            <a:ext cx="6000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111111"/>
                </a:solidFill>
              </a:defRPr>
            </a:pPr>
            <a:r>
              <a:rPr sz="2250" b="1">
                <a:solidFill>
                  <a:srgbClr val="111111"/>
                </a:solidFill>
              </a:rPr>
              <a:t>Les organisations abandonnent surtout la croyance qu'un framework suffit.</a:t>
            </a:r>
          </a:p>
        </p:txBody>
      </p:sp>
      <p:sp>
        <p:nvSpPr>
          <p:cNvPr id="11" name="">
            <a:extLst xmlns:a="http://schemas.openxmlformats.org/drawingml/2006/main">
              <a:ext uri="{FF2B5EF4-FFF2-40B4-BE49-F238E27FC236}">
                <a16:creationId xmlns:a16="http://schemas.microsoft.com/office/drawing/2014/main" id="{2855B8D6-3104-4A7E-A5E6-68FDF6E405CB}"/>
              </a:ext>
            </a:extLst>
          </p:cNvPr>
          <p:cNvSpPr>
            <a:spLocks xmlns:a="http://schemas.openxmlformats.org/drawingml/2006/main" noGrp="1"/>
          </p:cNvSpPr>
          <p:nvPr/>
        </p:nvSpPr>
        <p:spPr>
          <a:xfrm xmlns:a="http://schemas.openxmlformats.org/drawingml/2006/main">
            <a:off x="514350" y="40100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1</a:t>
            </a:r>
          </a:p>
        </p:txBody>
      </p:sp>
      <p:sp>
        <p:nvSpPr>
          <p:cNvPr id="12" name="">
            <a:extLst xmlns:a="http://schemas.openxmlformats.org/drawingml/2006/main">
              <a:ext uri="{FF2B5EF4-FFF2-40B4-BE49-F238E27FC236}">
                <a16:creationId xmlns:a16="http://schemas.microsoft.com/office/drawing/2014/main" id="{6BD06F55-09A3-4189-B14C-B3FEC75BFDC7}"/>
              </a:ext>
            </a:extLst>
          </p:cNvPr>
          <p:cNvSpPr>
            <a:spLocks xmlns:a="http://schemas.openxmlformats.org/drawingml/2006/main" noGrp="1"/>
          </p:cNvSpPr>
          <p:nvPr/>
        </p:nvSpPr>
        <p:spPr>
          <a:xfrm xmlns:a="http://schemas.openxmlformats.org/drawingml/2006/main">
            <a:off x="914400" y="400050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Les modeles hybrides et internes deviennent la norme dans les grandes organisations.</a:t>
            </a:r>
          </a:p>
        </p:txBody>
      </p:sp>
      <p:sp>
        <p:nvSpPr>
          <p:cNvPr id="13" name="">
            <a:extLst xmlns:a="http://schemas.openxmlformats.org/drawingml/2006/main">
              <a:ext uri="{FF2B5EF4-FFF2-40B4-BE49-F238E27FC236}">
                <a16:creationId xmlns:a16="http://schemas.microsoft.com/office/drawing/2014/main" id="{011A5472-67F7-4240-822F-75EF2D35204B}"/>
              </a:ext>
            </a:extLst>
          </p:cNvPr>
          <p:cNvSpPr>
            <a:spLocks xmlns:a="http://schemas.openxmlformats.org/drawingml/2006/main" noGrp="1"/>
          </p:cNvSpPr>
          <p:nvPr/>
        </p:nvSpPr>
        <p:spPr>
          <a:xfrm xmlns:a="http://schemas.openxmlformats.org/drawingml/2006/main">
            <a:off x="514350" y="452437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2</a:t>
            </a:r>
          </a:p>
        </p:txBody>
      </p:sp>
      <p:sp>
        <p:nvSpPr>
          <p:cNvPr id="14" name="">
            <a:extLst xmlns:a="http://schemas.openxmlformats.org/drawingml/2006/main">
              <a:ext uri="{FF2B5EF4-FFF2-40B4-BE49-F238E27FC236}">
                <a16:creationId xmlns:a16="http://schemas.microsoft.com/office/drawing/2014/main" id="{B32F4BE0-4FEA-4E9A-9F5B-D86862538004}"/>
              </a:ext>
            </a:extLst>
          </p:cNvPr>
          <p:cNvSpPr>
            <a:spLocks xmlns:a="http://schemas.openxmlformats.org/drawingml/2006/main" noGrp="1"/>
          </p:cNvSpPr>
          <p:nvPr/>
        </p:nvSpPr>
        <p:spPr>
          <a:xfrm xmlns:a="http://schemas.openxmlformats.org/drawingml/2006/main">
            <a:off x="914400" y="451485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L'attention se deplace vers le systeme de livraison : flux, qualite, plateformes, priorites stables.</a:t>
            </a:r>
          </a:p>
        </p:txBody>
      </p:sp>
      <p:sp>
        <p:nvSpPr>
          <p:cNvPr id="15" name="">
            <a:extLst xmlns:a="http://schemas.openxmlformats.org/drawingml/2006/main">
              <a:ext uri="{FF2B5EF4-FFF2-40B4-BE49-F238E27FC236}">
                <a16:creationId xmlns:a16="http://schemas.microsoft.com/office/drawing/2014/main" id="{1B41E28D-9680-4668-97D2-9A6FD3AD7876}"/>
              </a:ext>
            </a:extLst>
          </p:cNvPr>
          <p:cNvSpPr>
            <a:spLocks xmlns:a="http://schemas.openxmlformats.org/drawingml/2006/main" noGrp="1"/>
          </p:cNvSpPr>
          <p:nvPr/>
        </p:nvSpPr>
        <p:spPr>
          <a:xfrm xmlns:a="http://schemas.openxmlformats.org/drawingml/2006/main">
            <a:off x="514350" y="50387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3</a:t>
            </a:r>
          </a:p>
        </p:txBody>
      </p:sp>
      <p:sp>
        <p:nvSpPr>
          <p:cNvPr id="16" name="">
            <a:extLst xmlns:a="http://schemas.openxmlformats.org/drawingml/2006/main">
              <a:ext uri="{FF2B5EF4-FFF2-40B4-BE49-F238E27FC236}">
                <a16:creationId xmlns:a16="http://schemas.microsoft.com/office/drawing/2014/main" id="{696D845E-540E-47D6-8719-AA8E0B70CAC2}"/>
              </a:ext>
            </a:extLst>
          </p:cNvPr>
          <p:cNvSpPr>
            <a:spLocks xmlns:a="http://schemas.openxmlformats.org/drawingml/2006/main" noGrp="1"/>
          </p:cNvSpPr>
          <p:nvPr/>
        </p:nvSpPr>
        <p:spPr>
          <a:xfrm xmlns:a="http://schemas.openxmlformats.org/drawingml/2006/main">
            <a:off x="914400" y="502920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L'IA accelere le travail local mais renforce les besoins de verification, tracabilite et gouvernance.</a:t>
            </a:r>
          </a:p>
        </p:txBody>
      </p:sp>
      <p:sp>
        <p:nvSpPr>
          <p:cNvPr id="17" name="">
            <a:extLst xmlns:a="http://schemas.openxmlformats.org/drawingml/2006/main">
              <a:ext uri="{FF2B5EF4-FFF2-40B4-BE49-F238E27FC236}">
                <a16:creationId xmlns:a16="http://schemas.microsoft.com/office/drawing/2014/main" id="{DF228E26-A70E-4B9B-8B88-1BAF66DEB919}"/>
              </a:ext>
            </a:extLst>
          </p:cNvPr>
          <p:cNvSpPr>
            <a:spLocks xmlns:a="http://schemas.openxmlformats.org/drawingml/2006/main" noGrp="1"/>
          </p:cNvSpPr>
          <p:nvPr/>
        </p:nvSpPr>
        <p:spPr>
          <a:xfrm xmlns:a="http://schemas.openxmlformats.org/drawingml/2006/main">
            <a:off x="7620000" y="31051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defRPr>
            </a:pPr>
            <a:r>
              <a:rPr sz="1650" b="1">
                <a:solidFill>
                  <a:srgbClr val="111111"/>
                </a:solidFill>
              </a:rPr>
              <a:t>Ce qui recule</a:t>
            </a:r>
          </a:p>
        </p:txBody>
      </p:sp>
      <p:sp>
        <p:nvSpPr>
          <p:cNvPr id="18" name="">
            <a:extLst xmlns:a="http://schemas.openxmlformats.org/drawingml/2006/main">
              <a:ext uri="{FF2B5EF4-FFF2-40B4-BE49-F238E27FC236}">
                <a16:creationId xmlns:a16="http://schemas.microsoft.com/office/drawing/2014/main" id="{3C54E93B-0EA4-4898-8FEC-0EF4D4C8B162}"/>
              </a:ext>
            </a:extLst>
          </p:cNvPr>
          <p:cNvSpPr>
            <a:spLocks xmlns:a="http://schemas.openxmlformats.org/drawingml/2006/main" noGrp="1"/>
          </p:cNvSpPr>
          <p:nvPr/>
        </p:nvSpPr>
        <p:spPr>
          <a:xfrm xmlns:a="http://schemas.openxmlformats.org/drawingml/2006/main">
            <a:off x="7620000" y="3638550"/>
            <a:ext cx="342900" cy="38100"/>
          </a:xfrm>
          <a:prstGeom xmlns:a="http://schemas.openxmlformats.org/drawingml/2006/main" prst="rect">
            <a:avLst/>
          </a:prstGeom>
          <a:solidFill xmlns:a="http://schemas.openxmlformats.org/drawingml/2006/main">
            <a:srgbClr val="FF6B35"/>
          </a:solidFill>
          <a:ln xmlns:a="http://schemas.openxmlformats.org/drawingml/2006/main" w="0">
            <a:solidFill>
              <a:srgbClr val="FF6B35"/>
            </a:solidFill>
            <a:prstDash val="solid"/>
          </a:ln>
        </p:spPr>
      </p:sp>
      <p:sp>
        <p:nvSpPr>
          <p:cNvPr id="19" name="">
            <a:extLst xmlns:a="http://schemas.openxmlformats.org/drawingml/2006/main">
              <a:ext uri="{FF2B5EF4-FFF2-40B4-BE49-F238E27FC236}">
                <a16:creationId xmlns:a16="http://schemas.microsoft.com/office/drawing/2014/main" id="{3B4C1CC7-CD66-410B-BED1-B74205DC79A1}"/>
              </a:ext>
            </a:extLst>
          </p:cNvPr>
          <p:cNvSpPr>
            <a:spLocks xmlns:a="http://schemas.openxmlformats.org/drawingml/2006/main" noGrp="1"/>
          </p:cNvSpPr>
          <p:nvPr/>
        </p:nvSpPr>
        <p:spPr>
          <a:xfrm xmlns:a="http://schemas.openxmlformats.org/drawingml/2006/main">
            <a:off x="8077200" y="35433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Framework total</a:t>
            </a:r>
          </a:p>
        </p:txBody>
      </p:sp>
      <p:sp>
        <p:nvSpPr>
          <p:cNvPr id="20" name="">
            <a:extLst xmlns:a="http://schemas.openxmlformats.org/drawingml/2006/main">
              <a:ext uri="{FF2B5EF4-FFF2-40B4-BE49-F238E27FC236}">
                <a16:creationId xmlns:a16="http://schemas.microsoft.com/office/drawing/2014/main" id="{74EE556B-B04E-426D-995F-76E0F5338C28}"/>
              </a:ext>
            </a:extLst>
          </p:cNvPr>
          <p:cNvSpPr>
            <a:spLocks xmlns:a="http://schemas.openxmlformats.org/drawingml/2006/main" noGrp="1"/>
          </p:cNvSpPr>
          <p:nvPr/>
        </p:nvSpPr>
        <p:spPr>
          <a:xfrm xmlns:a="http://schemas.openxmlformats.org/drawingml/2006/main">
            <a:off x="7620000" y="40576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1" name="">
            <a:extLst xmlns:a="http://schemas.openxmlformats.org/drawingml/2006/main">
              <a:ext uri="{FF2B5EF4-FFF2-40B4-BE49-F238E27FC236}">
                <a16:creationId xmlns:a16="http://schemas.microsoft.com/office/drawing/2014/main" id="{104861C2-F8FD-4E9C-99E3-11203AB7630B}"/>
              </a:ext>
            </a:extLst>
          </p:cNvPr>
          <p:cNvSpPr>
            <a:spLocks xmlns:a="http://schemas.openxmlformats.org/drawingml/2006/main" noGrp="1"/>
          </p:cNvSpPr>
          <p:nvPr/>
        </p:nvSpPr>
        <p:spPr>
          <a:xfrm xmlns:a="http://schemas.openxmlformats.org/drawingml/2006/main">
            <a:off x="8077200" y="39624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Mesure d'activite</a:t>
            </a:r>
          </a:p>
        </p:txBody>
      </p:sp>
      <p:sp>
        <p:nvSpPr>
          <p:cNvPr id="22" name="">
            <a:extLst xmlns:a="http://schemas.openxmlformats.org/drawingml/2006/main">
              <a:ext uri="{FF2B5EF4-FFF2-40B4-BE49-F238E27FC236}">
                <a16:creationId xmlns:a16="http://schemas.microsoft.com/office/drawing/2014/main" id="{6F071836-6CCB-46D0-8664-B57C4776061C}"/>
              </a:ext>
            </a:extLst>
          </p:cNvPr>
          <p:cNvSpPr>
            <a:spLocks xmlns:a="http://schemas.openxmlformats.org/drawingml/2006/main" noGrp="1"/>
          </p:cNvSpPr>
          <p:nvPr/>
        </p:nvSpPr>
        <p:spPr>
          <a:xfrm xmlns:a="http://schemas.openxmlformats.org/drawingml/2006/main">
            <a:off x="7620000" y="44767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3" name="">
            <a:extLst xmlns:a="http://schemas.openxmlformats.org/drawingml/2006/main">
              <a:ext uri="{FF2B5EF4-FFF2-40B4-BE49-F238E27FC236}">
                <a16:creationId xmlns:a16="http://schemas.microsoft.com/office/drawing/2014/main" id="{F780D5A4-1655-4B4E-8CA2-DAE34E2893F6}"/>
              </a:ext>
            </a:extLst>
          </p:cNvPr>
          <p:cNvSpPr>
            <a:spLocks xmlns:a="http://schemas.openxmlformats.org/drawingml/2006/main" noGrp="1"/>
          </p:cNvSpPr>
          <p:nvPr/>
        </p:nvSpPr>
        <p:spPr>
          <a:xfrm xmlns:a="http://schemas.openxmlformats.org/drawingml/2006/main">
            <a:off x="8077200" y="43815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Autonomie sans interfaces</a:t>
            </a:r>
          </a:p>
        </p:txBody>
      </p:sp>
      <p:sp>
        <p:nvSpPr>
          <p:cNvPr id="24" name="">
            <a:extLst xmlns:a="http://schemas.openxmlformats.org/drawingml/2006/main">
              <a:ext uri="{FF2B5EF4-FFF2-40B4-BE49-F238E27FC236}">
                <a16:creationId xmlns:a16="http://schemas.microsoft.com/office/drawing/2014/main" id="{88A2CFB0-F385-4A70-97EE-4C6DEFF4C6DA}"/>
              </a:ext>
            </a:extLst>
          </p:cNvPr>
          <p:cNvSpPr>
            <a:spLocks xmlns:a="http://schemas.openxmlformats.org/drawingml/2006/main" noGrp="1"/>
          </p:cNvSpPr>
          <p:nvPr/>
        </p:nvSpPr>
        <p:spPr>
          <a:xfrm xmlns:a="http://schemas.openxmlformats.org/drawingml/2006/main">
            <a:off x="7620000" y="48958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5" name="">
            <a:extLst xmlns:a="http://schemas.openxmlformats.org/drawingml/2006/main">
              <a:ext uri="{FF2B5EF4-FFF2-40B4-BE49-F238E27FC236}">
                <a16:creationId xmlns:a16="http://schemas.microsoft.com/office/drawing/2014/main" id="{EC1437C4-F3CD-429C-BD85-599E3CEE0230}"/>
              </a:ext>
            </a:extLst>
          </p:cNvPr>
          <p:cNvSpPr>
            <a:spLocks xmlns:a="http://schemas.openxmlformats.org/drawingml/2006/main" noGrp="1"/>
          </p:cNvSpPr>
          <p:nvPr/>
        </p:nvSpPr>
        <p:spPr>
          <a:xfrm xmlns:a="http://schemas.openxmlformats.org/drawingml/2006/main">
            <a:off x="8077200" y="48006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Ceremonies sans effet</a:t>
            </a:r>
          </a:p>
        </p:txBody>
      </p:sp>
    </p:spTree>
    <p:extLst>
      <p:ext uri="{BB962C8B-B14F-4D97-AF65-F5344CB8AC3E}">
        <p14:creationId xmlns:p14="http://schemas.microsoft.com/office/powerpoint/2010/main" val="79149977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9C9802C-1AC5-4E63-99B0-FCF6DDD5A17F}"/>
              </a:ext>
            </a:extLst>
          </p:cNvPr>
          <p:cNvSpPr>
            <a:spLocks xmlns:a="http://schemas.openxmlformats.org/drawingml/2006/main" noGrp="1"/>
          </p:cNvSpPr>
          <p:nvPr/>
        </p:nvSpPr>
        <p:spPr>
          <a:xfrm xmlns:a="http://schemas.openxmlformats.org/drawingml/2006/main">
            <a:off x="514350" y="381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565656"/>
                </a:solidFill>
              </a:defRPr>
            </a:pPr>
            <a:r>
              <a:rPr sz="1050" b="1">
                <a:solidFill>
                  <a:srgbClr val="565656"/>
                </a:solidFill>
              </a:rPr>
              <a:t>CHAPITRE 6</a:t>
            </a:r>
          </a:p>
        </p:txBody>
      </p:sp>
      <p:sp>
        <p:nvSpPr>
          <p:cNvPr id="2" name="">
            <a:extLst xmlns:a="http://schemas.openxmlformats.org/drawingml/2006/main">
              <a:ext uri="{FF2B5EF4-FFF2-40B4-BE49-F238E27FC236}">
                <a16:creationId xmlns:a16="http://schemas.microsoft.com/office/drawing/2014/main" id="{80885D03-4920-45FF-BC1C-9020FA5B56AD}"/>
              </a:ext>
            </a:extLst>
          </p:cNvPr>
          <p:cNvSpPr>
            <a:spLocks xmlns:a="http://schemas.openxmlformats.org/drawingml/2006/main" noGrp="1"/>
          </p:cNvSpPr>
          <p:nvPr/>
        </p:nvSpPr>
        <p:spPr>
          <a:xfrm xmlns:a="http://schemas.openxmlformats.org/drawingml/2006/main">
            <a:off x="514350" y="800100"/>
            <a:ext cx="7429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111111"/>
                </a:solidFill>
              </a:defRPr>
            </a:pPr>
            <a:r>
              <a:rPr sz="3150" b="1">
                <a:solidFill>
                  <a:srgbClr val="111111"/>
                </a:solidFill>
              </a:rPr>
              <a:t>La reconstruction part d'une regle : reduire la coordination avant de l'organiser</a:t>
            </a:r>
          </a:p>
        </p:txBody>
      </p:sp>
      <p:sp>
        <p:nvSpPr>
          <p:cNvPr id="3" name="">
            <a:extLst xmlns:a="http://schemas.openxmlformats.org/drawingml/2006/main">
              <a:ext uri="{FF2B5EF4-FFF2-40B4-BE49-F238E27FC236}">
                <a16:creationId xmlns:a16="http://schemas.microsoft.com/office/drawing/2014/main" id="{3FFEE3D4-3455-4D35-8732-EE6F6284A9D0}"/>
              </a:ext>
            </a:extLst>
          </p:cNvPr>
          <p:cNvSpPr>
            <a:spLocks xmlns:a="http://schemas.openxmlformats.org/drawingml/2006/main" noGrp="1"/>
          </p:cNvSpPr>
          <p:nvPr/>
        </p:nvSpPr>
        <p:spPr>
          <a:xfrm xmlns:a="http://schemas.openxmlformats.org/drawingml/2006/main">
            <a:off x="514350" y="1962150"/>
            <a:ext cx="733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65656"/>
                </a:solidFill>
              </a:defRPr>
            </a:pPr>
            <a:r>
              <a:rPr sz="1500" b="0">
                <a:solidFill>
                  <a:srgbClr val="565656"/>
                </a:solidFill>
              </a:rPr>
              <a:t>Le modele minimal ne cherche pas moins de structure en general, mais une structure plus juste.</a:t>
            </a:r>
          </a:p>
        </p:txBody>
      </p:sp>
      <p:sp>
        <p:nvSpPr>
          <p:cNvPr id="4" name="">
            <a:extLst xmlns:a="http://schemas.openxmlformats.org/drawingml/2006/main">
              <a:ext uri="{FF2B5EF4-FFF2-40B4-BE49-F238E27FC236}">
                <a16:creationId xmlns:a16="http://schemas.microsoft.com/office/drawing/2014/main" id="{5598D45C-7A75-4AA0-ADED-8696D1CFC04F}"/>
              </a:ext>
            </a:extLst>
          </p:cNvPr>
          <p:cNvSpPr>
            <a:spLocks xmlns:a="http://schemas.openxmlformats.org/drawingml/2006/main" noGrp="1"/>
          </p:cNvSpPr>
          <p:nvPr/>
        </p:nvSpPr>
        <p:spPr>
          <a:xfrm xmlns:a="http://schemas.openxmlformats.org/drawingml/2006/main">
            <a:off x="514350" y="6191250"/>
            <a:ext cx="111633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
            <a:extLst xmlns:a="http://schemas.openxmlformats.org/drawingml/2006/main">
              <a:ext uri="{FF2B5EF4-FFF2-40B4-BE49-F238E27FC236}">
                <a16:creationId xmlns:a16="http://schemas.microsoft.com/office/drawing/2014/main" id="{13D13783-B5AA-49A0-ABE5-4C80AB0592DC}"/>
              </a:ext>
            </a:extLst>
          </p:cNvPr>
          <p:cNvSpPr>
            <a:spLocks xmlns:a="http://schemas.openxmlformats.org/drawingml/2006/main" noGrp="1"/>
          </p:cNvSpPr>
          <p:nvPr/>
        </p:nvSpPr>
        <p:spPr>
          <a:xfrm xmlns:a="http://schemas.openxmlformats.org/drawingml/2006/main">
            <a:off x="514350" y="63055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65656"/>
                </a:solidFill>
              </a:defRPr>
            </a:pPr>
            <a:r>
              <a:rPr sz="975" b="0">
                <a:solidFill>
                  <a:srgbClr val="565656"/>
                </a:solidFill>
              </a:rPr>
              <a:t>Repenser la coordination logicielle a grande echelle</a:t>
            </a:r>
          </a:p>
        </p:txBody>
      </p:sp>
      <p:sp>
        <p:nvSpPr>
          <p:cNvPr id="6" name="">
            <a:extLst xmlns:a="http://schemas.openxmlformats.org/drawingml/2006/main">
              <a:ext uri="{FF2B5EF4-FFF2-40B4-BE49-F238E27FC236}">
                <a16:creationId xmlns:a16="http://schemas.microsoft.com/office/drawing/2014/main" id="{00BFC2B3-8FAB-4DA5-986F-C3A4DB907FA4}"/>
              </a:ext>
            </a:extLst>
          </p:cNvPr>
          <p:cNvSpPr>
            <a:spLocks xmlns:a="http://schemas.openxmlformats.org/drawingml/2006/main" noGrp="1"/>
          </p:cNvSpPr>
          <p:nvPr/>
        </p:nvSpPr>
        <p:spPr>
          <a:xfrm xmlns:a="http://schemas.openxmlformats.org/drawingml/2006/main">
            <a:off x="11258550" y="63055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65656"/>
                </a:solidFill>
              </a:defRPr>
            </a:pPr>
            <a:r>
              <a:rPr sz="975" b="0">
                <a:solidFill>
                  <a:srgbClr val="565656"/>
                </a:solidFill>
              </a:rPr>
              <a:t>07</a:t>
            </a:r>
          </a:p>
        </p:txBody>
      </p:sp>
      <p:sp>
        <p:nvSpPr>
          <p:cNvPr id="7" name="">
            <a:extLst xmlns:a="http://schemas.openxmlformats.org/drawingml/2006/main">
              <a:ext uri="{FF2B5EF4-FFF2-40B4-BE49-F238E27FC236}">
                <a16:creationId xmlns:a16="http://schemas.microsoft.com/office/drawing/2014/main" id="{29E59D9D-31C7-4952-B29F-B51010901CE9}"/>
              </a:ext>
            </a:extLst>
          </p:cNvPr>
          <p:cNvSpPr>
            <a:spLocks xmlns:a="http://schemas.openxmlformats.org/drawingml/2006/main" noGrp="1"/>
          </p:cNvSpPr>
          <p:nvPr/>
        </p:nvSpPr>
        <p:spPr>
          <a:xfrm xmlns:a="http://schemas.openxmlformats.org/drawingml/2006/main">
            <a:off x="8420100" y="495300"/>
            <a:ext cx="2857500" cy="266700"/>
          </a:xfrm>
          <a:prstGeom xmlns:a="http://schemas.openxmlformats.org/drawingml/2006/main" prst="rect">
            <a:avLst/>
          </a:prstGeom>
          <a:solidFill xmlns:a="http://schemas.openxmlformats.org/drawingml/2006/main">
            <a:srgbClr val="FF6B35"/>
          </a:solidFill>
          <a:ln xmlns:a="http://schemas.openxmlformats.org/drawingml/2006/main" w="0">
            <a:solidFill>
              <a:srgbClr val="FF6B35"/>
            </a:solidFill>
            <a:prstDash val="solid"/>
          </a:ln>
        </p:spPr>
      </p:sp>
      <p:sp>
        <p:nvSpPr>
          <p:cNvPr id="8" name="">
            <a:extLst xmlns:a="http://schemas.openxmlformats.org/drawingml/2006/main">
              <a:ext uri="{FF2B5EF4-FFF2-40B4-BE49-F238E27FC236}">
                <a16:creationId xmlns:a16="http://schemas.microsoft.com/office/drawing/2014/main" id="{5D565F02-251A-42E3-8D65-DD823C039219}"/>
              </a:ext>
            </a:extLst>
          </p:cNvPr>
          <p:cNvSpPr>
            <a:spLocks xmlns:a="http://schemas.openxmlformats.org/drawingml/2006/main" noGrp="1"/>
          </p:cNvSpPr>
          <p:nvPr/>
        </p:nvSpPr>
        <p:spPr>
          <a:xfrm xmlns:a="http://schemas.openxmlformats.org/drawingml/2006/main">
            <a:off x="8515350" y="542925"/>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defRPr>
            </a:pPr>
            <a:r>
              <a:rPr sz="975" b="1">
                <a:solidFill>
                  <a:srgbClr val="FFFFFF"/>
                </a:solidFill>
              </a:rPr>
              <a:t>Reconstruction</a:t>
            </a:r>
          </a:p>
        </p:txBody>
      </p:sp>
      <p:sp>
        <p:nvSpPr>
          <p:cNvPr id="9" name="">
            <a:extLst xmlns:a="http://schemas.openxmlformats.org/drawingml/2006/main">
              <a:ext uri="{FF2B5EF4-FFF2-40B4-BE49-F238E27FC236}">
                <a16:creationId xmlns:a16="http://schemas.microsoft.com/office/drawing/2014/main" id="{E2473250-F6DE-44D1-9711-4166FB25FF80}"/>
              </a:ext>
            </a:extLst>
          </p:cNvPr>
          <p:cNvSpPr>
            <a:spLocks xmlns:a="http://schemas.openxmlformats.org/drawingml/2006/main" noGrp="1"/>
          </p:cNvSpPr>
          <p:nvPr/>
        </p:nvSpPr>
        <p:spPr>
          <a:xfrm xmlns:a="http://schemas.openxmlformats.org/drawingml/2006/main">
            <a:off x="7334250" y="2876550"/>
            <a:ext cx="3905250" cy="240030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10" name="">
            <a:extLst xmlns:a="http://schemas.openxmlformats.org/drawingml/2006/main">
              <a:ext uri="{FF2B5EF4-FFF2-40B4-BE49-F238E27FC236}">
                <a16:creationId xmlns:a16="http://schemas.microsoft.com/office/drawing/2014/main" id="{30D26E05-FA91-4CE7-940C-F2293F8441FA}"/>
              </a:ext>
            </a:extLst>
          </p:cNvPr>
          <p:cNvSpPr>
            <a:spLocks xmlns:a="http://schemas.openxmlformats.org/drawingml/2006/main" noGrp="1"/>
          </p:cNvSpPr>
          <p:nvPr/>
        </p:nvSpPr>
        <p:spPr>
          <a:xfrm xmlns:a="http://schemas.openxmlformats.org/drawingml/2006/main">
            <a:off x="514350" y="3009900"/>
            <a:ext cx="6000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111111"/>
                </a:solidFill>
              </a:defRPr>
            </a:pPr>
            <a:r>
              <a:rPr sz="2250" b="1">
                <a:solidFill>
                  <a:srgbClr val="111111"/>
                </a:solidFill>
              </a:rPr>
              <a:t>Le meilleur mecanisme de coordination est celui qui rend une coordination inutile.</a:t>
            </a:r>
          </a:p>
        </p:txBody>
      </p:sp>
      <p:sp>
        <p:nvSpPr>
          <p:cNvPr id="11" name="">
            <a:extLst xmlns:a="http://schemas.openxmlformats.org/drawingml/2006/main">
              <a:ext uri="{FF2B5EF4-FFF2-40B4-BE49-F238E27FC236}">
                <a16:creationId xmlns:a16="http://schemas.microsoft.com/office/drawing/2014/main" id="{39EA0C63-60D7-40CA-89A0-08D6C72D25A9}"/>
              </a:ext>
            </a:extLst>
          </p:cNvPr>
          <p:cNvSpPr>
            <a:spLocks xmlns:a="http://schemas.openxmlformats.org/drawingml/2006/main" noGrp="1"/>
          </p:cNvSpPr>
          <p:nvPr/>
        </p:nvSpPr>
        <p:spPr>
          <a:xfrm xmlns:a="http://schemas.openxmlformats.org/drawingml/2006/main">
            <a:off x="514350" y="40100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1</a:t>
            </a:r>
          </a:p>
        </p:txBody>
      </p:sp>
      <p:sp>
        <p:nvSpPr>
          <p:cNvPr id="12" name="">
            <a:extLst xmlns:a="http://schemas.openxmlformats.org/drawingml/2006/main">
              <a:ext uri="{FF2B5EF4-FFF2-40B4-BE49-F238E27FC236}">
                <a16:creationId xmlns:a16="http://schemas.microsoft.com/office/drawing/2014/main" id="{5F3778F8-1AE3-44CE-BD17-DB633F9A3799}"/>
              </a:ext>
            </a:extLst>
          </p:cNvPr>
          <p:cNvSpPr>
            <a:spLocks xmlns:a="http://schemas.openxmlformats.org/drawingml/2006/main" noGrp="1"/>
          </p:cNvSpPr>
          <p:nvPr/>
        </p:nvSpPr>
        <p:spPr>
          <a:xfrm xmlns:a="http://schemas.openxmlformats.org/drawingml/2006/main">
            <a:off x="914400" y="400050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Reduire les dependances structurelles avant de mieux les planifier.</a:t>
            </a:r>
          </a:p>
        </p:txBody>
      </p:sp>
      <p:sp>
        <p:nvSpPr>
          <p:cNvPr id="13" name="">
            <a:extLst xmlns:a="http://schemas.openxmlformats.org/drawingml/2006/main">
              <a:ext uri="{FF2B5EF4-FFF2-40B4-BE49-F238E27FC236}">
                <a16:creationId xmlns:a16="http://schemas.microsoft.com/office/drawing/2014/main" id="{6D947DF7-E99E-46DF-A4BE-844319D404D8}"/>
              </a:ext>
            </a:extLst>
          </p:cNvPr>
          <p:cNvSpPr>
            <a:spLocks xmlns:a="http://schemas.openxmlformats.org/drawingml/2006/main" noGrp="1"/>
          </p:cNvSpPr>
          <p:nvPr/>
        </p:nvSpPr>
        <p:spPr>
          <a:xfrm xmlns:a="http://schemas.openxmlformats.org/drawingml/2006/main">
            <a:off x="514350" y="452437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2</a:t>
            </a:r>
          </a:p>
        </p:txBody>
      </p:sp>
      <p:sp>
        <p:nvSpPr>
          <p:cNvPr id="14" name="">
            <a:extLst xmlns:a="http://schemas.openxmlformats.org/drawingml/2006/main">
              <a:ext uri="{FF2B5EF4-FFF2-40B4-BE49-F238E27FC236}">
                <a16:creationId xmlns:a16="http://schemas.microsoft.com/office/drawing/2014/main" id="{2695FF8D-A490-465E-95C5-5182D3A995D4}"/>
              </a:ext>
            </a:extLst>
          </p:cNvPr>
          <p:cNvSpPr>
            <a:spLocks xmlns:a="http://schemas.openxmlformats.org/drawingml/2006/main" noGrp="1"/>
          </p:cNvSpPr>
          <p:nvPr/>
        </p:nvSpPr>
        <p:spPr>
          <a:xfrm xmlns:a="http://schemas.openxmlformats.org/drawingml/2006/main">
            <a:off x="914400" y="451485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Garder un petit nombre de mecanismes robustes : equipes stables, ownership, portefeuille limite, qualite, plateformes.</a:t>
            </a:r>
          </a:p>
        </p:txBody>
      </p:sp>
      <p:sp>
        <p:nvSpPr>
          <p:cNvPr id="15" name="">
            <a:extLst xmlns:a="http://schemas.openxmlformats.org/drawingml/2006/main">
              <a:ext uri="{FF2B5EF4-FFF2-40B4-BE49-F238E27FC236}">
                <a16:creationId xmlns:a16="http://schemas.microsoft.com/office/drawing/2014/main" id="{AD6AC879-38EA-4D4C-A5D9-A1B9C2E92583}"/>
              </a:ext>
            </a:extLst>
          </p:cNvPr>
          <p:cNvSpPr>
            <a:spLocks xmlns:a="http://schemas.openxmlformats.org/drawingml/2006/main" noGrp="1"/>
          </p:cNvSpPr>
          <p:nvPr/>
        </p:nvSpPr>
        <p:spPr>
          <a:xfrm xmlns:a="http://schemas.openxmlformats.org/drawingml/2006/main">
            <a:off x="514350" y="50387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3</a:t>
            </a:r>
          </a:p>
        </p:txBody>
      </p:sp>
      <p:sp>
        <p:nvSpPr>
          <p:cNvPr id="16" name="">
            <a:extLst xmlns:a="http://schemas.openxmlformats.org/drawingml/2006/main">
              <a:ext uri="{FF2B5EF4-FFF2-40B4-BE49-F238E27FC236}">
                <a16:creationId xmlns:a16="http://schemas.microsoft.com/office/drawing/2014/main" id="{B1E532D9-90EE-438A-9196-7FF4BC0E56B5}"/>
              </a:ext>
            </a:extLst>
          </p:cNvPr>
          <p:cNvSpPr>
            <a:spLocks xmlns:a="http://schemas.openxmlformats.org/drawingml/2006/main" noGrp="1"/>
          </p:cNvSpPr>
          <p:nvPr/>
        </p:nvSpPr>
        <p:spPr>
          <a:xfrm xmlns:a="http://schemas.openxmlformats.org/drawingml/2006/main">
            <a:off x="914400" y="502920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Retirer les formes qui ne produisent plus ni decision, ni feedback, ni reduction de risque.</a:t>
            </a:r>
          </a:p>
        </p:txBody>
      </p:sp>
      <p:sp>
        <p:nvSpPr>
          <p:cNvPr id="17" name="">
            <a:extLst xmlns:a="http://schemas.openxmlformats.org/drawingml/2006/main">
              <a:ext uri="{FF2B5EF4-FFF2-40B4-BE49-F238E27FC236}">
                <a16:creationId xmlns:a16="http://schemas.microsoft.com/office/drawing/2014/main" id="{18564354-084D-4797-B2CA-337B36D52F98}"/>
              </a:ext>
            </a:extLst>
          </p:cNvPr>
          <p:cNvSpPr>
            <a:spLocks xmlns:a="http://schemas.openxmlformats.org/drawingml/2006/main" noGrp="1"/>
          </p:cNvSpPr>
          <p:nvPr/>
        </p:nvSpPr>
        <p:spPr>
          <a:xfrm xmlns:a="http://schemas.openxmlformats.org/drawingml/2006/main">
            <a:off x="7620000" y="31051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defRPr>
            </a:pPr>
            <a:r>
              <a:rPr sz="1650" b="1">
                <a:solidFill>
                  <a:srgbClr val="111111"/>
                </a:solidFill>
              </a:rPr>
              <a:t>Operating system</a:t>
            </a:r>
          </a:p>
        </p:txBody>
      </p:sp>
      <p:sp>
        <p:nvSpPr>
          <p:cNvPr id="18" name="">
            <a:extLst xmlns:a="http://schemas.openxmlformats.org/drawingml/2006/main">
              <a:ext uri="{FF2B5EF4-FFF2-40B4-BE49-F238E27FC236}">
                <a16:creationId xmlns:a16="http://schemas.microsoft.com/office/drawing/2014/main" id="{A6D96853-AC11-4F3A-BD8C-52E92EF31EE9}"/>
              </a:ext>
            </a:extLst>
          </p:cNvPr>
          <p:cNvSpPr>
            <a:spLocks xmlns:a="http://schemas.openxmlformats.org/drawingml/2006/main" noGrp="1"/>
          </p:cNvSpPr>
          <p:nvPr/>
        </p:nvSpPr>
        <p:spPr>
          <a:xfrm xmlns:a="http://schemas.openxmlformats.org/drawingml/2006/main">
            <a:off x="7620000" y="3638550"/>
            <a:ext cx="342900" cy="38100"/>
          </a:xfrm>
          <a:prstGeom xmlns:a="http://schemas.openxmlformats.org/drawingml/2006/main" prst="rect">
            <a:avLst/>
          </a:prstGeom>
          <a:solidFill xmlns:a="http://schemas.openxmlformats.org/drawingml/2006/main">
            <a:srgbClr val="FF6B35"/>
          </a:solidFill>
          <a:ln xmlns:a="http://schemas.openxmlformats.org/drawingml/2006/main" w="0">
            <a:solidFill>
              <a:srgbClr val="FF6B35"/>
            </a:solidFill>
            <a:prstDash val="solid"/>
          </a:ln>
        </p:spPr>
      </p:sp>
      <p:sp>
        <p:nvSpPr>
          <p:cNvPr id="19" name="">
            <a:extLst xmlns:a="http://schemas.openxmlformats.org/drawingml/2006/main">
              <a:ext uri="{FF2B5EF4-FFF2-40B4-BE49-F238E27FC236}">
                <a16:creationId xmlns:a16="http://schemas.microsoft.com/office/drawing/2014/main" id="{C4476E5E-F44B-4120-A1D5-E8D9D055F6D2}"/>
              </a:ext>
            </a:extLst>
          </p:cNvPr>
          <p:cNvSpPr>
            <a:spLocks xmlns:a="http://schemas.openxmlformats.org/drawingml/2006/main" noGrp="1"/>
          </p:cNvSpPr>
          <p:nvPr/>
        </p:nvSpPr>
        <p:spPr>
          <a:xfrm xmlns:a="http://schemas.openxmlformats.org/drawingml/2006/main">
            <a:off x="8077200" y="35433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Direction</a:t>
            </a:r>
          </a:p>
        </p:txBody>
      </p:sp>
      <p:sp>
        <p:nvSpPr>
          <p:cNvPr id="20" name="">
            <a:extLst xmlns:a="http://schemas.openxmlformats.org/drawingml/2006/main">
              <a:ext uri="{FF2B5EF4-FFF2-40B4-BE49-F238E27FC236}">
                <a16:creationId xmlns:a16="http://schemas.microsoft.com/office/drawing/2014/main" id="{CDB7A06A-7BF5-4F29-A3DF-7E9282CBA474}"/>
              </a:ext>
            </a:extLst>
          </p:cNvPr>
          <p:cNvSpPr>
            <a:spLocks xmlns:a="http://schemas.openxmlformats.org/drawingml/2006/main" noGrp="1"/>
          </p:cNvSpPr>
          <p:nvPr/>
        </p:nvSpPr>
        <p:spPr>
          <a:xfrm xmlns:a="http://schemas.openxmlformats.org/drawingml/2006/main">
            <a:off x="7620000" y="40576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1" name="">
            <a:extLst xmlns:a="http://schemas.openxmlformats.org/drawingml/2006/main">
              <a:ext uri="{FF2B5EF4-FFF2-40B4-BE49-F238E27FC236}">
                <a16:creationId xmlns:a16="http://schemas.microsoft.com/office/drawing/2014/main" id="{0CBE1345-EA97-44D6-80ED-96D33EA01462}"/>
              </a:ext>
            </a:extLst>
          </p:cNvPr>
          <p:cNvSpPr>
            <a:spLocks xmlns:a="http://schemas.openxmlformats.org/drawingml/2006/main" noGrp="1"/>
          </p:cNvSpPr>
          <p:nvPr/>
        </p:nvSpPr>
        <p:spPr>
          <a:xfrm xmlns:a="http://schemas.openxmlformats.org/drawingml/2006/main">
            <a:off x="8077200" y="39624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Responsabilite</a:t>
            </a:r>
          </a:p>
        </p:txBody>
      </p:sp>
      <p:sp>
        <p:nvSpPr>
          <p:cNvPr id="22" name="">
            <a:extLst xmlns:a="http://schemas.openxmlformats.org/drawingml/2006/main">
              <a:ext uri="{FF2B5EF4-FFF2-40B4-BE49-F238E27FC236}">
                <a16:creationId xmlns:a16="http://schemas.microsoft.com/office/drawing/2014/main" id="{A769B723-4E89-40F2-9B8A-37A6C3843F05}"/>
              </a:ext>
            </a:extLst>
          </p:cNvPr>
          <p:cNvSpPr>
            <a:spLocks xmlns:a="http://schemas.openxmlformats.org/drawingml/2006/main" noGrp="1"/>
          </p:cNvSpPr>
          <p:nvPr/>
        </p:nvSpPr>
        <p:spPr>
          <a:xfrm xmlns:a="http://schemas.openxmlformats.org/drawingml/2006/main">
            <a:off x="7620000" y="44767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3" name="">
            <a:extLst xmlns:a="http://schemas.openxmlformats.org/drawingml/2006/main">
              <a:ext uri="{FF2B5EF4-FFF2-40B4-BE49-F238E27FC236}">
                <a16:creationId xmlns:a16="http://schemas.microsoft.com/office/drawing/2014/main" id="{F6A39255-3EB7-4C83-B0D1-9BE34831C896}"/>
              </a:ext>
            </a:extLst>
          </p:cNvPr>
          <p:cNvSpPr>
            <a:spLocks xmlns:a="http://schemas.openxmlformats.org/drawingml/2006/main" noGrp="1"/>
          </p:cNvSpPr>
          <p:nvPr/>
        </p:nvSpPr>
        <p:spPr>
          <a:xfrm xmlns:a="http://schemas.openxmlformats.org/drawingml/2006/main">
            <a:off x="8077200" y="43815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Coordination</a:t>
            </a:r>
          </a:p>
        </p:txBody>
      </p:sp>
      <p:sp>
        <p:nvSpPr>
          <p:cNvPr id="24" name="">
            <a:extLst xmlns:a="http://schemas.openxmlformats.org/drawingml/2006/main">
              <a:ext uri="{FF2B5EF4-FFF2-40B4-BE49-F238E27FC236}">
                <a16:creationId xmlns:a16="http://schemas.microsoft.com/office/drawing/2014/main" id="{105A1E29-9DB6-4321-B965-E7483195AC65}"/>
              </a:ext>
            </a:extLst>
          </p:cNvPr>
          <p:cNvSpPr>
            <a:spLocks xmlns:a="http://schemas.openxmlformats.org/drawingml/2006/main" noGrp="1"/>
          </p:cNvSpPr>
          <p:nvPr/>
        </p:nvSpPr>
        <p:spPr>
          <a:xfrm xmlns:a="http://schemas.openxmlformats.org/drawingml/2006/main">
            <a:off x="7620000" y="48958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5" name="">
            <a:extLst xmlns:a="http://schemas.openxmlformats.org/drawingml/2006/main">
              <a:ext uri="{FF2B5EF4-FFF2-40B4-BE49-F238E27FC236}">
                <a16:creationId xmlns:a16="http://schemas.microsoft.com/office/drawing/2014/main" id="{573230DC-18A2-491D-8444-36F2C1FDC3A4}"/>
              </a:ext>
            </a:extLst>
          </p:cNvPr>
          <p:cNvSpPr>
            <a:spLocks xmlns:a="http://schemas.openxmlformats.org/drawingml/2006/main" noGrp="1"/>
          </p:cNvSpPr>
          <p:nvPr/>
        </p:nvSpPr>
        <p:spPr>
          <a:xfrm xmlns:a="http://schemas.openxmlformats.org/drawingml/2006/main">
            <a:off x="8077200" y="48006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Technique</a:t>
            </a:r>
          </a:p>
        </p:txBody>
      </p:sp>
      <p:sp>
        <p:nvSpPr>
          <p:cNvPr id="26" name="">
            <a:extLst xmlns:a="http://schemas.openxmlformats.org/drawingml/2006/main">
              <a:ext uri="{FF2B5EF4-FFF2-40B4-BE49-F238E27FC236}">
                <a16:creationId xmlns:a16="http://schemas.microsoft.com/office/drawing/2014/main" id="{7842DD0F-7CBD-4E7A-8805-B13F111B27D1}"/>
              </a:ext>
            </a:extLst>
          </p:cNvPr>
          <p:cNvSpPr>
            <a:spLocks xmlns:a="http://schemas.openxmlformats.org/drawingml/2006/main" noGrp="1"/>
          </p:cNvSpPr>
          <p:nvPr/>
        </p:nvSpPr>
        <p:spPr>
          <a:xfrm xmlns:a="http://schemas.openxmlformats.org/drawingml/2006/main">
            <a:off x="7620000" y="53149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7" name="">
            <a:extLst xmlns:a="http://schemas.openxmlformats.org/drawingml/2006/main">
              <a:ext uri="{FF2B5EF4-FFF2-40B4-BE49-F238E27FC236}">
                <a16:creationId xmlns:a16="http://schemas.microsoft.com/office/drawing/2014/main" id="{38E3E136-41B0-438A-AA6F-0DA33F5686DB}"/>
              </a:ext>
            </a:extLst>
          </p:cNvPr>
          <p:cNvSpPr>
            <a:spLocks xmlns:a="http://schemas.openxmlformats.org/drawingml/2006/main" noGrp="1"/>
          </p:cNvSpPr>
          <p:nvPr/>
        </p:nvSpPr>
        <p:spPr>
          <a:xfrm xmlns:a="http://schemas.openxmlformats.org/drawingml/2006/main">
            <a:off x="8077200" y="52197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Observation</a:t>
            </a:r>
          </a:p>
        </p:txBody>
      </p:sp>
    </p:spTree>
    <p:extLst>
      <p:ext uri="{BB962C8B-B14F-4D97-AF65-F5344CB8AC3E}">
        <p14:creationId xmlns:p14="http://schemas.microsoft.com/office/powerpoint/2010/main" val="71331694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97E023C-2907-47A8-BD82-9B41453D4622}"/>
              </a:ext>
            </a:extLst>
          </p:cNvPr>
          <p:cNvSpPr>
            <a:spLocks xmlns:a="http://schemas.openxmlformats.org/drawingml/2006/main" noGrp="1"/>
          </p:cNvSpPr>
          <p:nvPr/>
        </p:nvSpPr>
        <p:spPr>
          <a:xfrm xmlns:a="http://schemas.openxmlformats.org/drawingml/2006/main">
            <a:off x="514350" y="381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565656"/>
                </a:solidFill>
              </a:defRPr>
            </a:pPr>
            <a:r>
              <a:rPr sz="1050" b="1">
                <a:solidFill>
                  <a:srgbClr val="565656"/>
                </a:solidFill>
              </a:rPr>
              <a:t>CHAPITRE 7</a:t>
            </a:r>
          </a:p>
        </p:txBody>
      </p:sp>
      <p:sp>
        <p:nvSpPr>
          <p:cNvPr id="2" name="">
            <a:extLst xmlns:a="http://schemas.openxmlformats.org/drawingml/2006/main">
              <a:ext uri="{FF2B5EF4-FFF2-40B4-BE49-F238E27FC236}">
                <a16:creationId xmlns:a16="http://schemas.microsoft.com/office/drawing/2014/main" id="{58757894-363C-443C-967F-E09CC79FD4A8}"/>
              </a:ext>
            </a:extLst>
          </p:cNvPr>
          <p:cNvSpPr>
            <a:spLocks xmlns:a="http://schemas.openxmlformats.org/drawingml/2006/main" noGrp="1"/>
          </p:cNvSpPr>
          <p:nvPr/>
        </p:nvSpPr>
        <p:spPr>
          <a:xfrm xmlns:a="http://schemas.openxmlformats.org/drawingml/2006/main">
            <a:off x="514350" y="800100"/>
            <a:ext cx="7429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111111"/>
                </a:solidFill>
              </a:defRPr>
            </a:pPr>
            <a:r>
              <a:rPr sz="3150" b="1">
                <a:solidFill>
                  <a:srgbClr val="111111"/>
                </a:solidFill>
              </a:rPr>
              <a:t>Le modele cible est une architecture de decisions et de feedbacks</a:t>
            </a:r>
          </a:p>
        </p:txBody>
      </p:sp>
      <p:sp>
        <p:nvSpPr>
          <p:cNvPr id="3" name="">
            <a:extLst xmlns:a="http://schemas.openxmlformats.org/drawingml/2006/main">
              <a:ext uri="{FF2B5EF4-FFF2-40B4-BE49-F238E27FC236}">
                <a16:creationId xmlns:a16="http://schemas.microsoft.com/office/drawing/2014/main" id="{1149EAF3-5DA2-44B3-8161-FACB13C83987}"/>
              </a:ext>
            </a:extLst>
          </p:cNvPr>
          <p:cNvSpPr>
            <a:spLocks xmlns:a="http://schemas.openxmlformats.org/drawingml/2006/main" noGrp="1"/>
          </p:cNvSpPr>
          <p:nvPr/>
        </p:nvSpPr>
        <p:spPr>
          <a:xfrm xmlns:a="http://schemas.openxmlformats.org/drawingml/2006/main">
            <a:off x="514350" y="1962150"/>
            <a:ext cx="733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65656"/>
                </a:solidFill>
              </a:defRPr>
            </a:pPr>
            <a:r>
              <a:rPr sz="1500" b="0">
                <a:solidFill>
                  <a:srgbClr val="565656"/>
                </a:solidFill>
              </a:rPr>
              <a:t>La strategie n'ordonne pas directement les taches ; elle oriente le portefeuille, les domaines et les contraintes de decision.</a:t>
            </a:r>
          </a:p>
        </p:txBody>
      </p:sp>
      <p:sp>
        <p:nvSpPr>
          <p:cNvPr id="4" name="">
            <a:extLst xmlns:a="http://schemas.openxmlformats.org/drawingml/2006/main">
              <a:ext uri="{FF2B5EF4-FFF2-40B4-BE49-F238E27FC236}">
                <a16:creationId xmlns:a16="http://schemas.microsoft.com/office/drawing/2014/main" id="{4B50A4E3-ACC3-433F-B379-9A2228127E19}"/>
              </a:ext>
            </a:extLst>
          </p:cNvPr>
          <p:cNvSpPr>
            <a:spLocks xmlns:a="http://schemas.openxmlformats.org/drawingml/2006/main" noGrp="1"/>
          </p:cNvSpPr>
          <p:nvPr/>
        </p:nvSpPr>
        <p:spPr>
          <a:xfrm xmlns:a="http://schemas.openxmlformats.org/drawingml/2006/main">
            <a:off x="514350" y="6191250"/>
            <a:ext cx="111633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
            <a:extLst xmlns:a="http://schemas.openxmlformats.org/drawingml/2006/main">
              <a:ext uri="{FF2B5EF4-FFF2-40B4-BE49-F238E27FC236}">
                <a16:creationId xmlns:a16="http://schemas.microsoft.com/office/drawing/2014/main" id="{679F369F-9FA5-4FA1-8CC1-75DB3EE8A3E6}"/>
              </a:ext>
            </a:extLst>
          </p:cNvPr>
          <p:cNvSpPr>
            <a:spLocks xmlns:a="http://schemas.openxmlformats.org/drawingml/2006/main" noGrp="1"/>
          </p:cNvSpPr>
          <p:nvPr/>
        </p:nvSpPr>
        <p:spPr>
          <a:xfrm xmlns:a="http://schemas.openxmlformats.org/drawingml/2006/main">
            <a:off x="514350" y="63055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65656"/>
                </a:solidFill>
              </a:defRPr>
            </a:pPr>
            <a:r>
              <a:rPr sz="975" b="0">
                <a:solidFill>
                  <a:srgbClr val="565656"/>
                </a:solidFill>
              </a:rPr>
              <a:t>Repenser la coordination logicielle a grande echelle</a:t>
            </a:r>
          </a:p>
        </p:txBody>
      </p:sp>
      <p:sp>
        <p:nvSpPr>
          <p:cNvPr id="6" name="">
            <a:extLst xmlns:a="http://schemas.openxmlformats.org/drawingml/2006/main">
              <a:ext uri="{FF2B5EF4-FFF2-40B4-BE49-F238E27FC236}">
                <a16:creationId xmlns:a16="http://schemas.microsoft.com/office/drawing/2014/main" id="{600694F4-ED53-40BF-9EDB-560E7AC24D23}"/>
              </a:ext>
            </a:extLst>
          </p:cNvPr>
          <p:cNvSpPr>
            <a:spLocks xmlns:a="http://schemas.openxmlformats.org/drawingml/2006/main" noGrp="1"/>
          </p:cNvSpPr>
          <p:nvPr/>
        </p:nvSpPr>
        <p:spPr>
          <a:xfrm xmlns:a="http://schemas.openxmlformats.org/drawingml/2006/main">
            <a:off x="11258550" y="63055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65656"/>
                </a:solidFill>
              </a:defRPr>
            </a:pPr>
            <a:r>
              <a:rPr sz="975" b="0">
                <a:solidFill>
                  <a:srgbClr val="565656"/>
                </a:solidFill>
              </a:rPr>
              <a:t>08</a:t>
            </a:r>
          </a:p>
        </p:txBody>
      </p:sp>
      <p:sp>
        <p:nvSpPr>
          <p:cNvPr id="7" name="">
            <a:extLst xmlns:a="http://schemas.openxmlformats.org/drawingml/2006/main">
              <a:ext uri="{FF2B5EF4-FFF2-40B4-BE49-F238E27FC236}">
                <a16:creationId xmlns:a16="http://schemas.microsoft.com/office/drawing/2014/main" id="{B6F38F2E-5467-40C0-8411-61BEE675F4B8}"/>
              </a:ext>
            </a:extLst>
          </p:cNvPr>
          <p:cNvSpPr>
            <a:spLocks xmlns:a="http://schemas.openxmlformats.org/drawingml/2006/main" noGrp="1"/>
          </p:cNvSpPr>
          <p:nvPr/>
        </p:nvSpPr>
        <p:spPr>
          <a:xfrm xmlns:a="http://schemas.openxmlformats.org/drawingml/2006/main">
            <a:off x="8420100" y="495300"/>
            <a:ext cx="2857500" cy="266700"/>
          </a:xfrm>
          <a:prstGeom xmlns:a="http://schemas.openxmlformats.org/drawingml/2006/main" prst="rect">
            <a:avLst/>
          </a:prstGeom>
          <a:solidFill xmlns:a="http://schemas.openxmlformats.org/drawingml/2006/main">
            <a:srgbClr val="FF6B35"/>
          </a:solidFill>
          <a:ln xmlns:a="http://schemas.openxmlformats.org/drawingml/2006/main" w="0">
            <a:solidFill>
              <a:srgbClr val="FF6B35"/>
            </a:solidFill>
            <a:prstDash val="solid"/>
          </a:ln>
        </p:spPr>
      </p:sp>
      <p:sp>
        <p:nvSpPr>
          <p:cNvPr id="8" name="">
            <a:extLst xmlns:a="http://schemas.openxmlformats.org/drawingml/2006/main">
              <a:ext uri="{FF2B5EF4-FFF2-40B4-BE49-F238E27FC236}">
                <a16:creationId xmlns:a16="http://schemas.microsoft.com/office/drawing/2014/main" id="{5875CA9D-9D01-44FA-B58B-7EB1674F6D0C}"/>
              </a:ext>
            </a:extLst>
          </p:cNvPr>
          <p:cNvSpPr>
            <a:spLocks xmlns:a="http://schemas.openxmlformats.org/drawingml/2006/main" noGrp="1"/>
          </p:cNvSpPr>
          <p:nvPr/>
        </p:nvSpPr>
        <p:spPr>
          <a:xfrm xmlns:a="http://schemas.openxmlformats.org/drawingml/2006/main">
            <a:off x="8515350" y="542925"/>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defRPr>
            </a:pPr>
            <a:r>
              <a:rPr sz="975" b="1">
                <a:solidFill>
                  <a:srgbClr val="FFFFFF"/>
                </a:solidFill>
              </a:rPr>
              <a:t>Organisation cible</a:t>
            </a:r>
          </a:p>
        </p:txBody>
      </p:sp>
      <p:sp>
        <p:nvSpPr>
          <p:cNvPr id="9" name="">
            <a:extLst xmlns:a="http://schemas.openxmlformats.org/drawingml/2006/main">
              <a:ext uri="{FF2B5EF4-FFF2-40B4-BE49-F238E27FC236}">
                <a16:creationId xmlns:a16="http://schemas.microsoft.com/office/drawing/2014/main" id="{7255FFB4-1570-4F8C-BD66-826D73B86968}"/>
              </a:ext>
            </a:extLst>
          </p:cNvPr>
          <p:cNvSpPr>
            <a:spLocks xmlns:a="http://schemas.openxmlformats.org/drawingml/2006/main" noGrp="1"/>
          </p:cNvSpPr>
          <p:nvPr/>
        </p:nvSpPr>
        <p:spPr>
          <a:xfrm xmlns:a="http://schemas.openxmlformats.org/drawingml/2006/main">
            <a:off x="7334250" y="2876550"/>
            <a:ext cx="3905250" cy="240030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10" name="">
            <a:extLst xmlns:a="http://schemas.openxmlformats.org/drawingml/2006/main">
              <a:ext uri="{FF2B5EF4-FFF2-40B4-BE49-F238E27FC236}">
                <a16:creationId xmlns:a16="http://schemas.microsoft.com/office/drawing/2014/main" id="{E942DCFE-2F83-434A-9599-DF8B076AA7BF}"/>
              </a:ext>
            </a:extLst>
          </p:cNvPr>
          <p:cNvSpPr>
            <a:spLocks xmlns:a="http://schemas.openxmlformats.org/drawingml/2006/main" noGrp="1"/>
          </p:cNvSpPr>
          <p:nvPr/>
        </p:nvSpPr>
        <p:spPr>
          <a:xfrm xmlns:a="http://schemas.openxmlformats.org/drawingml/2006/main">
            <a:off x="514350" y="3009900"/>
            <a:ext cx="6000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111111"/>
                </a:solidFill>
              </a:defRPr>
            </a:pPr>
            <a:r>
              <a:rPr sz="2250" b="1">
                <a:solidFill>
                  <a:srgbClr val="111111"/>
                </a:solidFill>
              </a:rPr>
              <a:t>Une organisation simplifiee conserve les mecanismes qui permettent aux equipes d'avancer sans demander permission partout.</a:t>
            </a:r>
          </a:p>
        </p:txBody>
      </p:sp>
      <p:sp>
        <p:nvSpPr>
          <p:cNvPr id="11" name="">
            <a:extLst xmlns:a="http://schemas.openxmlformats.org/drawingml/2006/main">
              <a:ext uri="{FF2B5EF4-FFF2-40B4-BE49-F238E27FC236}">
                <a16:creationId xmlns:a16="http://schemas.microsoft.com/office/drawing/2014/main" id="{78A90234-B7F7-41D2-B3E8-3BAAA68985D4}"/>
              </a:ext>
            </a:extLst>
          </p:cNvPr>
          <p:cNvSpPr>
            <a:spLocks xmlns:a="http://schemas.openxmlformats.org/drawingml/2006/main" noGrp="1"/>
          </p:cNvSpPr>
          <p:nvPr/>
        </p:nvSpPr>
        <p:spPr>
          <a:xfrm xmlns:a="http://schemas.openxmlformats.org/drawingml/2006/main">
            <a:off x="514350" y="40100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1</a:t>
            </a:r>
          </a:p>
        </p:txBody>
      </p:sp>
      <p:sp>
        <p:nvSpPr>
          <p:cNvPr id="12" name="">
            <a:extLst xmlns:a="http://schemas.openxmlformats.org/drawingml/2006/main">
              <a:ext uri="{FF2B5EF4-FFF2-40B4-BE49-F238E27FC236}">
                <a16:creationId xmlns:a16="http://schemas.microsoft.com/office/drawing/2014/main" id="{CB5E0564-A6CA-43EF-A2C4-972D10A8FC06}"/>
              </a:ext>
            </a:extLst>
          </p:cNvPr>
          <p:cNvSpPr>
            <a:spLocks xmlns:a="http://schemas.openxmlformats.org/drawingml/2006/main" noGrp="1"/>
          </p:cNvSpPr>
          <p:nvPr/>
        </p:nvSpPr>
        <p:spPr>
          <a:xfrm xmlns:a="http://schemas.openxmlformats.org/drawingml/2006/main">
            <a:off x="914400" y="400050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Strategie, portefeuille, domaines et equipes forment une chaine de responsabilite lisible.</a:t>
            </a:r>
          </a:p>
        </p:txBody>
      </p:sp>
      <p:sp>
        <p:nvSpPr>
          <p:cNvPr id="13" name="">
            <a:extLst xmlns:a="http://schemas.openxmlformats.org/drawingml/2006/main">
              <a:ext uri="{FF2B5EF4-FFF2-40B4-BE49-F238E27FC236}">
                <a16:creationId xmlns:a16="http://schemas.microsoft.com/office/drawing/2014/main" id="{6C6B9BEB-30F1-4D3A-A0BF-2A55F197B691}"/>
              </a:ext>
            </a:extLst>
          </p:cNvPr>
          <p:cNvSpPr>
            <a:spLocks xmlns:a="http://schemas.openxmlformats.org/drawingml/2006/main" noGrp="1"/>
          </p:cNvSpPr>
          <p:nvPr/>
        </p:nvSpPr>
        <p:spPr>
          <a:xfrm xmlns:a="http://schemas.openxmlformats.org/drawingml/2006/main">
            <a:off x="514350" y="452437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2</a:t>
            </a:r>
          </a:p>
        </p:txBody>
      </p:sp>
      <p:sp>
        <p:nvSpPr>
          <p:cNvPr id="14" name="">
            <a:extLst xmlns:a="http://schemas.openxmlformats.org/drawingml/2006/main">
              <a:ext uri="{FF2B5EF4-FFF2-40B4-BE49-F238E27FC236}">
                <a16:creationId xmlns:a16="http://schemas.microsoft.com/office/drawing/2014/main" id="{897162AD-A44F-4102-9C1C-C3D58391420D}"/>
              </a:ext>
            </a:extLst>
          </p:cNvPr>
          <p:cNvSpPr>
            <a:spLocks xmlns:a="http://schemas.openxmlformats.org/drawingml/2006/main" noGrp="1"/>
          </p:cNvSpPr>
          <p:nvPr/>
        </p:nvSpPr>
        <p:spPr>
          <a:xfrm xmlns:a="http://schemas.openxmlformats.org/drawingml/2006/main">
            <a:off x="914400" y="451485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Plateformes, architecture et qualite reduisent les coordinations humaines repetitives.</a:t>
            </a:r>
          </a:p>
        </p:txBody>
      </p:sp>
      <p:sp>
        <p:nvSpPr>
          <p:cNvPr id="15" name="">
            <a:extLst xmlns:a="http://schemas.openxmlformats.org/drawingml/2006/main">
              <a:ext uri="{FF2B5EF4-FFF2-40B4-BE49-F238E27FC236}">
                <a16:creationId xmlns:a16="http://schemas.microsoft.com/office/drawing/2014/main" id="{B02DE75E-AB47-4F26-B45D-042A035A983F}"/>
              </a:ext>
            </a:extLst>
          </p:cNvPr>
          <p:cNvSpPr>
            <a:spLocks xmlns:a="http://schemas.openxmlformats.org/drawingml/2006/main" noGrp="1"/>
          </p:cNvSpPr>
          <p:nvPr/>
        </p:nvSpPr>
        <p:spPr>
          <a:xfrm xmlns:a="http://schemas.openxmlformats.org/drawingml/2006/main">
            <a:off x="514350" y="50387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3</a:t>
            </a:r>
          </a:p>
        </p:txBody>
      </p:sp>
      <p:sp>
        <p:nvSpPr>
          <p:cNvPr id="16" name="">
            <a:extLst xmlns:a="http://schemas.openxmlformats.org/drawingml/2006/main">
              <a:ext uri="{FF2B5EF4-FFF2-40B4-BE49-F238E27FC236}">
                <a16:creationId xmlns:a16="http://schemas.microsoft.com/office/drawing/2014/main" id="{B51748F0-06E8-44A0-BB1E-DD49F5F96489}"/>
              </a:ext>
            </a:extLst>
          </p:cNvPr>
          <p:cNvSpPr>
            <a:spLocks xmlns:a="http://schemas.openxmlformats.org/drawingml/2006/main" noGrp="1"/>
          </p:cNvSpPr>
          <p:nvPr/>
        </p:nvSpPr>
        <p:spPr>
          <a:xfrm xmlns:a="http://schemas.openxmlformats.org/drawingml/2006/main">
            <a:off x="914400" y="502920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Les cadences et artefacts restent uniquement s'ils produisent decisions, feedback ou reduction de risque.</a:t>
            </a:r>
          </a:p>
        </p:txBody>
      </p:sp>
      <p:sp>
        <p:nvSpPr>
          <p:cNvPr id="17" name="">
            <a:extLst xmlns:a="http://schemas.openxmlformats.org/drawingml/2006/main">
              <a:ext uri="{FF2B5EF4-FFF2-40B4-BE49-F238E27FC236}">
                <a16:creationId xmlns:a16="http://schemas.microsoft.com/office/drawing/2014/main" id="{9EB7D90B-C66F-4D11-B60C-3577D220D848}"/>
              </a:ext>
            </a:extLst>
          </p:cNvPr>
          <p:cNvSpPr>
            <a:spLocks xmlns:a="http://schemas.openxmlformats.org/drawingml/2006/main" noGrp="1"/>
          </p:cNvSpPr>
          <p:nvPr/>
        </p:nvSpPr>
        <p:spPr>
          <a:xfrm xmlns:a="http://schemas.openxmlformats.org/drawingml/2006/main">
            <a:off x="7620000" y="31051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defRPr>
            </a:pPr>
            <a:r>
              <a:rPr sz="1650" b="1">
                <a:solidFill>
                  <a:srgbClr val="111111"/>
                </a:solidFill>
              </a:rPr>
              <a:t>Criteres de viabilite</a:t>
            </a:r>
          </a:p>
        </p:txBody>
      </p:sp>
      <p:sp>
        <p:nvSpPr>
          <p:cNvPr id="18" name="">
            <a:extLst xmlns:a="http://schemas.openxmlformats.org/drawingml/2006/main">
              <a:ext uri="{FF2B5EF4-FFF2-40B4-BE49-F238E27FC236}">
                <a16:creationId xmlns:a16="http://schemas.microsoft.com/office/drawing/2014/main" id="{C89A14AD-8A30-4C1D-BC12-CDCD6FF1090F}"/>
              </a:ext>
            </a:extLst>
          </p:cNvPr>
          <p:cNvSpPr>
            <a:spLocks xmlns:a="http://schemas.openxmlformats.org/drawingml/2006/main" noGrp="1"/>
          </p:cNvSpPr>
          <p:nvPr/>
        </p:nvSpPr>
        <p:spPr>
          <a:xfrm xmlns:a="http://schemas.openxmlformats.org/drawingml/2006/main">
            <a:off x="7620000" y="3638550"/>
            <a:ext cx="342900" cy="38100"/>
          </a:xfrm>
          <a:prstGeom xmlns:a="http://schemas.openxmlformats.org/drawingml/2006/main" prst="rect">
            <a:avLst/>
          </a:prstGeom>
          <a:solidFill xmlns:a="http://schemas.openxmlformats.org/drawingml/2006/main">
            <a:srgbClr val="FF6B35"/>
          </a:solidFill>
          <a:ln xmlns:a="http://schemas.openxmlformats.org/drawingml/2006/main" w="0">
            <a:solidFill>
              <a:srgbClr val="FF6B35"/>
            </a:solidFill>
            <a:prstDash val="solid"/>
          </a:ln>
        </p:spPr>
      </p:sp>
      <p:sp>
        <p:nvSpPr>
          <p:cNvPr id="19" name="">
            <a:extLst xmlns:a="http://schemas.openxmlformats.org/drawingml/2006/main">
              <a:ext uri="{FF2B5EF4-FFF2-40B4-BE49-F238E27FC236}">
                <a16:creationId xmlns:a16="http://schemas.microsoft.com/office/drawing/2014/main" id="{63950F50-41EA-4118-990E-02EAB38D41C4}"/>
              </a:ext>
            </a:extLst>
          </p:cNvPr>
          <p:cNvSpPr>
            <a:spLocks xmlns:a="http://schemas.openxmlformats.org/drawingml/2006/main" noGrp="1"/>
          </p:cNvSpPr>
          <p:nvPr/>
        </p:nvSpPr>
        <p:spPr>
          <a:xfrm xmlns:a="http://schemas.openxmlformats.org/drawingml/2006/main">
            <a:off x="8077200" y="35433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Priorites explicites</a:t>
            </a:r>
          </a:p>
        </p:txBody>
      </p:sp>
      <p:sp>
        <p:nvSpPr>
          <p:cNvPr id="20" name="">
            <a:extLst xmlns:a="http://schemas.openxmlformats.org/drawingml/2006/main">
              <a:ext uri="{FF2B5EF4-FFF2-40B4-BE49-F238E27FC236}">
                <a16:creationId xmlns:a16="http://schemas.microsoft.com/office/drawing/2014/main" id="{2AD56251-59A3-4F0D-8E12-AEA41CDD5339}"/>
              </a:ext>
            </a:extLst>
          </p:cNvPr>
          <p:cNvSpPr>
            <a:spLocks xmlns:a="http://schemas.openxmlformats.org/drawingml/2006/main" noGrp="1"/>
          </p:cNvSpPr>
          <p:nvPr/>
        </p:nvSpPr>
        <p:spPr>
          <a:xfrm xmlns:a="http://schemas.openxmlformats.org/drawingml/2006/main">
            <a:off x="7620000" y="40576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1" name="">
            <a:extLst xmlns:a="http://schemas.openxmlformats.org/drawingml/2006/main">
              <a:ext uri="{FF2B5EF4-FFF2-40B4-BE49-F238E27FC236}">
                <a16:creationId xmlns:a16="http://schemas.microsoft.com/office/drawing/2014/main" id="{3C2804D0-D572-4CBB-9912-E335849A70A7}"/>
              </a:ext>
            </a:extLst>
          </p:cNvPr>
          <p:cNvSpPr>
            <a:spLocks xmlns:a="http://schemas.openxmlformats.org/drawingml/2006/main" noGrp="1"/>
          </p:cNvSpPr>
          <p:nvPr/>
        </p:nvSpPr>
        <p:spPr>
          <a:xfrm xmlns:a="http://schemas.openxmlformats.org/drawingml/2006/main">
            <a:off x="8077200" y="39624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WIP limite</a:t>
            </a:r>
          </a:p>
        </p:txBody>
      </p:sp>
      <p:sp>
        <p:nvSpPr>
          <p:cNvPr id="22" name="">
            <a:extLst xmlns:a="http://schemas.openxmlformats.org/drawingml/2006/main">
              <a:ext uri="{FF2B5EF4-FFF2-40B4-BE49-F238E27FC236}">
                <a16:creationId xmlns:a16="http://schemas.microsoft.com/office/drawing/2014/main" id="{28CD1960-2DC0-48BD-854B-3B0309EC6389}"/>
              </a:ext>
            </a:extLst>
          </p:cNvPr>
          <p:cNvSpPr>
            <a:spLocks xmlns:a="http://schemas.openxmlformats.org/drawingml/2006/main" noGrp="1"/>
          </p:cNvSpPr>
          <p:nvPr/>
        </p:nvSpPr>
        <p:spPr>
          <a:xfrm xmlns:a="http://schemas.openxmlformats.org/drawingml/2006/main">
            <a:off x="7620000" y="44767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3" name="">
            <a:extLst xmlns:a="http://schemas.openxmlformats.org/drawingml/2006/main">
              <a:ext uri="{FF2B5EF4-FFF2-40B4-BE49-F238E27FC236}">
                <a16:creationId xmlns:a16="http://schemas.microsoft.com/office/drawing/2014/main" id="{6BF7F1A3-ECA4-4957-850B-3CBBC9DFDBD8}"/>
              </a:ext>
            </a:extLst>
          </p:cNvPr>
          <p:cNvSpPr>
            <a:spLocks xmlns:a="http://schemas.openxmlformats.org/drawingml/2006/main" noGrp="1"/>
          </p:cNvSpPr>
          <p:nvPr/>
        </p:nvSpPr>
        <p:spPr>
          <a:xfrm xmlns:a="http://schemas.openxmlformats.org/drawingml/2006/main">
            <a:off x="8077200" y="43815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Ownership clair</a:t>
            </a:r>
          </a:p>
        </p:txBody>
      </p:sp>
      <p:sp>
        <p:nvSpPr>
          <p:cNvPr id="24" name="">
            <a:extLst xmlns:a="http://schemas.openxmlformats.org/drawingml/2006/main">
              <a:ext uri="{FF2B5EF4-FFF2-40B4-BE49-F238E27FC236}">
                <a16:creationId xmlns:a16="http://schemas.microsoft.com/office/drawing/2014/main" id="{441DF199-34B9-49D6-B7DC-88CCBD6AD883}"/>
              </a:ext>
            </a:extLst>
          </p:cNvPr>
          <p:cNvSpPr>
            <a:spLocks xmlns:a="http://schemas.openxmlformats.org/drawingml/2006/main" noGrp="1"/>
          </p:cNvSpPr>
          <p:nvPr/>
        </p:nvSpPr>
        <p:spPr>
          <a:xfrm xmlns:a="http://schemas.openxmlformats.org/drawingml/2006/main">
            <a:off x="7620000" y="48958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5" name="">
            <a:extLst xmlns:a="http://schemas.openxmlformats.org/drawingml/2006/main">
              <a:ext uri="{FF2B5EF4-FFF2-40B4-BE49-F238E27FC236}">
                <a16:creationId xmlns:a16="http://schemas.microsoft.com/office/drawing/2014/main" id="{497C6567-1128-4D14-8EA2-98C790B6A269}"/>
              </a:ext>
            </a:extLst>
          </p:cNvPr>
          <p:cNvSpPr>
            <a:spLocks xmlns:a="http://schemas.openxmlformats.org/drawingml/2006/main" noGrp="1"/>
          </p:cNvSpPr>
          <p:nvPr/>
        </p:nvSpPr>
        <p:spPr>
          <a:xfrm xmlns:a="http://schemas.openxmlformats.org/drawingml/2006/main">
            <a:off x="8077200" y="48006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Flux visible</a:t>
            </a:r>
          </a:p>
        </p:txBody>
      </p:sp>
    </p:spTree>
    <p:extLst>
      <p:ext uri="{BB962C8B-B14F-4D97-AF65-F5344CB8AC3E}">
        <p14:creationId xmlns:p14="http://schemas.microsoft.com/office/powerpoint/2010/main" val="120503616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027CA51-FDF2-4E18-8992-E55D5F8C02AA}"/>
              </a:ext>
            </a:extLst>
          </p:cNvPr>
          <p:cNvSpPr>
            <a:spLocks xmlns:a="http://schemas.openxmlformats.org/drawingml/2006/main" noGrp="1"/>
          </p:cNvSpPr>
          <p:nvPr/>
        </p:nvSpPr>
        <p:spPr>
          <a:xfrm xmlns:a="http://schemas.openxmlformats.org/drawingml/2006/main">
            <a:off x="514350" y="381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565656"/>
                </a:solidFill>
              </a:defRPr>
            </a:pPr>
            <a:r>
              <a:rPr sz="1050" b="1">
                <a:solidFill>
                  <a:srgbClr val="565656"/>
                </a:solidFill>
              </a:rPr>
              <a:t>CHAPITRE 8</a:t>
            </a:r>
          </a:p>
        </p:txBody>
      </p:sp>
      <p:sp>
        <p:nvSpPr>
          <p:cNvPr id="2" name="">
            <a:extLst xmlns:a="http://schemas.openxmlformats.org/drawingml/2006/main">
              <a:ext uri="{FF2B5EF4-FFF2-40B4-BE49-F238E27FC236}">
                <a16:creationId xmlns:a16="http://schemas.microsoft.com/office/drawing/2014/main" id="{ED5F6A87-A795-49C9-BBEA-D75DE4C4C605}"/>
              </a:ext>
            </a:extLst>
          </p:cNvPr>
          <p:cNvSpPr>
            <a:spLocks xmlns:a="http://schemas.openxmlformats.org/drawingml/2006/main" noGrp="1"/>
          </p:cNvSpPr>
          <p:nvPr/>
        </p:nvSpPr>
        <p:spPr>
          <a:xfrm xmlns:a="http://schemas.openxmlformats.org/drawingml/2006/main">
            <a:off x="514350" y="800100"/>
            <a:ext cx="7429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111111"/>
                </a:solidFill>
              </a:defRPr>
            </a:pPr>
            <a:r>
              <a:rPr sz="3150" b="1">
                <a:solidFill>
                  <a:srgbClr val="111111"/>
                </a:solidFill>
              </a:rPr>
              <a:t>Simplifier, c'est retirer ce qui ne resout plus rien et renforcer ce qui reste necessaire</a:t>
            </a:r>
          </a:p>
        </p:txBody>
      </p:sp>
      <p:sp>
        <p:nvSpPr>
          <p:cNvPr id="3" name="">
            <a:extLst xmlns:a="http://schemas.openxmlformats.org/drawingml/2006/main">
              <a:ext uri="{FF2B5EF4-FFF2-40B4-BE49-F238E27FC236}">
                <a16:creationId xmlns:a16="http://schemas.microsoft.com/office/drawing/2014/main" id="{A0BF793E-1E6F-4A79-BD53-C82006EEDD19}"/>
              </a:ext>
            </a:extLst>
          </p:cNvPr>
          <p:cNvSpPr>
            <a:spLocks xmlns:a="http://schemas.openxmlformats.org/drawingml/2006/main" noGrp="1"/>
          </p:cNvSpPr>
          <p:nvPr/>
        </p:nvSpPr>
        <p:spPr>
          <a:xfrm xmlns:a="http://schemas.openxmlformats.org/drawingml/2006/main">
            <a:off x="514350" y="1962150"/>
            <a:ext cx="733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65656"/>
                </a:solidFill>
              </a:defRPr>
            </a:pPr>
            <a:r>
              <a:rPr sz="1500" b="0">
                <a:solidFill>
                  <a:srgbClr val="565656"/>
                </a:solidFill>
              </a:rPr>
              <a:t>La cible n'est pas l'absence de structure ; c'est une structure adaptee aux problemes reels de l'organisation.</a:t>
            </a:r>
          </a:p>
        </p:txBody>
      </p:sp>
      <p:sp>
        <p:nvSpPr>
          <p:cNvPr id="4" name="">
            <a:extLst xmlns:a="http://schemas.openxmlformats.org/drawingml/2006/main">
              <a:ext uri="{FF2B5EF4-FFF2-40B4-BE49-F238E27FC236}">
                <a16:creationId xmlns:a16="http://schemas.microsoft.com/office/drawing/2014/main" id="{EAAFFFFF-C327-47F9-B485-1CC3C2FE1108}"/>
              </a:ext>
            </a:extLst>
          </p:cNvPr>
          <p:cNvSpPr>
            <a:spLocks xmlns:a="http://schemas.openxmlformats.org/drawingml/2006/main" noGrp="1"/>
          </p:cNvSpPr>
          <p:nvPr/>
        </p:nvSpPr>
        <p:spPr>
          <a:xfrm xmlns:a="http://schemas.openxmlformats.org/drawingml/2006/main">
            <a:off x="514350" y="6191250"/>
            <a:ext cx="111633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
            <a:extLst xmlns:a="http://schemas.openxmlformats.org/drawingml/2006/main">
              <a:ext uri="{FF2B5EF4-FFF2-40B4-BE49-F238E27FC236}">
                <a16:creationId xmlns:a16="http://schemas.microsoft.com/office/drawing/2014/main" id="{85E6E176-5781-4090-93FD-99B4B8322466}"/>
              </a:ext>
            </a:extLst>
          </p:cNvPr>
          <p:cNvSpPr>
            <a:spLocks xmlns:a="http://schemas.openxmlformats.org/drawingml/2006/main" noGrp="1"/>
          </p:cNvSpPr>
          <p:nvPr/>
        </p:nvSpPr>
        <p:spPr>
          <a:xfrm xmlns:a="http://schemas.openxmlformats.org/drawingml/2006/main">
            <a:off x="514350" y="63055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65656"/>
                </a:solidFill>
              </a:defRPr>
            </a:pPr>
            <a:r>
              <a:rPr sz="975" b="0">
                <a:solidFill>
                  <a:srgbClr val="565656"/>
                </a:solidFill>
              </a:rPr>
              <a:t>Repenser la coordination logicielle a grande echelle</a:t>
            </a:r>
          </a:p>
        </p:txBody>
      </p:sp>
      <p:sp>
        <p:nvSpPr>
          <p:cNvPr id="6" name="">
            <a:extLst xmlns:a="http://schemas.openxmlformats.org/drawingml/2006/main">
              <a:ext uri="{FF2B5EF4-FFF2-40B4-BE49-F238E27FC236}">
                <a16:creationId xmlns:a16="http://schemas.microsoft.com/office/drawing/2014/main" id="{E2D814EE-FBDE-4251-8707-D2FDE2575AC8}"/>
              </a:ext>
            </a:extLst>
          </p:cNvPr>
          <p:cNvSpPr>
            <a:spLocks xmlns:a="http://schemas.openxmlformats.org/drawingml/2006/main" noGrp="1"/>
          </p:cNvSpPr>
          <p:nvPr/>
        </p:nvSpPr>
        <p:spPr>
          <a:xfrm xmlns:a="http://schemas.openxmlformats.org/drawingml/2006/main">
            <a:off x="11258550" y="63055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65656"/>
                </a:solidFill>
              </a:defRPr>
            </a:pPr>
            <a:r>
              <a:rPr sz="975" b="0">
                <a:solidFill>
                  <a:srgbClr val="565656"/>
                </a:solidFill>
              </a:rPr>
              <a:t>09</a:t>
            </a:r>
          </a:p>
        </p:txBody>
      </p:sp>
      <p:sp>
        <p:nvSpPr>
          <p:cNvPr id="7" name="">
            <a:extLst xmlns:a="http://schemas.openxmlformats.org/drawingml/2006/main">
              <a:ext uri="{FF2B5EF4-FFF2-40B4-BE49-F238E27FC236}">
                <a16:creationId xmlns:a16="http://schemas.microsoft.com/office/drawing/2014/main" id="{317C362D-64FD-469D-AF39-E7A6FC02F73E}"/>
              </a:ext>
            </a:extLst>
          </p:cNvPr>
          <p:cNvSpPr>
            <a:spLocks xmlns:a="http://schemas.openxmlformats.org/drawingml/2006/main" noGrp="1"/>
          </p:cNvSpPr>
          <p:nvPr/>
        </p:nvSpPr>
        <p:spPr>
          <a:xfrm xmlns:a="http://schemas.openxmlformats.org/drawingml/2006/main">
            <a:off x="8420100" y="495300"/>
            <a:ext cx="2857500" cy="266700"/>
          </a:xfrm>
          <a:prstGeom xmlns:a="http://schemas.openxmlformats.org/drawingml/2006/main" prst="rect">
            <a:avLst/>
          </a:prstGeom>
          <a:solidFill xmlns:a="http://schemas.openxmlformats.org/drawingml/2006/main">
            <a:srgbClr val="FF6B35"/>
          </a:solidFill>
          <a:ln xmlns:a="http://schemas.openxmlformats.org/drawingml/2006/main" w="0">
            <a:solidFill>
              <a:srgbClr val="FF6B35"/>
            </a:solidFill>
            <a:prstDash val="solid"/>
          </a:ln>
        </p:spPr>
      </p:sp>
      <p:sp>
        <p:nvSpPr>
          <p:cNvPr id="8" name="">
            <a:extLst xmlns:a="http://schemas.openxmlformats.org/drawingml/2006/main">
              <a:ext uri="{FF2B5EF4-FFF2-40B4-BE49-F238E27FC236}">
                <a16:creationId xmlns:a16="http://schemas.microsoft.com/office/drawing/2014/main" id="{54F6F272-3E9B-4A36-9A82-279E34639192}"/>
              </a:ext>
            </a:extLst>
          </p:cNvPr>
          <p:cNvSpPr>
            <a:spLocks xmlns:a="http://schemas.openxmlformats.org/drawingml/2006/main" noGrp="1"/>
          </p:cNvSpPr>
          <p:nvPr/>
        </p:nvSpPr>
        <p:spPr>
          <a:xfrm xmlns:a="http://schemas.openxmlformats.org/drawingml/2006/main">
            <a:off x="8515350" y="542925"/>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defRPr>
            </a:pPr>
            <a:r>
              <a:rPr sz="975" b="1">
                <a:solidFill>
                  <a:srgbClr val="FFFFFF"/>
                </a:solidFill>
              </a:rPr>
              <a:t>Conclusion</a:t>
            </a:r>
          </a:p>
        </p:txBody>
      </p:sp>
      <p:sp>
        <p:nvSpPr>
          <p:cNvPr id="9" name="">
            <a:extLst xmlns:a="http://schemas.openxmlformats.org/drawingml/2006/main">
              <a:ext uri="{FF2B5EF4-FFF2-40B4-BE49-F238E27FC236}">
                <a16:creationId xmlns:a16="http://schemas.microsoft.com/office/drawing/2014/main" id="{595D04E1-563E-4110-84ED-D99087447301}"/>
              </a:ext>
            </a:extLst>
          </p:cNvPr>
          <p:cNvSpPr>
            <a:spLocks xmlns:a="http://schemas.openxmlformats.org/drawingml/2006/main" noGrp="1"/>
          </p:cNvSpPr>
          <p:nvPr/>
        </p:nvSpPr>
        <p:spPr>
          <a:xfrm xmlns:a="http://schemas.openxmlformats.org/drawingml/2006/main">
            <a:off x="7334250" y="2876550"/>
            <a:ext cx="3905250" cy="240030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10" name="">
            <a:extLst xmlns:a="http://schemas.openxmlformats.org/drawingml/2006/main">
              <a:ext uri="{FF2B5EF4-FFF2-40B4-BE49-F238E27FC236}">
                <a16:creationId xmlns:a16="http://schemas.microsoft.com/office/drawing/2014/main" id="{7F34DD3C-1532-4FBA-910B-F1CFF42639CE}"/>
              </a:ext>
            </a:extLst>
          </p:cNvPr>
          <p:cNvSpPr>
            <a:spLocks xmlns:a="http://schemas.openxmlformats.org/drawingml/2006/main" noGrp="1"/>
          </p:cNvSpPr>
          <p:nvPr/>
        </p:nvSpPr>
        <p:spPr>
          <a:xfrm xmlns:a="http://schemas.openxmlformats.org/drawingml/2006/main">
            <a:off x="514350" y="3009900"/>
            <a:ext cx="6000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111111"/>
                </a:solidFill>
              </a:defRPr>
            </a:pPr>
            <a:r>
              <a:rPr sz="2250" b="1">
                <a:solidFill>
                  <a:srgbClr val="111111"/>
                </a:solidFill>
              </a:rPr>
              <a:t>Le succes se mesure a la performance du systeme, pas a la disparition d'un framework.</a:t>
            </a:r>
          </a:p>
        </p:txBody>
      </p:sp>
      <p:sp>
        <p:nvSpPr>
          <p:cNvPr id="11" name="">
            <a:extLst xmlns:a="http://schemas.openxmlformats.org/drawingml/2006/main">
              <a:ext uri="{FF2B5EF4-FFF2-40B4-BE49-F238E27FC236}">
                <a16:creationId xmlns:a16="http://schemas.microsoft.com/office/drawing/2014/main" id="{08B6659D-E332-41EF-A8B4-703E14E02BDB}"/>
              </a:ext>
            </a:extLst>
          </p:cNvPr>
          <p:cNvSpPr>
            <a:spLocks xmlns:a="http://schemas.openxmlformats.org/drawingml/2006/main" noGrp="1"/>
          </p:cNvSpPr>
          <p:nvPr/>
        </p:nvSpPr>
        <p:spPr>
          <a:xfrm xmlns:a="http://schemas.openxmlformats.org/drawingml/2006/main">
            <a:off x="514350" y="40100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1</a:t>
            </a:r>
          </a:p>
        </p:txBody>
      </p:sp>
      <p:sp>
        <p:nvSpPr>
          <p:cNvPr id="12" name="">
            <a:extLst xmlns:a="http://schemas.openxmlformats.org/drawingml/2006/main">
              <a:ext uri="{FF2B5EF4-FFF2-40B4-BE49-F238E27FC236}">
                <a16:creationId xmlns:a16="http://schemas.microsoft.com/office/drawing/2014/main" id="{B0C6926D-833D-4113-9732-49391F8CD307}"/>
              </a:ext>
            </a:extLst>
          </p:cNvPr>
          <p:cNvSpPr>
            <a:spLocks xmlns:a="http://schemas.openxmlformats.org/drawingml/2006/main" noGrp="1"/>
          </p:cNvSpPr>
          <p:nvPr/>
        </p:nvSpPr>
        <p:spPr>
          <a:xfrm xmlns:a="http://schemas.openxmlformats.org/drawingml/2006/main">
            <a:off x="914400" y="400050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Les frameworks peuvent aider lorsqu'ils rendent visibles les mecanismes indispensables.</a:t>
            </a:r>
          </a:p>
        </p:txBody>
      </p:sp>
      <p:sp>
        <p:nvSpPr>
          <p:cNvPr id="13" name="">
            <a:extLst xmlns:a="http://schemas.openxmlformats.org/drawingml/2006/main">
              <a:ext uri="{FF2B5EF4-FFF2-40B4-BE49-F238E27FC236}">
                <a16:creationId xmlns:a16="http://schemas.microsoft.com/office/drawing/2014/main" id="{D5127411-36C2-4C10-BB1A-830AB58FD7B4}"/>
              </a:ext>
            </a:extLst>
          </p:cNvPr>
          <p:cNvSpPr>
            <a:spLocks xmlns:a="http://schemas.openxmlformats.org/drawingml/2006/main" noGrp="1"/>
          </p:cNvSpPr>
          <p:nvPr/>
        </p:nvSpPr>
        <p:spPr>
          <a:xfrm xmlns:a="http://schemas.openxmlformats.org/drawingml/2006/main">
            <a:off x="514350" y="452437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2</a:t>
            </a:r>
          </a:p>
        </p:txBody>
      </p:sp>
      <p:sp>
        <p:nvSpPr>
          <p:cNvPr id="14" name="">
            <a:extLst xmlns:a="http://schemas.openxmlformats.org/drawingml/2006/main">
              <a:ext uri="{FF2B5EF4-FFF2-40B4-BE49-F238E27FC236}">
                <a16:creationId xmlns:a16="http://schemas.microsoft.com/office/drawing/2014/main" id="{86B1CAFD-C1CB-4465-A732-4CA3617A8AB7}"/>
              </a:ext>
            </a:extLst>
          </p:cNvPr>
          <p:cNvSpPr>
            <a:spLocks xmlns:a="http://schemas.openxmlformats.org/drawingml/2006/main" noGrp="1"/>
          </p:cNvSpPr>
          <p:nvPr/>
        </p:nvSpPr>
        <p:spPr>
          <a:xfrm xmlns:a="http://schemas.openxmlformats.org/drawingml/2006/main">
            <a:off x="914400" y="451485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La simplification durable est socio-technique : architecture, qualite et plateformes comptent autant que les rituels.</a:t>
            </a:r>
          </a:p>
        </p:txBody>
      </p:sp>
      <p:sp>
        <p:nvSpPr>
          <p:cNvPr id="15" name="">
            <a:extLst xmlns:a="http://schemas.openxmlformats.org/drawingml/2006/main">
              <a:ext uri="{FF2B5EF4-FFF2-40B4-BE49-F238E27FC236}">
                <a16:creationId xmlns:a16="http://schemas.microsoft.com/office/drawing/2014/main" id="{28A5D9F7-446D-40A8-A32E-EC239D66CC46}"/>
              </a:ext>
            </a:extLst>
          </p:cNvPr>
          <p:cNvSpPr>
            <a:spLocks xmlns:a="http://schemas.openxmlformats.org/drawingml/2006/main" noGrp="1"/>
          </p:cNvSpPr>
          <p:nvPr/>
        </p:nvSpPr>
        <p:spPr>
          <a:xfrm xmlns:a="http://schemas.openxmlformats.org/drawingml/2006/main">
            <a:off x="514350" y="50387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6B35"/>
                </a:solidFill>
              </a:defRPr>
            </a:pPr>
            <a:r>
              <a:rPr sz="1275" b="1">
                <a:solidFill>
                  <a:srgbClr val="FF6B35"/>
                </a:solidFill>
              </a:rPr>
              <a:t>3</a:t>
            </a:r>
          </a:p>
        </p:txBody>
      </p:sp>
      <p:sp>
        <p:nvSpPr>
          <p:cNvPr id="16" name="">
            <a:extLst xmlns:a="http://schemas.openxmlformats.org/drawingml/2006/main">
              <a:ext uri="{FF2B5EF4-FFF2-40B4-BE49-F238E27FC236}">
                <a16:creationId xmlns:a16="http://schemas.microsoft.com/office/drawing/2014/main" id="{5D834F6E-CB85-46A6-A528-76443BA60B1A}"/>
              </a:ext>
            </a:extLst>
          </p:cNvPr>
          <p:cNvSpPr>
            <a:spLocks xmlns:a="http://schemas.openxmlformats.org/drawingml/2006/main" noGrp="1"/>
          </p:cNvSpPr>
          <p:nvPr/>
        </p:nvSpPr>
        <p:spPr>
          <a:xfrm xmlns:a="http://schemas.openxmlformats.org/drawingml/2006/main">
            <a:off x="914400" y="5029200"/>
            <a:ext cx="579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defRPr>
            </a:pPr>
            <a:r>
              <a:rPr sz="1500" b="0">
                <a:solidFill>
                  <a:srgbClr val="111111"/>
                </a:solidFill>
              </a:rPr>
              <a:t>Le modele doit rester revisable, car une structure utile aujourd'hui peut devenir une charge demain.</a:t>
            </a:r>
          </a:p>
        </p:txBody>
      </p:sp>
      <p:sp>
        <p:nvSpPr>
          <p:cNvPr id="17" name="">
            <a:extLst xmlns:a="http://schemas.openxmlformats.org/drawingml/2006/main">
              <a:ext uri="{FF2B5EF4-FFF2-40B4-BE49-F238E27FC236}">
                <a16:creationId xmlns:a16="http://schemas.microsoft.com/office/drawing/2014/main" id="{ED1AD341-9094-46FF-9A96-23E315C76B0C}"/>
              </a:ext>
            </a:extLst>
          </p:cNvPr>
          <p:cNvSpPr>
            <a:spLocks xmlns:a="http://schemas.openxmlformats.org/drawingml/2006/main" noGrp="1"/>
          </p:cNvSpPr>
          <p:nvPr/>
        </p:nvSpPr>
        <p:spPr>
          <a:xfrm xmlns:a="http://schemas.openxmlformats.org/drawingml/2006/main">
            <a:off x="7620000" y="31051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defRPr>
            </a:pPr>
            <a:r>
              <a:rPr sz="1650" b="1">
                <a:solidFill>
                  <a:srgbClr val="111111"/>
                </a:solidFill>
              </a:rPr>
              <a:t>Message final</a:t>
            </a:r>
          </a:p>
        </p:txBody>
      </p:sp>
      <p:sp>
        <p:nvSpPr>
          <p:cNvPr id="18" name="">
            <a:extLst xmlns:a="http://schemas.openxmlformats.org/drawingml/2006/main">
              <a:ext uri="{FF2B5EF4-FFF2-40B4-BE49-F238E27FC236}">
                <a16:creationId xmlns:a16="http://schemas.microsoft.com/office/drawing/2014/main" id="{354B09B5-B8CD-4152-9E34-AC75D9047E46}"/>
              </a:ext>
            </a:extLst>
          </p:cNvPr>
          <p:cNvSpPr>
            <a:spLocks xmlns:a="http://schemas.openxmlformats.org/drawingml/2006/main" noGrp="1"/>
          </p:cNvSpPr>
          <p:nvPr/>
        </p:nvSpPr>
        <p:spPr>
          <a:xfrm xmlns:a="http://schemas.openxmlformats.org/drawingml/2006/main">
            <a:off x="7620000" y="3638550"/>
            <a:ext cx="342900" cy="38100"/>
          </a:xfrm>
          <a:prstGeom xmlns:a="http://schemas.openxmlformats.org/drawingml/2006/main" prst="rect">
            <a:avLst/>
          </a:prstGeom>
          <a:solidFill xmlns:a="http://schemas.openxmlformats.org/drawingml/2006/main">
            <a:srgbClr val="FF6B35"/>
          </a:solidFill>
          <a:ln xmlns:a="http://schemas.openxmlformats.org/drawingml/2006/main" w="0">
            <a:solidFill>
              <a:srgbClr val="FF6B35"/>
            </a:solidFill>
            <a:prstDash val="solid"/>
          </a:ln>
        </p:spPr>
      </p:sp>
      <p:sp>
        <p:nvSpPr>
          <p:cNvPr id="19" name="">
            <a:extLst xmlns:a="http://schemas.openxmlformats.org/drawingml/2006/main">
              <a:ext uri="{FF2B5EF4-FFF2-40B4-BE49-F238E27FC236}">
                <a16:creationId xmlns:a16="http://schemas.microsoft.com/office/drawing/2014/main" id="{2EAEC86C-F35A-470E-885C-C1C37F1A8696}"/>
              </a:ext>
            </a:extLst>
          </p:cNvPr>
          <p:cNvSpPr>
            <a:spLocks xmlns:a="http://schemas.openxmlformats.org/drawingml/2006/main" noGrp="1"/>
          </p:cNvSpPr>
          <p:nvPr/>
        </p:nvSpPr>
        <p:spPr>
          <a:xfrm xmlns:a="http://schemas.openxmlformats.org/drawingml/2006/main">
            <a:off x="8077200" y="35433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Aligner sans micro-manager</a:t>
            </a:r>
          </a:p>
        </p:txBody>
      </p:sp>
      <p:sp>
        <p:nvSpPr>
          <p:cNvPr id="20" name="">
            <a:extLst xmlns:a="http://schemas.openxmlformats.org/drawingml/2006/main">
              <a:ext uri="{FF2B5EF4-FFF2-40B4-BE49-F238E27FC236}">
                <a16:creationId xmlns:a16="http://schemas.microsoft.com/office/drawing/2014/main" id="{61A276B2-1694-41CA-BB22-09FD585430EF}"/>
              </a:ext>
            </a:extLst>
          </p:cNvPr>
          <p:cNvSpPr>
            <a:spLocks xmlns:a="http://schemas.openxmlformats.org/drawingml/2006/main" noGrp="1"/>
          </p:cNvSpPr>
          <p:nvPr/>
        </p:nvSpPr>
        <p:spPr>
          <a:xfrm xmlns:a="http://schemas.openxmlformats.org/drawingml/2006/main">
            <a:off x="7620000" y="40576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1" name="">
            <a:extLst xmlns:a="http://schemas.openxmlformats.org/drawingml/2006/main">
              <a:ext uri="{FF2B5EF4-FFF2-40B4-BE49-F238E27FC236}">
                <a16:creationId xmlns:a16="http://schemas.microsoft.com/office/drawing/2014/main" id="{24F636C8-51D6-4B01-B6B0-94A164CD8609}"/>
              </a:ext>
            </a:extLst>
          </p:cNvPr>
          <p:cNvSpPr>
            <a:spLocks xmlns:a="http://schemas.openxmlformats.org/drawingml/2006/main" noGrp="1"/>
          </p:cNvSpPr>
          <p:nvPr/>
        </p:nvSpPr>
        <p:spPr>
          <a:xfrm xmlns:a="http://schemas.openxmlformats.org/drawingml/2006/main">
            <a:off x="8077200" y="39624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Autonomiser sans abandonner</a:t>
            </a:r>
          </a:p>
        </p:txBody>
      </p:sp>
      <p:sp>
        <p:nvSpPr>
          <p:cNvPr id="22" name="">
            <a:extLst xmlns:a="http://schemas.openxmlformats.org/drawingml/2006/main">
              <a:ext uri="{FF2B5EF4-FFF2-40B4-BE49-F238E27FC236}">
                <a16:creationId xmlns:a16="http://schemas.microsoft.com/office/drawing/2014/main" id="{9566B35D-7443-4B51-AAF1-49E394A0423B}"/>
              </a:ext>
            </a:extLst>
          </p:cNvPr>
          <p:cNvSpPr>
            <a:spLocks xmlns:a="http://schemas.openxmlformats.org/drawingml/2006/main" noGrp="1"/>
          </p:cNvSpPr>
          <p:nvPr/>
        </p:nvSpPr>
        <p:spPr>
          <a:xfrm xmlns:a="http://schemas.openxmlformats.org/drawingml/2006/main">
            <a:off x="7620000" y="44767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3" name="">
            <a:extLst xmlns:a="http://schemas.openxmlformats.org/drawingml/2006/main">
              <a:ext uri="{FF2B5EF4-FFF2-40B4-BE49-F238E27FC236}">
                <a16:creationId xmlns:a16="http://schemas.microsoft.com/office/drawing/2014/main" id="{A78AF3E2-57A9-4DC4-9D00-CC91C2AACB3E}"/>
              </a:ext>
            </a:extLst>
          </p:cNvPr>
          <p:cNvSpPr>
            <a:spLocks xmlns:a="http://schemas.openxmlformats.org/drawingml/2006/main" noGrp="1"/>
          </p:cNvSpPr>
          <p:nvPr/>
        </p:nvSpPr>
        <p:spPr>
          <a:xfrm xmlns:a="http://schemas.openxmlformats.org/drawingml/2006/main">
            <a:off x="8077200" y="43815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Coordonner sans bureaucratiser</a:t>
            </a:r>
          </a:p>
        </p:txBody>
      </p:sp>
      <p:sp>
        <p:nvSpPr>
          <p:cNvPr id="24" name="">
            <a:extLst xmlns:a="http://schemas.openxmlformats.org/drawingml/2006/main">
              <a:ext uri="{FF2B5EF4-FFF2-40B4-BE49-F238E27FC236}">
                <a16:creationId xmlns:a16="http://schemas.microsoft.com/office/drawing/2014/main" id="{A1F5C6D8-FAA5-46C7-81B8-F64E60A353EF}"/>
              </a:ext>
            </a:extLst>
          </p:cNvPr>
          <p:cNvSpPr>
            <a:spLocks xmlns:a="http://schemas.openxmlformats.org/drawingml/2006/main" noGrp="1"/>
          </p:cNvSpPr>
          <p:nvPr/>
        </p:nvSpPr>
        <p:spPr>
          <a:xfrm xmlns:a="http://schemas.openxmlformats.org/drawingml/2006/main">
            <a:off x="7620000" y="4895850"/>
            <a:ext cx="342900" cy="38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5" name="">
            <a:extLst xmlns:a="http://schemas.openxmlformats.org/drawingml/2006/main">
              <a:ext uri="{FF2B5EF4-FFF2-40B4-BE49-F238E27FC236}">
                <a16:creationId xmlns:a16="http://schemas.microsoft.com/office/drawing/2014/main" id="{EB5102FB-710C-4474-A97B-12174A9CFCAC}"/>
              </a:ext>
            </a:extLst>
          </p:cNvPr>
          <p:cNvSpPr>
            <a:spLocks xmlns:a="http://schemas.openxmlformats.org/drawingml/2006/main" noGrp="1"/>
          </p:cNvSpPr>
          <p:nvPr/>
        </p:nvSpPr>
        <p:spPr>
          <a:xfrm xmlns:a="http://schemas.openxmlformats.org/drawingml/2006/main">
            <a:off x="8077200" y="4800600"/>
            <a:ext cx="268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defRPr>
            </a:pPr>
            <a:r>
              <a:rPr sz="1350" b="0">
                <a:solidFill>
                  <a:srgbClr val="111111"/>
                </a:solidFill>
              </a:rPr>
              <a:t>Mesurer sans punir</a:t>
            </a:r>
          </a:p>
        </p:txBody>
      </p:sp>
    </p:spTree>
    <p:extLst>
      <p:ext uri="{BB962C8B-B14F-4D97-AF65-F5344CB8AC3E}">
        <p14:creationId xmlns:p14="http://schemas.microsoft.com/office/powerpoint/2010/main" val="11823775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2026-07-01T15:05:33.3340000Z</dcterms:created>
  <dcterms:modified xsi:type="dcterms:W3CDTF">2026-07-01T15:05:33.3340000Z</dcterms:modified>
</coreProperties>
</file>