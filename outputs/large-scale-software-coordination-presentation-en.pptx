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c4137e40a041c0" /><Relationship Type="http://schemas.openxmlformats.org/officeDocument/2006/relationships/extended-properties" Target="/docProps/app.xml" Id="R4fef2ff4564d4dfc" /><Relationship Type="http://schemas.openxmlformats.org/officeDocument/2006/relationships/officeDocument" Target="/ppt/presentation.xml" Id="R489882a579804d0f" /></Relationships>
</file>

<file path=ppt/presentation.xml><?xml version="1.0" encoding="utf-8"?>
<p:presentation xmlns:p="http://schemas.openxmlformats.org/presentationml/2006/main">
  <p:sldMasterIdLst>
    <p:sldMasterId xmlns:r="http://schemas.openxmlformats.org/officeDocument/2006/relationships" id="2147483648" r:id="R52ab0edfff5c44dd"/>
  </p:sldMasterIdLst>
  <p:notesMasterIdLst>
    <p:notesMasterId xmlns:r="http://schemas.openxmlformats.org/officeDocument/2006/relationships" r:id="R0f3de22101614092"/>
  </p:notesMasterIdLst>
  <p:sldIdLst>
    <p:sldId xmlns:r="http://schemas.openxmlformats.org/officeDocument/2006/relationships" id="256" r:id="Re08fc1b703804518"/>
    <p:sldId xmlns:r="http://schemas.openxmlformats.org/officeDocument/2006/relationships" id="257" r:id="Ra901939c321c48ed"/>
    <p:sldId xmlns:r="http://schemas.openxmlformats.org/officeDocument/2006/relationships" id="258" r:id="R93cc1689a2f24341"/>
    <p:sldId xmlns:r="http://schemas.openxmlformats.org/officeDocument/2006/relationships" id="259" r:id="Re81f8bcaeb794bc9"/>
    <p:sldId xmlns:r="http://schemas.openxmlformats.org/officeDocument/2006/relationships" id="260" r:id="R997cef4b84564135"/>
    <p:sldId xmlns:r="http://schemas.openxmlformats.org/officeDocument/2006/relationships" id="261" r:id="Rb66c40b0972d4429"/>
    <p:sldId xmlns:r="http://schemas.openxmlformats.org/officeDocument/2006/relationships" id="262" r:id="R85ff91af1bcc4afb"/>
    <p:sldId xmlns:r="http://schemas.openxmlformats.org/officeDocument/2006/relationships" id="263" r:id="R0454ee01183e49cc"/>
    <p:sldId xmlns:r="http://schemas.openxmlformats.org/officeDocument/2006/relationships" id="264" r:id="Rd834b9ee0ee1469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c192945dd54e2b" /><Relationship Type="http://schemas.openxmlformats.org/officeDocument/2006/relationships/slideMaster" Target="/ppt/slideMasters/slideMaster1.xml" Id="R52ab0edfff5c44dd" /><Relationship Type="http://schemas.openxmlformats.org/officeDocument/2006/relationships/notesMaster" Target="/ppt/notesMasters/notesMaster1.xml" Id="R0f3de22101614092" /><Relationship Type="http://schemas.openxmlformats.org/officeDocument/2006/relationships/presProps" Target="/ppt/presProps.xml" Id="Rff9d7a2fe7f64a87" /><Relationship Type="http://schemas.openxmlformats.org/officeDocument/2006/relationships/tableStyles" Target="/ppt/tableStyles.xml" Id="R896acb204fdb4b0c" /><Relationship Type="http://schemas.openxmlformats.org/officeDocument/2006/relationships/slide" Target="/ppt/slides/slide1.xml" Id="Re08fc1b703804518" /><Relationship Type="http://schemas.openxmlformats.org/officeDocument/2006/relationships/slide" Target="/ppt/slides/slide2.xml" Id="Ra901939c321c48ed" /><Relationship Type="http://schemas.openxmlformats.org/officeDocument/2006/relationships/slide" Target="/ppt/slides/slide3.xml" Id="R93cc1689a2f24341" /><Relationship Type="http://schemas.openxmlformats.org/officeDocument/2006/relationships/slide" Target="/ppt/slides/slide4.xml" Id="Re81f8bcaeb794bc9" /><Relationship Type="http://schemas.openxmlformats.org/officeDocument/2006/relationships/slide" Target="/ppt/slides/slide5.xml" Id="R997cef4b84564135" /><Relationship Type="http://schemas.openxmlformats.org/officeDocument/2006/relationships/slide" Target="/ppt/slides/slide6.xml" Id="Rb66c40b0972d4429" /><Relationship Type="http://schemas.openxmlformats.org/officeDocument/2006/relationships/slide" Target="/ppt/slides/slide7.xml" Id="R85ff91af1bcc4afb" /><Relationship Type="http://schemas.openxmlformats.org/officeDocument/2006/relationships/slide" Target="/ppt/slides/slide8.xml" Id="R0454ee01183e49cc" /><Relationship Type="http://schemas.openxmlformats.org/officeDocument/2006/relationships/slide" Target="/ppt/slides/slide9.xml" Id="Rd834b9ee0ee146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a3b12508ca47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af672f22e74cd8" /><Relationship Type="http://schemas.openxmlformats.org/officeDocument/2006/relationships/notesMaster" Target="/ppt/notesMasters/notesMaster1.xml" Id="R7d4b43193dc94e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3b41eb019f4c69" /><Relationship Type="http://schemas.openxmlformats.org/officeDocument/2006/relationships/notesMaster" Target="/ppt/notesMasters/notesMaster1.xml" Id="Reb397f8a698a4b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223c75006c44b6" /><Relationship Type="http://schemas.openxmlformats.org/officeDocument/2006/relationships/notesMaster" Target="/ppt/notesMasters/notesMaster1.xml" Id="R059e4ee2c6914b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c4c745e9644d4a" /><Relationship Type="http://schemas.openxmlformats.org/officeDocument/2006/relationships/notesMaster" Target="/ppt/notesMasters/notesMaster1.xml" Id="Rb7d12d2738a840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7456e3ddd54210" /><Relationship Type="http://schemas.openxmlformats.org/officeDocument/2006/relationships/notesMaster" Target="/ppt/notesMasters/notesMaster1.xml" Id="Rbcc4afcf9c804e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0cb32efa6c4be6" /><Relationship Type="http://schemas.openxmlformats.org/officeDocument/2006/relationships/notesMaster" Target="/ppt/notesMasters/notesMaster1.xml" Id="R62734a4cec6e44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91e667a1a64261" /><Relationship Type="http://schemas.openxmlformats.org/officeDocument/2006/relationships/notesMaster" Target="/ppt/notesMasters/notesMaster1.xml" Id="Raa3f3097ffb443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6a377f478a44e3" /><Relationship Type="http://schemas.openxmlformats.org/officeDocument/2006/relationships/notesMaster" Target="/ppt/notesMasters/notesMaster1.xml" Id="R39e0c7c7ad7040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dc57a1bbd484d9d" /><Relationship Type="http://schemas.openxmlformats.org/officeDocument/2006/relationships/notesMaster" Target="/ppt/notesMasters/notesMaster1.xml" Id="Rdd48d460e40548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2 minutes. Open with the core tension: we want to simplify large-scale software organizations, but we cannot remove the problems that their structures were trying to solve. Explain that the presentation follows the paper in eight chapters. The throughline is simple: start from the constraints of scale, identify principles, decompose frameworks, then reconstruct a minimal operating model. Make clear that the goal is not to choose between SAFe and anti-SAFe, but to distinguish useful mechanisms from forms that have become costly.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5 minutes. Start by making the shift in scale tangible: eight people can coordinate through shared context; several hundred people cannot. Emphasize that the problem is not primarily methodological. It is systemic: more actors, more possible relationships, and more local decisions with global effects. Present the five families of complexity as the reading grid for the whole paper. Give two concrete examples: coupled architecture creates meetings; an overloaded portfolio creates dependencies and waiting time. Transition: if the problems are systemic, we need principles before we choose frameworks.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5 minutes. Explain that chapter 2 builds the analytical vocabulary. A principle is not a ceremony or a role. For example, limiting work in progress is a principle; a portfolio review or a WIP limit is a mechanism; the name given by a framework is a specific implementation. Walk through the most important principles: explicit alignment, autonomy with boundaries, dependency reduction, flow visibility, fast feedback, built-in quality and decision-making at the right level. Stress the tensions: alignment versus autonomy, standardization versus adaptation, feedback versus governance. Transition: frameworks can now be read as assemblies of these principles.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5 minutes. Reintroduce frameworks after the principles. Explain that each approach highlights a type of problem: multi-team synchronization for SAFe or Nexus, organizational simplification for LeSS, socio-technical design for Team Topologies, flow for Kanban and Flight Levels. The chapter does not rank frameworks; it decomposes them. Emphasize the adoption anti-patterns: adoption by vocabulary, reporting disguised as transparency, autonomy without decision rights, simplification without a replacement mechanism. Transition: because SAFe is often the heaviest and most debated case, the next chapter decomposes it in more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5 minutes. Present SAFe as an integrated library of mechanisms. Do not caricature it: it addresses real problems in large organizations, especially alignment, dependencies, portfolio and integration. But it becomes costly when ceremonies replace decisions, when vocabulary becomes a marker of compliance, or when planning manages dependencies without reducing them. Use the keep, adapt, remove grid. The key message: we are not SAFe or anti-SAFe; we are looking for mechanisms that truly reduce coordination cost. Transition: current market signals confirm this decomposition into mechanisms.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5 minutes. Present this chapter as an external reality check. The market does not show a simple disappearance of SAFe or the arrival of a single successor. It shows fragmentation: organizations keep some mechanisms, rename them, and combine them with product, DevOps, platforms and Team Topologies. Bring out the main lesson: performance is measured less by ceremonial adoption than by flow, stability, value and developer experience. Be careful with AI: it does not cancel coordination; it moves bottlenecks toward verification, security, data quality and context. Transition: if the market decomposes, chapter 6 reconstructs.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5 minutes. Explain that the reconstruction reverses the usual logic. Instead of starting by organizing dependencies, it tries to reduce them through boundaries, platforms, standards, automation, architecture and ownership. Only then should the remaining necessary coordination be organized. Present the minimum mechanism matrix: lightweight strategic alignment, portfolio with WIP, proportionate planning, flow visibility, built-in quality, lightweight technical governance, platforms, architecture-organization loop, model improvement and AI governance. Stress that this is not a framework checklist: each mechanism exists because there is a risk if it is absent. Transition: chapter 7 turns this reconstruction into a target organizational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5 minutes. Describe the target model as a system of decisions and feedback. Level 1: strategic intent, which clarifies outcomes and constraints. Level 2: limited portfolio, which turns strategy into choices and trade-offs. Level 3: product domains or capabilities, which organize responsibility. Level 4: stable teams, which deliver within explicit boundaries. Then cover the transverse layers: internal platforms, lightweight technical governance, built-in quality, flow metrics and model improvement. Emphasize minimal cadences: a meeting without an explicit output should change or disappear. Transition: the conclusion brings everything back to the discipline of simplification.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6 minutes. Recap the full thread: scale creates systemic problems; principles make them understandable; frameworks assemble mechanisms; SAFe must be decomposed; the market recomposes; the minimal model keeps indispensable functions; the target organization is an architecture of decisions and feedback. Emphasize success criteria: clearer priorities, reduced portfolio WIP, dependencies made visible or reduced, decisions at the right level, more frequent integration, earlier quality detection and remaining ceremonies that actually produce decisions. End with the central phrase: simplification is not the absence of structure; it is the discipline of removing structures that no longer solve anything and strengthening those that still let the system deliver, learn and evolve.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c1d21799d44e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3ebbf892374d0f" /><Relationship Type="http://schemas.openxmlformats.org/officeDocument/2006/relationships/slideLayout" Target="/ppt/slideLayouts/slideLayout1.xml" Id="R6889fcd79fe04b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89fcd79fe04b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8aafa68f97d414b" /><Relationship Type="http://schemas.openxmlformats.org/officeDocument/2006/relationships/notesSlide" Target="/ppt/notesSlides/notesSlide1.xml" Id="Re0fb4075ee0045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b9380631ba746d3" /><Relationship Type="http://schemas.openxmlformats.org/officeDocument/2006/relationships/notesSlide" Target="/ppt/notesSlides/notesSlide2.xml" Id="Rc08853d8025441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6f7376432464802" /><Relationship Type="http://schemas.openxmlformats.org/officeDocument/2006/relationships/notesSlide" Target="/ppt/notesSlides/notesSlide3.xml" Id="Rc728681fba2e40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d69469d8bd1477d" /><Relationship Type="http://schemas.openxmlformats.org/officeDocument/2006/relationships/notesSlide" Target="/ppt/notesSlides/notesSlide4.xml" Id="R8dc6513f4d4341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2763011b7604775" /><Relationship Type="http://schemas.openxmlformats.org/officeDocument/2006/relationships/notesSlide" Target="/ppt/notesSlides/notesSlide5.xml" Id="R9880e29b606841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e021c6c9fe248af" /><Relationship Type="http://schemas.openxmlformats.org/officeDocument/2006/relationships/notesSlide" Target="/ppt/notesSlides/notesSlide6.xml" Id="Rdda3415a2c8542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06ece4fe4e4d4b" /><Relationship Type="http://schemas.openxmlformats.org/officeDocument/2006/relationships/notesSlide" Target="/ppt/notesSlides/notesSlide7.xml" Id="R0922294997b849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9e1604120264204" /><Relationship Type="http://schemas.openxmlformats.org/officeDocument/2006/relationships/notesSlide" Target="/ppt/notesSlides/notesSlide8.xml" Id="R373d6d82780d47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90ee3e6e4d84ead" /><Relationship Type="http://schemas.openxmlformats.org/officeDocument/2006/relationships/notesSlide" Target="/ppt/notesSlides/notesSlide9.xml" Id="R5c17fa5393f545a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8B68BD5-94FB-4101-9118-62AD3D34B824}"/>
              </a:ext>
            </a:extLst>
          </p:cNvPr>
          <p:cNvSpPr>
            <a:spLocks xmlns:a="http://schemas.openxmlformats.org/drawingml/2006/main" noGrp="1"/>
          </p:cNvSpPr>
          <p:nvPr/>
        </p:nvSpPr>
        <p:spPr>
          <a:xfrm xmlns:a="http://schemas.openxmlformats.org/drawingml/2006/main">
            <a:off x="51435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65656"/>
                </a:solidFill>
              </a:defRPr>
            </a:pPr>
            <a:r>
              <a:rPr sz="1050" b="1">
                <a:solidFill>
                  <a:srgbClr val="565656"/>
                </a:solidFill>
              </a:rPr>
              <a:t>45-MINUTE PRESENTATION</a:t>
            </a:r>
          </a:p>
        </p:txBody>
      </p:sp>
      <p:sp>
        <p:nvSpPr>
          <p:cNvPr id="2" name="">
            <a:extLst xmlns:a="http://schemas.openxmlformats.org/drawingml/2006/main">
              <a:ext uri="{FF2B5EF4-FFF2-40B4-BE49-F238E27FC236}">
                <a16:creationId xmlns:a16="http://schemas.microsoft.com/office/drawing/2014/main" id="{5663C4B6-FE34-4254-8B68-D10B6F284793}"/>
              </a:ext>
            </a:extLst>
          </p:cNvPr>
          <p:cNvSpPr>
            <a:spLocks xmlns:a="http://schemas.openxmlformats.org/drawingml/2006/main" noGrp="1"/>
          </p:cNvSpPr>
          <p:nvPr/>
        </p:nvSpPr>
        <p:spPr>
          <a:xfrm xmlns:a="http://schemas.openxmlformats.org/drawingml/2006/main">
            <a:off x="514350" y="1238250"/>
            <a:ext cx="8096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200" b="1">
                <a:solidFill>
                  <a:srgbClr val="111111"/>
                </a:solidFill>
              </a:defRPr>
            </a:pPr>
            <a:r>
              <a:rPr sz="4200" b="1">
                <a:solidFill>
                  <a:srgbClr val="111111"/>
                </a:solidFill>
              </a:rPr>
              <a:t>Rethinking large-scale software coordination</a:t>
            </a:r>
          </a:p>
        </p:txBody>
      </p:sp>
      <p:sp>
        <p:nvSpPr>
          <p:cNvPr id="3" name="">
            <a:extLst xmlns:a="http://schemas.openxmlformats.org/drawingml/2006/main">
              <a:ext uri="{FF2B5EF4-FFF2-40B4-BE49-F238E27FC236}">
                <a16:creationId xmlns:a16="http://schemas.microsoft.com/office/drawing/2014/main" id="{B182FD93-75A0-4015-95EF-FB83B24B3644}"/>
              </a:ext>
            </a:extLst>
          </p:cNvPr>
          <p:cNvSpPr>
            <a:spLocks xmlns:a="http://schemas.openxmlformats.org/drawingml/2006/main" noGrp="1"/>
          </p:cNvSpPr>
          <p:nvPr/>
        </p:nvSpPr>
        <p:spPr>
          <a:xfrm xmlns:a="http://schemas.openxmlformats.org/drawingml/2006/main">
            <a:off x="514350" y="3257550"/>
            <a:ext cx="723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565656"/>
                </a:solidFill>
              </a:defRPr>
            </a:pPr>
            <a:r>
              <a:rPr sz="1800" b="0">
                <a:solidFill>
                  <a:srgbClr val="565656"/>
                </a:solidFill>
              </a:rPr>
              <a:t>A first-principles reading for simplifying without losing the mechanisms that scale requires.</a:t>
            </a:r>
          </a:p>
        </p:txBody>
      </p:sp>
      <p:sp>
        <p:nvSpPr>
          <p:cNvPr id="4" name="">
            <a:extLst xmlns:a="http://schemas.openxmlformats.org/drawingml/2006/main">
              <a:ext uri="{FF2B5EF4-FFF2-40B4-BE49-F238E27FC236}">
                <a16:creationId xmlns:a16="http://schemas.microsoft.com/office/drawing/2014/main" id="{C16E50EA-982E-4276-98E0-5A4FF2ED3212}"/>
              </a:ext>
            </a:extLst>
          </p:cNvPr>
          <p:cNvSpPr>
            <a:spLocks xmlns:a="http://schemas.openxmlformats.org/drawingml/2006/main" noGrp="1"/>
          </p:cNvSpPr>
          <p:nvPr/>
        </p:nvSpPr>
        <p:spPr>
          <a:xfrm xmlns:a="http://schemas.openxmlformats.org/drawingml/2006/main">
            <a:off x="8705850" y="1028700"/>
            <a:ext cx="2266950" cy="41338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5" name="">
            <a:extLst xmlns:a="http://schemas.openxmlformats.org/drawingml/2006/main">
              <a:ext uri="{FF2B5EF4-FFF2-40B4-BE49-F238E27FC236}">
                <a16:creationId xmlns:a16="http://schemas.microsoft.com/office/drawing/2014/main" id="{370C2A7C-8626-4E8E-A677-444142C33D48}"/>
              </a:ext>
            </a:extLst>
          </p:cNvPr>
          <p:cNvSpPr>
            <a:spLocks xmlns:a="http://schemas.openxmlformats.org/drawingml/2006/main" noGrp="1"/>
          </p:cNvSpPr>
          <p:nvPr/>
        </p:nvSpPr>
        <p:spPr>
          <a:xfrm xmlns:a="http://schemas.openxmlformats.org/drawingml/2006/main">
            <a:off x="9086850" y="1676400"/>
            <a:ext cx="838200" cy="5715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6" name="">
            <a:extLst xmlns:a="http://schemas.openxmlformats.org/drawingml/2006/main">
              <a:ext uri="{FF2B5EF4-FFF2-40B4-BE49-F238E27FC236}">
                <a16:creationId xmlns:a16="http://schemas.microsoft.com/office/drawing/2014/main" id="{B95D300E-B728-486D-9405-28256C783021}"/>
              </a:ext>
            </a:extLst>
          </p:cNvPr>
          <p:cNvSpPr>
            <a:spLocks xmlns:a="http://schemas.openxmlformats.org/drawingml/2006/main" noGrp="1"/>
          </p:cNvSpPr>
          <p:nvPr/>
        </p:nvSpPr>
        <p:spPr>
          <a:xfrm xmlns:a="http://schemas.openxmlformats.org/drawingml/2006/main">
            <a:off x="9086850" y="17907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11111"/>
                </a:solidFill>
              </a:defRPr>
            </a:pPr>
            <a:r>
              <a:rPr sz="1500" b="1">
                <a:solidFill>
                  <a:srgbClr val="111111"/>
                </a:solidFill>
              </a:rPr>
              <a:t>Problems</a:t>
            </a:r>
          </a:p>
        </p:txBody>
      </p:sp>
      <p:sp>
        <p:nvSpPr>
          <p:cNvPr id="7" name="">
            <a:extLst xmlns:a="http://schemas.openxmlformats.org/drawingml/2006/main">
              <a:ext uri="{FF2B5EF4-FFF2-40B4-BE49-F238E27FC236}">
                <a16:creationId xmlns:a16="http://schemas.microsoft.com/office/drawing/2014/main" id="{58E727C5-3F9C-450C-A25E-E36CB6905CCD}"/>
              </a:ext>
            </a:extLst>
          </p:cNvPr>
          <p:cNvSpPr>
            <a:spLocks xmlns:a="http://schemas.openxmlformats.org/drawingml/2006/main" noGrp="1"/>
          </p:cNvSpPr>
          <p:nvPr/>
        </p:nvSpPr>
        <p:spPr>
          <a:xfrm xmlns:a="http://schemas.openxmlformats.org/drawingml/2006/main">
            <a:off x="9086850" y="2400300"/>
            <a:ext cx="838200" cy="571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8" name="">
            <a:extLst xmlns:a="http://schemas.openxmlformats.org/drawingml/2006/main">
              <a:ext uri="{FF2B5EF4-FFF2-40B4-BE49-F238E27FC236}">
                <a16:creationId xmlns:a16="http://schemas.microsoft.com/office/drawing/2014/main" id="{E91AFB59-C325-442C-8BCA-CE850AB006A9}"/>
              </a:ext>
            </a:extLst>
          </p:cNvPr>
          <p:cNvSpPr>
            <a:spLocks xmlns:a="http://schemas.openxmlformats.org/drawingml/2006/main" noGrp="1"/>
          </p:cNvSpPr>
          <p:nvPr/>
        </p:nvSpPr>
        <p:spPr>
          <a:xfrm xmlns:a="http://schemas.openxmlformats.org/drawingml/2006/main">
            <a:off x="9086850" y="2514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Principles</a:t>
            </a:r>
          </a:p>
        </p:txBody>
      </p:sp>
      <p:sp>
        <p:nvSpPr>
          <p:cNvPr id="9" name="">
            <a:extLst xmlns:a="http://schemas.openxmlformats.org/drawingml/2006/main">
              <a:ext uri="{FF2B5EF4-FFF2-40B4-BE49-F238E27FC236}">
                <a16:creationId xmlns:a16="http://schemas.microsoft.com/office/drawing/2014/main" id="{A7C28D7F-A25F-441F-BF43-C04398344593}"/>
              </a:ext>
            </a:extLst>
          </p:cNvPr>
          <p:cNvSpPr>
            <a:spLocks xmlns:a="http://schemas.openxmlformats.org/drawingml/2006/main" noGrp="1"/>
          </p:cNvSpPr>
          <p:nvPr/>
        </p:nvSpPr>
        <p:spPr>
          <a:xfrm xmlns:a="http://schemas.openxmlformats.org/drawingml/2006/main">
            <a:off x="9086850" y="3124200"/>
            <a:ext cx="838200" cy="571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0" name="">
            <a:extLst xmlns:a="http://schemas.openxmlformats.org/drawingml/2006/main">
              <a:ext uri="{FF2B5EF4-FFF2-40B4-BE49-F238E27FC236}">
                <a16:creationId xmlns:a16="http://schemas.microsoft.com/office/drawing/2014/main" id="{526267DD-DE04-4473-B025-1255800DAF4A}"/>
              </a:ext>
            </a:extLst>
          </p:cNvPr>
          <p:cNvSpPr>
            <a:spLocks xmlns:a="http://schemas.openxmlformats.org/drawingml/2006/main" noGrp="1"/>
          </p:cNvSpPr>
          <p:nvPr/>
        </p:nvSpPr>
        <p:spPr>
          <a:xfrm xmlns:a="http://schemas.openxmlformats.org/drawingml/2006/main">
            <a:off x="9086850" y="32385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Mechanisms</a:t>
            </a:r>
          </a:p>
        </p:txBody>
      </p:sp>
      <p:sp>
        <p:nvSpPr>
          <p:cNvPr id="11" name="">
            <a:extLst xmlns:a="http://schemas.openxmlformats.org/drawingml/2006/main">
              <a:ext uri="{FF2B5EF4-FFF2-40B4-BE49-F238E27FC236}">
                <a16:creationId xmlns:a16="http://schemas.microsoft.com/office/drawing/2014/main" id="{5698B0F8-E8E9-4FE9-A807-EDF3AC69ACBB}"/>
              </a:ext>
            </a:extLst>
          </p:cNvPr>
          <p:cNvSpPr>
            <a:spLocks xmlns:a="http://schemas.openxmlformats.org/drawingml/2006/main" noGrp="1"/>
          </p:cNvSpPr>
          <p:nvPr/>
        </p:nvSpPr>
        <p:spPr>
          <a:xfrm xmlns:a="http://schemas.openxmlformats.org/drawingml/2006/main">
            <a:off x="9086850" y="3848100"/>
            <a:ext cx="838200" cy="571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2" name="">
            <a:extLst xmlns:a="http://schemas.openxmlformats.org/drawingml/2006/main">
              <a:ext uri="{FF2B5EF4-FFF2-40B4-BE49-F238E27FC236}">
                <a16:creationId xmlns:a16="http://schemas.microsoft.com/office/drawing/2014/main" id="{0E707182-32D9-4D82-874F-4362BDAEF68A}"/>
              </a:ext>
            </a:extLst>
          </p:cNvPr>
          <p:cNvSpPr>
            <a:spLocks xmlns:a="http://schemas.openxmlformats.org/drawingml/2006/main" noGrp="1"/>
          </p:cNvSpPr>
          <p:nvPr/>
        </p:nvSpPr>
        <p:spPr>
          <a:xfrm xmlns:a="http://schemas.openxmlformats.org/drawingml/2006/main">
            <a:off x="9086850" y="39624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Target model</a:t>
            </a:r>
          </a:p>
        </p:txBody>
      </p:sp>
      <p:sp>
        <p:nvSpPr>
          <p:cNvPr id="13" name="">
            <a:extLst xmlns:a="http://schemas.openxmlformats.org/drawingml/2006/main">
              <a:ext uri="{FF2B5EF4-FFF2-40B4-BE49-F238E27FC236}">
                <a16:creationId xmlns:a16="http://schemas.microsoft.com/office/drawing/2014/main" id="{B44505DA-2A38-423A-9D9D-96ADDDA35220}"/>
              </a:ext>
            </a:extLst>
          </p:cNvPr>
          <p:cNvSpPr>
            <a:spLocks xmlns:a="http://schemas.openxmlformats.org/drawingml/2006/main" noGrp="1"/>
          </p:cNvSpPr>
          <p:nvPr/>
        </p:nvSpPr>
        <p:spPr>
          <a:xfrm xmlns:a="http://schemas.openxmlformats.org/drawingml/2006/main">
            <a:off x="514350" y="6191250"/>
            <a:ext cx="111633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4" name="">
            <a:extLst xmlns:a="http://schemas.openxmlformats.org/drawingml/2006/main">
              <a:ext uri="{FF2B5EF4-FFF2-40B4-BE49-F238E27FC236}">
                <a16:creationId xmlns:a16="http://schemas.microsoft.com/office/drawing/2014/main" id="{BB3349C9-050F-4F65-B4F7-AAE6BA508332}"/>
              </a:ext>
            </a:extLst>
          </p:cNvPr>
          <p:cNvSpPr>
            <a:spLocks xmlns:a="http://schemas.openxmlformats.org/drawingml/2006/main" noGrp="1"/>
          </p:cNvSpPr>
          <p:nvPr/>
        </p:nvSpPr>
        <p:spPr>
          <a:xfrm xmlns:a="http://schemas.openxmlformats.org/drawingml/2006/main">
            <a:off x="514350" y="6305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65656"/>
                </a:solidFill>
              </a:defRPr>
            </a:pPr>
            <a:r>
              <a:rPr sz="975" b="0">
                <a:solidFill>
                  <a:srgbClr val="565656"/>
                </a:solidFill>
              </a:rPr>
              <a:t>Rethinking large-scale software coordination</a:t>
            </a:r>
          </a:p>
        </p:txBody>
      </p:sp>
      <p:sp>
        <p:nvSpPr>
          <p:cNvPr id="15" name="">
            <a:extLst xmlns:a="http://schemas.openxmlformats.org/drawingml/2006/main">
              <a:ext uri="{FF2B5EF4-FFF2-40B4-BE49-F238E27FC236}">
                <a16:creationId xmlns:a16="http://schemas.microsoft.com/office/drawing/2014/main" id="{5D38DE90-A47B-4524-833F-96A8043FB7BF}"/>
              </a:ext>
            </a:extLst>
          </p:cNvPr>
          <p:cNvSpPr>
            <a:spLocks xmlns:a="http://schemas.openxmlformats.org/drawingml/2006/main" noGrp="1"/>
          </p:cNvSpPr>
          <p:nvPr/>
        </p:nvSpPr>
        <p:spPr>
          <a:xfrm xmlns:a="http://schemas.openxmlformats.org/drawingml/2006/main">
            <a:off x="11258550" y="63055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65656"/>
                </a:solidFill>
              </a:defRPr>
            </a:pPr>
            <a:r>
              <a:rPr sz="975" b="0">
                <a:solidFill>
                  <a:srgbClr val="565656"/>
                </a:solidFill>
              </a:rPr>
              <a:t>01</a:t>
            </a:r>
          </a:p>
        </p:txBody>
      </p:sp>
    </p:spTree>
    <p:extLst>
      <p:ext uri="{BB962C8B-B14F-4D97-AF65-F5344CB8AC3E}">
        <p14:creationId xmlns:p14="http://schemas.microsoft.com/office/powerpoint/2010/main" val="20390764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ADC6817-F0B3-4A48-AD69-3147289E6E4C}"/>
              </a:ext>
            </a:extLst>
          </p:cNvPr>
          <p:cNvSpPr>
            <a:spLocks xmlns:a="http://schemas.openxmlformats.org/drawingml/2006/main" noGrp="1"/>
          </p:cNvSpPr>
          <p:nvPr/>
        </p:nvSpPr>
        <p:spPr>
          <a:xfrm xmlns:a="http://schemas.openxmlformats.org/drawingml/2006/main">
            <a:off x="514350" y="38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65656"/>
                </a:solidFill>
              </a:defRPr>
            </a:pPr>
            <a:r>
              <a:rPr sz="1050" b="1">
                <a:solidFill>
                  <a:srgbClr val="565656"/>
                </a:solidFill>
              </a:rPr>
              <a:t>CHAPTER 1</a:t>
            </a:r>
          </a:p>
        </p:txBody>
      </p:sp>
      <p:sp>
        <p:nvSpPr>
          <p:cNvPr id="2" name="">
            <a:extLst xmlns:a="http://schemas.openxmlformats.org/drawingml/2006/main">
              <a:ext uri="{FF2B5EF4-FFF2-40B4-BE49-F238E27FC236}">
                <a16:creationId xmlns:a16="http://schemas.microsoft.com/office/drawing/2014/main" id="{2E63FA3C-9F0F-40DB-9A5C-6CB42DB386F4}"/>
              </a:ext>
            </a:extLst>
          </p:cNvPr>
          <p:cNvSpPr>
            <a:spLocks xmlns:a="http://schemas.openxmlformats.org/drawingml/2006/main" noGrp="1"/>
          </p:cNvSpPr>
          <p:nvPr/>
        </p:nvSpPr>
        <p:spPr>
          <a:xfrm xmlns:a="http://schemas.openxmlformats.org/drawingml/2006/main">
            <a:off x="514350" y="800100"/>
            <a:ext cx="742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defRPr>
            </a:pPr>
            <a:r>
              <a:rPr sz="3150" b="1">
                <a:solidFill>
                  <a:srgbClr val="111111"/>
                </a:solidFill>
              </a:rPr>
              <a:t>Scale turns a team problem into a system problem</a:t>
            </a:r>
          </a:p>
        </p:txBody>
      </p:sp>
      <p:sp>
        <p:nvSpPr>
          <p:cNvPr id="3" name="">
            <a:extLst xmlns:a="http://schemas.openxmlformats.org/drawingml/2006/main">
              <a:ext uri="{FF2B5EF4-FFF2-40B4-BE49-F238E27FC236}">
                <a16:creationId xmlns:a16="http://schemas.microsoft.com/office/drawing/2014/main" id="{96108E41-8170-4515-BE81-D0F597BB5107}"/>
              </a:ext>
            </a:extLst>
          </p:cNvPr>
          <p:cNvSpPr>
            <a:spLocks xmlns:a="http://schemas.openxmlformats.org/drawingml/2006/main" noGrp="1"/>
          </p:cNvSpPr>
          <p:nvPr/>
        </p:nvSpPr>
        <p:spPr>
          <a:xfrm xmlns:a="http://schemas.openxmlformats.org/drawingml/2006/main">
            <a:off x="514350" y="1962150"/>
            <a:ext cx="733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65656"/>
                </a:solidFill>
              </a:defRPr>
            </a:pPr>
            <a:r>
              <a:rPr sz="1500" b="0">
                <a:solidFill>
                  <a:srgbClr val="565656"/>
                </a:solidFill>
              </a:rPr>
              <a:t>The starting point is not the method, but the constraints that appear when hundreds of developers work on interdependent systems.</a:t>
            </a:r>
          </a:p>
        </p:txBody>
      </p:sp>
      <p:sp>
        <p:nvSpPr>
          <p:cNvPr id="4" name="">
            <a:extLst xmlns:a="http://schemas.openxmlformats.org/drawingml/2006/main">
              <a:ext uri="{FF2B5EF4-FFF2-40B4-BE49-F238E27FC236}">
                <a16:creationId xmlns:a16="http://schemas.microsoft.com/office/drawing/2014/main" id="{E0F3CFB4-7516-41E7-91AD-CDD837308F0B}"/>
              </a:ext>
            </a:extLst>
          </p:cNvPr>
          <p:cNvSpPr>
            <a:spLocks xmlns:a="http://schemas.openxmlformats.org/drawingml/2006/main" noGrp="1"/>
          </p:cNvSpPr>
          <p:nvPr/>
        </p:nvSpPr>
        <p:spPr>
          <a:xfrm xmlns:a="http://schemas.openxmlformats.org/drawingml/2006/main">
            <a:off x="514350" y="6191250"/>
            <a:ext cx="111633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
            <a:extLst xmlns:a="http://schemas.openxmlformats.org/drawingml/2006/main">
              <a:ext uri="{FF2B5EF4-FFF2-40B4-BE49-F238E27FC236}">
                <a16:creationId xmlns:a16="http://schemas.microsoft.com/office/drawing/2014/main" id="{6B608F46-D96B-4D12-B763-994F7B7934E9}"/>
              </a:ext>
            </a:extLst>
          </p:cNvPr>
          <p:cNvSpPr>
            <a:spLocks xmlns:a="http://schemas.openxmlformats.org/drawingml/2006/main" noGrp="1"/>
          </p:cNvSpPr>
          <p:nvPr/>
        </p:nvSpPr>
        <p:spPr>
          <a:xfrm xmlns:a="http://schemas.openxmlformats.org/drawingml/2006/main">
            <a:off x="514350" y="6305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65656"/>
                </a:solidFill>
              </a:defRPr>
            </a:pPr>
            <a:r>
              <a:rPr sz="975" b="0">
                <a:solidFill>
                  <a:srgbClr val="565656"/>
                </a:solidFill>
              </a:rPr>
              <a:t>Rethinking large-scale software coordination</a:t>
            </a:r>
          </a:p>
        </p:txBody>
      </p:sp>
      <p:sp>
        <p:nvSpPr>
          <p:cNvPr id="6" name="">
            <a:extLst xmlns:a="http://schemas.openxmlformats.org/drawingml/2006/main">
              <a:ext uri="{FF2B5EF4-FFF2-40B4-BE49-F238E27FC236}">
                <a16:creationId xmlns:a16="http://schemas.microsoft.com/office/drawing/2014/main" id="{48FE16EE-4278-4A70-89F4-AFA4F0EA3C75}"/>
              </a:ext>
            </a:extLst>
          </p:cNvPr>
          <p:cNvSpPr>
            <a:spLocks xmlns:a="http://schemas.openxmlformats.org/drawingml/2006/main" noGrp="1"/>
          </p:cNvSpPr>
          <p:nvPr/>
        </p:nvSpPr>
        <p:spPr>
          <a:xfrm xmlns:a="http://schemas.openxmlformats.org/drawingml/2006/main">
            <a:off x="11258550" y="63055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65656"/>
                </a:solidFill>
              </a:defRPr>
            </a:pPr>
            <a:r>
              <a:rPr sz="975" b="0">
                <a:solidFill>
                  <a:srgbClr val="565656"/>
                </a:solidFill>
              </a:rPr>
              <a:t>02</a:t>
            </a:r>
          </a:p>
        </p:txBody>
      </p:sp>
      <p:sp>
        <p:nvSpPr>
          <p:cNvPr id="7" name="">
            <a:extLst xmlns:a="http://schemas.openxmlformats.org/drawingml/2006/main">
              <a:ext uri="{FF2B5EF4-FFF2-40B4-BE49-F238E27FC236}">
                <a16:creationId xmlns:a16="http://schemas.microsoft.com/office/drawing/2014/main" id="{9B97633E-5181-4169-BF75-4EC6A6ADAE6A}"/>
              </a:ext>
            </a:extLst>
          </p:cNvPr>
          <p:cNvSpPr>
            <a:spLocks xmlns:a="http://schemas.openxmlformats.org/drawingml/2006/main" noGrp="1"/>
          </p:cNvSpPr>
          <p:nvPr/>
        </p:nvSpPr>
        <p:spPr>
          <a:xfrm xmlns:a="http://schemas.openxmlformats.org/drawingml/2006/main">
            <a:off x="8420100" y="495300"/>
            <a:ext cx="2857500" cy="2667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8" name="">
            <a:extLst xmlns:a="http://schemas.openxmlformats.org/drawingml/2006/main">
              <a:ext uri="{FF2B5EF4-FFF2-40B4-BE49-F238E27FC236}">
                <a16:creationId xmlns:a16="http://schemas.microsoft.com/office/drawing/2014/main" id="{2DED7B1F-36B0-4CFF-9E8A-CD3474CA0C1B}"/>
              </a:ext>
            </a:extLst>
          </p:cNvPr>
          <p:cNvSpPr>
            <a:spLocks xmlns:a="http://schemas.openxmlformats.org/drawingml/2006/main" noGrp="1"/>
          </p:cNvSpPr>
          <p:nvPr/>
        </p:nvSpPr>
        <p:spPr>
          <a:xfrm xmlns:a="http://schemas.openxmlformats.org/drawingml/2006/main">
            <a:off x="8515350" y="5429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defRPr>
            </a:pPr>
            <a:r>
              <a:rPr sz="975" b="1">
                <a:solidFill>
                  <a:srgbClr val="FFFFFF"/>
                </a:solidFill>
              </a:rPr>
              <a:t>Initial diagnosis</a:t>
            </a:r>
          </a:p>
        </p:txBody>
      </p:sp>
      <p:sp>
        <p:nvSpPr>
          <p:cNvPr id="9" name="">
            <a:extLst xmlns:a="http://schemas.openxmlformats.org/drawingml/2006/main">
              <a:ext uri="{FF2B5EF4-FFF2-40B4-BE49-F238E27FC236}">
                <a16:creationId xmlns:a16="http://schemas.microsoft.com/office/drawing/2014/main" id="{74D8B43C-81E9-4F23-B12E-F43BA359E729}"/>
              </a:ext>
            </a:extLst>
          </p:cNvPr>
          <p:cNvSpPr>
            <a:spLocks xmlns:a="http://schemas.openxmlformats.org/drawingml/2006/main" noGrp="1"/>
          </p:cNvSpPr>
          <p:nvPr/>
        </p:nvSpPr>
        <p:spPr>
          <a:xfrm xmlns:a="http://schemas.openxmlformats.org/drawingml/2006/main">
            <a:off x="7334250" y="2876550"/>
            <a:ext cx="3905250" cy="2400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0" name="">
            <a:extLst xmlns:a="http://schemas.openxmlformats.org/drawingml/2006/main">
              <a:ext uri="{FF2B5EF4-FFF2-40B4-BE49-F238E27FC236}">
                <a16:creationId xmlns:a16="http://schemas.microsoft.com/office/drawing/2014/main" id="{81270E7F-DE06-4775-9092-951F976217F2}"/>
              </a:ext>
            </a:extLst>
          </p:cNvPr>
          <p:cNvSpPr>
            <a:spLocks xmlns:a="http://schemas.openxmlformats.org/drawingml/2006/main" noGrp="1"/>
          </p:cNvSpPr>
          <p:nvPr/>
        </p:nvSpPr>
        <p:spPr>
          <a:xfrm xmlns:a="http://schemas.openxmlformats.org/drawingml/2006/main">
            <a:off x="514350" y="3009900"/>
            <a:ext cx="6000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1111"/>
                </a:solidFill>
              </a:defRPr>
            </a:pPr>
            <a:r>
              <a:rPr sz="2250" b="1">
                <a:solidFill>
                  <a:srgbClr val="111111"/>
                </a:solidFill>
              </a:rPr>
              <a:t>An organization can remove a framework; it cannot remove the coordination problems.</a:t>
            </a:r>
          </a:p>
        </p:txBody>
      </p:sp>
      <p:sp>
        <p:nvSpPr>
          <p:cNvPr id="11" name="">
            <a:extLst xmlns:a="http://schemas.openxmlformats.org/drawingml/2006/main">
              <a:ext uri="{FF2B5EF4-FFF2-40B4-BE49-F238E27FC236}">
                <a16:creationId xmlns:a16="http://schemas.microsoft.com/office/drawing/2014/main" id="{6E59E047-2C23-436F-BBA8-098D19E053DB}"/>
              </a:ext>
            </a:extLst>
          </p:cNvPr>
          <p:cNvSpPr>
            <a:spLocks xmlns:a="http://schemas.openxmlformats.org/drawingml/2006/main" noGrp="1"/>
          </p:cNvSpPr>
          <p:nvPr/>
        </p:nvSpPr>
        <p:spPr>
          <a:xfrm xmlns:a="http://schemas.openxmlformats.org/drawingml/2006/main">
            <a:off x="514350" y="40100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1</a:t>
            </a:r>
          </a:p>
        </p:txBody>
      </p:sp>
      <p:sp>
        <p:nvSpPr>
          <p:cNvPr id="12" name="">
            <a:extLst xmlns:a="http://schemas.openxmlformats.org/drawingml/2006/main">
              <a:ext uri="{FF2B5EF4-FFF2-40B4-BE49-F238E27FC236}">
                <a16:creationId xmlns:a16="http://schemas.microsoft.com/office/drawing/2014/main" id="{07CCD578-907F-4833-B7CA-A0A2003D0ECC}"/>
              </a:ext>
            </a:extLst>
          </p:cNvPr>
          <p:cNvSpPr>
            <a:spLocks xmlns:a="http://schemas.openxmlformats.org/drawingml/2006/main" noGrp="1"/>
          </p:cNvSpPr>
          <p:nvPr/>
        </p:nvSpPr>
        <p:spPr>
          <a:xfrm xmlns:a="http://schemas.openxmlformats.org/drawingml/2006/main">
            <a:off x="914400" y="40005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Interactions, coupling and uncertainty grow faster than team size.</a:t>
            </a:r>
          </a:p>
        </p:txBody>
      </p:sp>
      <p:sp>
        <p:nvSpPr>
          <p:cNvPr id="13" name="">
            <a:extLst xmlns:a="http://schemas.openxmlformats.org/drawingml/2006/main">
              <a:ext uri="{FF2B5EF4-FFF2-40B4-BE49-F238E27FC236}">
                <a16:creationId xmlns:a16="http://schemas.microsoft.com/office/drawing/2014/main" id="{486F319A-73FD-4AA2-AFE2-676F494F35BA}"/>
              </a:ext>
            </a:extLst>
          </p:cNvPr>
          <p:cNvSpPr>
            <a:spLocks xmlns:a="http://schemas.openxmlformats.org/drawingml/2006/main" noGrp="1"/>
          </p:cNvSpPr>
          <p:nvPr/>
        </p:nvSpPr>
        <p:spPr>
          <a:xfrm xmlns:a="http://schemas.openxmlformats.org/drawingml/2006/main">
            <a:off x="514350" y="45243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2</a:t>
            </a:r>
          </a:p>
        </p:txBody>
      </p:sp>
      <p:sp>
        <p:nvSpPr>
          <p:cNvPr id="14" name="">
            <a:extLst xmlns:a="http://schemas.openxmlformats.org/drawingml/2006/main">
              <a:ext uri="{FF2B5EF4-FFF2-40B4-BE49-F238E27FC236}">
                <a16:creationId xmlns:a16="http://schemas.microsoft.com/office/drawing/2014/main" id="{232ED850-1B3E-434D-A33E-791A2D1FFB5A}"/>
              </a:ext>
            </a:extLst>
          </p:cNvPr>
          <p:cNvSpPr>
            <a:spLocks xmlns:a="http://schemas.openxmlformats.org/drawingml/2006/main" noGrp="1"/>
          </p:cNvSpPr>
          <p:nvPr/>
        </p:nvSpPr>
        <p:spPr>
          <a:xfrm xmlns:a="http://schemas.openxmlformats.org/drawingml/2006/main">
            <a:off x="914400" y="451485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The five key complexities are structural, coordination, decision, operational, cognitive and social.</a:t>
            </a:r>
          </a:p>
        </p:txBody>
      </p:sp>
      <p:sp>
        <p:nvSpPr>
          <p:cNvPr id="15" name="">
            <a:extLst xmlns:a="http://schemas.openxmlformats.org/drawingml/2006/main">
              <a:ext uri="{FF2B5EF4-FFF2-40B4-BE49-F238E27FC236}">
                <a16:creationId xmlns:a16="http://schemas.microsoft.com/office/drawing/2014/main" id="{7BEC7645-5DA9-47A0-8B0C-F44BA62E1038}"/>
              </a:ext>
            </a:extLst>
          </p:cNvPr>
          <p:cNvSpPr>
            <a:spLocks xmlns:a="http://schemas.openxmlformats.org/drawingml/2006/main" noGrp="1"/>
          </p:cNvSpPr>
          <p:nvPr/>
        </p:nvSpPr>
        <p:spPr>
          <a:xfrm xmlns:a="http://schemas.openxmlformats.org/drawingml/2006/main">
            <a:off x="514350" y="5038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3</a:t>
            </a:r>
          </a:p>
        </p:txBody>
      </p:sp>
      <p:sp>
        <p:nvSpPr>
          <p:cNvPr id="16" name="">
            <a:extLst xmlns:a="http://schemas.openxmlformats.org/drawingml/2006/main">
              <a:ext uri="{FF2B5EF4-FFF2-40B4-BE49-F238E27FC236}">
                <a16:creationId xmlns:a16="http://schemas.microsoft.com/office/drawing/2014/main" id="{6C1A011B-9648-4147-ACB9-5C09804FE653}"/>
              </a:ext>
            </a:extLst>
          </p:cNvPr>
          <p:cNvSpPr>
            <a:spLocks xmlns:a="http://schemas.openxmlformats.org/drawingml/2006/main" noGrp="1"/>
          </p:cNvSpPr>
          <p:nvPr/>
        </p:nvSpPr>
        <p:spPr>
          <a:xfrm xmlns:a="http://schemas.openxmlformats.org/drawingml/2006/main">
            <a:off x="914400" y="50292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The right level of coordination depends on coupling, risk and technical maturity.</a:t>
            </a:r>
          </a:p>
        </p:txBody>
      </p:sp>
      <p:sp>
        <p:nvSpPr>
          <p:cNvPr id="17" name="">
            <a:extLst xmlns:a="http://schemas.openxmlformats.org/drawingml/2006/main">
              <a:ext uri="{FF2B5EF4-FFF2-40B4-BE49-F238E27FC236}">
                <a16:creationId xmlns:a16="http://schemas.microsoft.com/office/drawing/2014/main" id="{EED96346-55CC-416E-86E3-E74B765A1176}"/>
              </a:ext>
            </a:extLst>
          </p:cNvPr>
          <p:cNvSpPr>
            <a:spLocks xmlns:a="http://schemas.openxmlformats.org/drawingml/2006/main" noGrp="1"/>
          </p:cNvSpPr>
          <p:nvPr/>
        </p:nvSpPr>
        <p:spPr>
          <a:xfrm xmlns:a="http://schemas.openxmlformats.org/drawingml/2006/main">
            <a:off x="7620000" y="31051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Warning signs</a:t>
            </a:r>
          </a:p>
        </p:txBody>
      </p:sp>
      <p:sp>
        <p:nvSpPr>
          <p:cNvPr id="18" name="">
            <a:extLst xmlns:a="http://schemas.openxmlformats.org/drawingml/2006/main">
              <a:ext uri="{FF2B5EF4-FFF2-40B4-BE49-F238E27FC236}">
                <a16:creationId xmlns:a16="http://schemas.microsoft.com/office/drawing/2014/main" id="{E5AE926D-9783-48D2-A5E5-85385086F743}"/>
              </a:ext>
            </a:extLst>
          </p:cNvPr>
          <p:cNvSpPr>
            <a:spLocks xmlns:a="http://schemas.openxmlformats.org/drawingml/2006/main" noGrp="1"/>
          </p:cNvSpPr>
          <p:nvPr/>
        </p:nvSpPr>
        <p:spPr>
          <a:xfrm xmlns:a="http://schemas.openxmlformats.org/drawingml/2006/main">
            <a:off x="7620000" y="3638550"/>
            <a:ext cx="342900" cy="381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19" name="">
            <a:extLst xmlns:a="http://schemas.openxmlformats.org/drawingml/2006/main">
              <a:ext uri="{FF2B5EF4-FFF2-40B4-BE49-F238E27FC236}">
                <a16:creationId xmlns:a16="http://schemas.microsoft.com/office/drawing/2014/main" id="{22792CCF-BCC3-4BCC-9242-926C429C10A3}"/>
              </a:ext>
            </a:extLst>
          </p:cNvPr>
          <p:cNvSpPr>
            <a:spLocks xmlns:a="http://schemas.openxmlformats.org/drawingml/2006/main" noGrp="1"/>
          </p:cNvSpPr>
          <p:nvPr/>
        </p:nvSpPr>
        <p:spPr>
          <a:xfrm xmlns:a="http://schemas.openxmlformats.org/drawingml/2006/main">
            <a:off x="8077200" y="35433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Teams waiting</a:t>
            </a:r>
          </a:p>
        </p:txBody>
      </p:sp>
      <p:sp>
        <p:nvSpPr>
          <p:cNvPr id="20" name="">
            <a:extLst xmlns:a="http://schemas.openxmlformats.org/drawingml/2006/main">
              <a:ext uri="{FF2B5EF4-FFF2-40B4-BE49-F238E27FC236}">
                <a16:creationId xmlns:a16="http://schemas.microsoft.com/office/drawing/2014/main" id="{0CDE146E-0DB6-4581-8146-18DC76F11682}"/>
              </a:ext>
            </a:extLst>
          </p:cNvPr>
          <p:cNvSpPr>
            <a:spLocks xmlns:a="http://schemas.openxmlformats.org/drawingml/2006/main" noGrp="1"/>
          </p:cNvSpPr>
          <p:nvPr/>
        </p:nvSpPr>
        <p:spPr>
          <a:xfrm xmlns:a="http://schemas.openxmlformats.org/drawingml/2006/main">
            <a:off x="7620000" y="40576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1" name="">
            <a:extLst xmlns:a="http://schemas.openxmlformats.org/drawingml/2006/main">
              <a:ext uri="{FF2B5EF4-FFF2-40B4-BE49-F238E27FC236}">
                <a16:creationId xmlns:a16="http://schemas.microsoft.com/office/drawing/2014/main" id="{CDCCAB76-66D6-4A3D-B700-410F25874E5D}"/>
              </a:ext>
            </a:extLst>
          </p:cNvPr>
          <p:cNvSpPr>
            <a:spLocks xmlns:a="http://schemas.openxmlformats.org/drawingml/2006/main" noGrp="1"/>
          </p:cNvSpPr>
          <p:nvPr/>
        </p:nvSpPr>
        <p:spPr>
          <a:xfrm xmlns:a="http://schemas.openxmlformats.org/drawingml/2006/main">
            <a:off x="8077200" y="39624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Late dependencies</a:t>
            </a:r>
          </a:p>
        </p:txBody>
      </p:sp>
      <p:sp>
        <p:nvSpPr>
          <p:cNvPr id="22" name="">
            <a:extLst xmlns:a="http://schemas.openxmlformats.org/drawingml/2006/main">
              <a:ext uri="{FF2B5EF4-FFF2-40B4-BE49-F238E27FC236}">
                <a16:creationId xmlns:a16="http://schemas.microsoft.com/office/drawing/2014/main" id="{83B9AC37-BC8F-4D28-BC30-F75F5CA279E0}"/>
              </a:ext>
            </a:extLst>
          </p:cNvPr>
          <p:cNvSpPr>
            <a:spLocks xmlns:a="http://schemas.openxmlformats.org/drawingml/2006/main" noGrp="1"/>
          </p:cNvSpPr>
          <p:nvPr/>
        </p:nvSpPr>
        <p:spPr>
          <a:xfrm xmlns:a="http://schemas.openxmlformats.org/drawingml/2006/main">
            <a:off x="7620000" y="44767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3" name="">
            <a:extLst xmlns:a="http://schemas.openxmlformats.org/drawingml/2006/main">
              <a:ext uri="{FF2B5EF4-FFF2-40B4-BE49-F238E27FC236}">
                <a16:creationId xmlns:a16="http://schemas.microsoft.com/office/drawing/2014/main" id="{984C8174-8975-45FA-8919-CA84DBA6AB19}"/>
              </a:ext>
            </a:extLst>
          </p:cNvPr>
          <p:cNvSpPr>
            <a:spLocks xmlns:a="http://schemas.openxmlformats.org/drawingml/2006/main" noGrp="1"/>
          </p:cNvSpPr>
          <p:nvPr/>
        </p:nvSpPr>
        <p:spPr>
          <a:xfrm xmlns:a="http://schemas.openxmlformats.org/drawingml/2006/main">
            <a:off x="8077200" y="43815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Overloaded experts</a:t>
            </a:r>
          </a:p>
        </p:txBody>
      </p:sp>
      <p:sp>
        <p:nvSpPr>
          <p:cNvPr id="24" name="">
            <a:extLst xmlns:a="http://schemas.openxmlformats.org/drawingml/2006/main">
              <a:ext uri="{FF2B5EF4-FFF2-40B4-BE49-F238E27FC236}">
                <a16:creationId xmlns:a16="http://schemas.microsoft.com/office/drawing/2014/main" id="{568CC9F6-2F25-413D-A2D2-89AD041FFE5E}"/>
              </a:ext>
            </a:extLst>
          </p:cNvPr>
          <p:cNvSpPr>
            <a:spLocks xmlns:a="http://schemas.openxmlformats.org/drawingml/2006/main" noGrp="1"/>
          </p:cNvSpPr>
          <p:nvPr/>
        </p:nvSpPr>
        <p:spPr>
          <a:xfrm xmlns:a="http://schemas.openxmlformats.org/drawingml/2006/main">
            <a:off x="7620000" y="48958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5" name="">
            <a:extLst xmlns:a="http://schemas.openxmlformats.org/drawingml/2006/main">
              <a:ext uri="{FF2B5EF4-FFF2-40B4-BE49-F238E27FC236}">
                <a16:creationId xmlns:a16="http://schemas.microsoft.com/office/drawing/2014/main" id="{43BD8D9E-8F4B-476B-90BF-CEB48FCD9A51}"/>
              </a:ext>
            </a:extLst>
          </p:cNvPr>
          <p:cNvSpPr>
            <a:spLocks xmlns:a="http://schemas.openxmlformats.org/drawingml/2006/main" noGrp="1"/>
          </p:cNvSpPr>
          <p:nvPr/>
        </p:nvSpPr>
        <p:spPr>
          <a:xfrm xmlns:a="http://schemas.openxmlformats.org/drawingml/2006/main">
            <a:off x="8077200" y="48006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Repeated escalations</a:t>
            </a:r>
          </a:p>
        </p:txBody>
      </p:sp>
    </p:spTree>
    <p:extLst>
      <p:ext uri="{BB962C8B-B14F-4D97-AF65-F5344CB8AC3E}">
        <p14:creationId xmlns:p14="http://schemas.microsoft.com/office/powerpoint/2010/main" val="11643890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18D65B7-14FB-4CD8-8C60-FDE43976D330}"/>
              </a:ext>
            </a:extLst>
          </p:cNvPr>
          <p:cNvSpPr>
            <a:spLocks xmlns:a="http://schemas.openxmlformats.org/drawingml/2006/main" noGrp="1"/>
          </p:cNvSpPr>
          <p:nvPr/>
        </p:nvSpPr>
        <p:spPr>
          <a:xfrm xmlns:a="http://schemas.openxmlformats.org/drawingml/2006/main">
            <a:off x="514350" y="38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65656"/>
                </a:solidFill>
              </a:defRPr>
            </a:pPr>
            <a:r>
              <a:rPr sz="1050" b="1">
                <a:solidFill>
                  <a:srgbClr val="565656"/>
                </a:solidFill>
              </a:rPr>
              <a:t>CHAPTER 2</a:t>
            </a:r>
          </a:p>
        </p:txBody>
      </p:sp>
      <p:sp>
        <p:nvSpPr>
          <p:cNvPr id="2" name="">
            <a:extLst xmlns:a="http://schemas.openxmlformats.org/drawingml/2006/main">
              <a:ext uri="{FF2B5EF4-FFF2-40B4-BE49-F238E27FC236}">
                <a16:creationId xmlns:a16="http://schemas.microsoft.com/office/drawing/2014/main" id="{02ACEF82-D5F0-4D77-A5C8-D36E308CB939}"/>
              </a:ext>
            </a:extLst>
          </p:cNvPr>
          <p:cNvSpPr>
            <a:spLocks xmlns:a="http://schemas.openxmlformats.org/drawingml/2006/main" noGrp="1"/>
          </p:cNvSpPr>
          <p:nvPr/>
        </p:nvSpPr>
        <p:spPr>
          <a:xfrm xmlns:a="http://schemas.openxmlformats.org/drawingml/2006/main">
            <a:off x="514350" y="800100"/>
            <a:ext cx="742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defRPr>
            </a:pPr>
            <a:r>
              <a:rPr sz="3150" b="1">
                <a:solidFill>
                  <a:srgbClr val="111111"/>
                </a:solidFill>
              </a:rPr>
              <a:t>Universal principles sit underneath the ceremonies</a:t>
            </a:r>
          </a:p>
        </p:txBody>
      </p:sp>
      <p:sp>
        <p:nvSpPr>
          <p:cNvPr id="3" name="">
            <a:extLst xmlns:a="http://schemas.openxmlformats.org/drawingml/2006/main">
              <a:ext uri="{FF2B5EF4-FFF2-40B4-BE49-F238E27FC236}">
                <a16:creationId xmlns:a16="http://schemas.microsoft.com/office/drawing/2014/main" id="{F413567F-3F16-4189-BF8D-6779ED815481}"/>
              </a:ext>
            </a:extLst>
          </p:cNvPr>
          <p:cNvSpPr>
            <a:spLocks xmlns:a="http://schemas.openxmlformats.org/drawingml/2006/main" noGrp="1"/>
          </p:cNvSpPr>
          <p:nvPr/>
        </p:nvSpPr>
        <p:spPr>
          <a:xfrm xmlns:a="http://schemas.openxmlformats.org/drawingml/2006/main">
            <a:off x="514350" y="1962150"/>
            <a:ext cx="733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65656"/>
                </a:solidFill>
              </a:defRPr>
            </a:pPr>
            <a:r>
              <a:rPr sz="1500" b="0">
                <a:solidFill>
                  <a:srgbClr val="565656"/>
                </a:solidFill>
              </a:rPr>
              <a:t>A visible practice is useful only when it applies a necessary principle to a real problem.</a:t>
            </a:r>
          </a:p>
        </p:txBody>
      </p:sp>
      <p:sp>
        <p:nvSpPr>
          <p:cNvPr id="4" name="">
            <a:extLst xmlns:a="http://schemas.openxmlformats.org/drawingml/2006/main">
              <a:ext uri="{FF2B5EF4-FFF2-40B4-BE49-F238E27FC236}">
                <a16:creationId xmlns:a16="http://schemas.microsoft.com/office/drawing/2014/main" id="{9EEB5C4F-2597-40E3-B3DE-9335A537C47D}"/>
              </a:ext>
            </a:extLst>
          </p:cNvPr>
          <p:cNvSpPr>
            <a:spLocks xmlns:a="http://schemas.openxmlformats.org/drawingml/2006/main" noGrp="1"/>
          </p:cNvSpPr>
          <p:nvPr/>
        </p:nvSpPr>
        <p:spPr>
          <a:xfrm xmlns:a="http://schemas.openxmlformats.org/drawingml/2006/main">
            <a:off x="514350" y="6191250"/>
            <a:ext cx="111633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
            <a:extLst xmlns:a="http://schemas.openxmlformats.org/drawingml/2006/main">
              <a:ext uri="{FF2B5EF4-FFF2-40B4-BE49-F238E27FC236}">
                <a16:creationId xmlns:a16="http://schemas.microsoft.com/office/drawing/2014/main" id="{A7EDDA65-051E-4750-977F-348D72D54625}"/>
              </a:ext>
            </a:extLst>
          </p:cNvPr>
          <p:cNvSpPr>
            <a:spLocks xmlns:a="http://schemas.openxmlformats.org/drawingml/2006/main" noGrp="1"/>
          </p:cNvSpPr>
          <p:nvPr/>
        </p:nvSpPr>
        <p:spPr>
          <a:xfrm xmlns:a="http://schemas.openxmlformats.org/drawingml/2006/main">
            <a:off x="514350" y="6305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65656"/>
                </a:solidFill>
              </a:defRPr>
            </a:pPr>
            <a:r>
              <a:rPr sz="975" b="0">
                <a:solidFill>
                  <a:srgbClr val="565656"/>
                </a:solidFill>
              </a:rPr>
              <a:t>Rethinking large-scale software coordination</a:t>
            </a:r>
          </a:p>
        </p:txBody>
      </p:sp>
      <p:sp>
        <p:nvSpPr>
          <p:cNvPr id="6" name="">
            <a:extLst xmlns:a="http://schemas.openxmlformats.org/drawingml/2006/main">
              <a:ext uri="{FF2B5EF4-FFF2-40B4-BE49-F238E27FC236}">
                <a16:creationId xmlns:a16="http://schemas.microsoft.com/office/drawing/2014/main" id="{EA3EF19B-BD4E-423F-8B36-3AE502213220}"/>
              </a:ext>
            </a:extLst>
          </p:cNvPr>
          <p:cNvSpPr>
            <a:spLocks xmlns:a="http://schemas.openxmlformats.org/drawingml/2006/main" noGrp="1"/>
          </p:cNvSpPr>
          <p:nvPr/>
        </p:nvSpPr>
        <p:spPr>
          <a:xfrm xmlns:a="http://schemas.openxmlformats.org/drawingml/2006/main">
            <a:off x="11258550" y="63055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65656"/>
                </a:solidFill>
              </a:defRPr>
            </a:pPr>
            <a:r>
              <a:rPr sz="975" b="0">
                <a:solidFill>
                  <a:srgbClr val="565656"/>
                </a:solidFill>
              </a:rPr>
              <a:t>03</a:t>
            </a:r>
          </a:p>
        </p:txBody>
      </p:sp>
      <p:sp>
        <p:nvSpPr>
          <p:cNvPr id="7" name="">
            <a:extLst xmlns:a="http://schemas.openxmlformats.org/drawingml/2006/main">
              <a:ext uri="{FF2B5EF4-FFF2-40B4-BE49-F238E27FC236}">
                <a16:creationId xmlns:a16="http://schemas.microsoft.com/office/drawing/2014/main" id="{80AB05F8-49C1-4D2B-8795-3C5F33FAEE36}"/>
              </a:ext>
            </a:extLst>
          </p:cNvPr>
          <p:cNvSpPr>
            <a:spLocks xmlns:a="http://schemas.openxmlformats.org/drawingml/2006/main" noGrp="1"/>
          </p:cNvSpPr>
          <p:nvPr/>
        </p:nvSpPr>
        <p:spPr>
          <a:xfrm xmlns:a="http://schemas.openxmlformats.org/drawingml/2006/main">
            <a:off x="8420100" y="495300"/>
            <a:ext cx="2857500" cy="2667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8" name="">
            <a:extLst xmlns:a="http://schemas.openxmlformats.org/drawingml/2006/main">
              <a:ext uri="{FF2B5EF4-FFF2-40B4-BE49-F238E27FC236}">
                <a16:creationId xmlns:a16="http://schemas.microsoft.com/office/drawing/2014/main" id="{58131544-A791-4818-B893-2B09F4CDD429}"/>
              </a:ext>
            </a:extLst>
          </p:cNvPr>
          <p:cNvSpPr>
            <a:spLocks xmlns:a="http://schemas.openxmlformats.org/drawingml/2006/main" noGrp="1"/>
          </p:cNvSpPr>
          <p:nvPr/>
        </p:nvSpPr>
        <p:spPr>
          <a:xfrm xmlns:a="http://schemas.openxmlformats.org/drawingml/2006/main">
            <a:off x="8515350" y="5429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defRPr>
            </a:pPr>
            <a:r>
              <a:rPr sz="975" b="1">
                <a:solidFill>
                  <a:srgbClr val="FFFFFF"/>
                </a:solidFill>
              </a:rPr>
              <a:t>Principles</a:t>
            </a:r>
          </a:p>
        </p:txBody>
      </p:sp>
      <p:sp>
        <p:nvSpPr>
          <p:cNvPr id="9" name="">
            <a:extLst xmlns:a="http://schemas.openxmlformats.org/drawingml/2006/main">
              <a:ext uri="{FF2B5EF4-FFF2-40B4-BE49-F238E27FC236}">
                <a16:creationId xmlns:a16="http://schemas.microsoft.com/office/drawing/2014/main" id="{7D4E9AFF-4DD7-4409-B104-F0EF8DED9DB8}"/>
              </a:ext>
            </a:extLst>
          </p:cNvPr>
          <p:cNvSpPr>
            <a:spLocks xmlns:a="http://schemas.openxmlformats.org/drawingml/2006/main" noGrp="1"/>
          </p:cNvSpPr>
          <p:nvPr/>
        </p:nvSpPr>
        <p:spPr>
          <a:xfrm xmlns:a="http://schemas.openxmlformats.org/drawingml/2006/main">
            <a:off x="7334250" y="2876550"/>
            <a:ext cx="3905250" cy="2400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0" name="">
            <a:extLst xmlns:a="http://schemas.openxmlformats.org/drawingml/2006/main">
              <a:ext uri="{FF2B5EF4-FFF2-40B4-BE49-F238E27FC236}">
                <a16:creationId xmlns:a16="http://schemas.microsoft.com/office/drawing/2014/main" id="{B950A77B-A877-4F08-ADC5-2BDFBD05E4A7}"/>
              </a:ext>
            </a:extLst>
          </p:cNvPr>
          <p:cNvSpPr>
            <a:spLocks xmlns:a="http://schemas.openxmlformats.org/drawingml/2006/main" noGrp="1"/>
          </p:cNvSpPr>
          <p:nvPr/>
        </p:nvSpPr>
        <p:spPr>
          <a:xfrm xmlns:a="http://schemas.openxmlformats.org/drawingml/2006/main">
            <a:off x="514350" y="3009900"/>
            <a:ext cx="6000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1111"/>
                </a:solidFill>
              </a:defRPr>
            </a:pPr>
            <a:r>
              <a:rPr sz="2250" b="1">
                <a:solidFill>
                  <a:srgbClr val="111111"/>
                </a:solidFill>
              </a:rPr>
              <a:t>The paper separates three levels: problem, principle and mechanism.</a:t>
            </a:r>
          </a:p>
        </p:txBody>
      </p:sp>
      <p:sp>
        <p:nvSpPr>
          <p:cNvPr id="11" name="">
            <a:extLst xmlns:a="http://schemas.openxmlformats.org/drawingml/2006/main">
              <a:ext uri="{FF2B5EF4-FFF2-40B4-BE49-F238E27FC236}">
                <a16:creationId xmlns:a16="http://schemas.microsoft.com/office/drawing/2014/main" id="{5F1F92B1-7784-44F3-A542-E31FD0BC0FD5}"/>
              </a:ext>
            </a:extLst>
          </p:cNvPr>
          <p:cNvSpPr>
            <a:spLocks xmlns:a="http://schemas.openxmlformats.org/drawingml/2006/main" noGrp="1"/>
          </p:cNvSpPr>
          <p:nvPr/>
        </p:nvSpPr>
        <p:spPr>
          <a:xfrm xmlns:a="http://schemas.openxmlformats.org/drawingml/2006/main">
            <a:off x="514350" y="40100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1</a:t>
            </a:r>
          </a:p>
        </p:txBody>
      </p:sp>
      <p:sp>
        <p:nvSpPr>
          <p:cNvPr id="12" name="">
            <a:extLst xmlns:a="http://schemas.openxmlformats.org/drawingml/2006/main">
              <a:ext uri="{FF2B5EF4-FFF2-40B4-BE49-F238E27FC236}">
                <a16:creationId xmlns:a16="http://schemas.microsoft.com/office/drawing/2014/main" id="{C2A67705-3364-457A-B9A0-2A3548B8D8F2}"/>
              </a:ext>
            </a:extLst>
          </p:cNvPr>
          <p:cNvSpPr>
            <a:spLocks xmlns:a="http://schemas.openxmlformats.org/drawingml/2006/main" noGrp="1"/>
          </p:cNvSpPr>
          <p:nvPr/>
        </p:nvSpPr>
        <p:spPr>
          <a:xfrm xmlns:a="http://schemas.openxmlformats.org/drawingml/2006/main">
            <a:off x="914400" y="40005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Create explicit alignment without turning the organization into a centralized execution machine.</a:t>
            </a:r>
          </a:p>
        </p:txBody>
      </p:sp>
      <p:sp>
        <p:nvSpPr>
          <p:cNvPr id="13" name="">
            <a:extLst xmlns:a="http://schemas.openxmlformats.org/drawingml/2006/main">
              <a:ext uri="{FF2B5EF4-FFF2-40B4-BE49-F238E27FC236}">
                <a16:creationId xmlns:a16="http://schemas.microsoft.com/office/drawing/2014/main" id="{76A4E816-99F9-4EA6-AAAF-EC4411C09952}"/>
              </a:ext>
            </a:extLst>
          </p:cNvPr>
          <p:cNvSpPr>
            <a:spLocks xmlns:a="http://schemas.openxmlformats.org/drawingml/2006/main" noGrp="1"/>
          </p:cNvSpPr>
          <p:nvPr/>
        </p:nvSpPr>
        <p:spPr>
          <a:xfrm xmlns:a="http://schemas.openxmlformats.org/drawingml/2006/main">
            <a:off x="514350" y="45243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2</a:t>
            </a:r>
          </a:p>
        </p:txBody>
      </p:sp>
      <p:sp>
        <p:nvSpPr>
          <p:cNvPr id="14" name="">
            <a:extLst xmlns:a="http://schemas.openxmlformats.org/drawingml/2006/main">
              <a:ext uri="{FF2B5EF4-FFF2-40B4-BE49-F238E27FC236}">
                <a16:creationId xmlns:a16="http://schemas.microsoft.com/office/drawing/2014/main" id="{791F7429-98AC-4B11-83A7-0513F573DF6A}"/>
              </a:ext>
            </a:extLst>
          </p:cNvPr>
          <p:cNvSpPr>
            <a:spLocks xmlns:a="http://schemas.openxmlformats.org/drawingml/2006/main" noGrp="1"/>
          </p:cNvSpPr>
          <p:nvPr/>
        </p:nvSpPr>
        <p:spPr>
          <a:xfrm xmlns:a="http://schemas.openxmlformats.org/drawingml/2006/main">
            <a:off x="914400" y="451485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Grant autonomy inside clear ownership, architecture and decision boundaries.</a:t>
            </a:r>
          </a:p>
        </p:txBody>
      </p:sp>
      <p:sp>
        <p:nvSpPr>
          <p:cNvPr id="15" name="">
            <a:extLst xmlns:a="http://schemas.openxmlformats.org/drawingml/2006/main">
              <a:ext uri="{FF2B5EF4-FFF2-40B4-BE49-F238E27FC236}">
                <a16:creationId xmlns:a16="http://schemas.microsoft.com/office/drawing/2014/main" id="{AF52C594-FDD7-464D-AB38-E336A078B26F}"/>
              </a:ext>
            </a:extLst>
          </p:cNvPr>
          <p:cNvSpPr>
            <a:spLocks xmlns:a="http://schemas.openxmlformats.org/drawingml/2006/main" noGrp="1"/>
          </p:cNvSpPr>
          <p:nvPr/>
        </p:nvSpPr>
        <p:spPr>
          <a:xfrm xmlns:a="http://schemas.openxmlformats.org/drawingml/2006/main">
            <a:off x="514350" y="5038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3</a:t>
            </a:r>
          </a:p>
        </p:txBody>
      </p:sp>
      <p:sp>
        <p:nvSpPr>
          <p:cNvPr id="16" name="">
            <a:extLst xmlns:a="http://schemas.openxmlformats.org/drawingml/2006/main">
              <a:ext uri="{FF2B5EF4-FFF2-40B4-BE49-F238E27FC236}">
                <a16:creationId xmlns:a16="http://schemas.microsoft.com/office/drawing/2014/main" id="{F6041C5A-46C9-4935-B820-152B7DD54DC0}"/>
              </a:ext>
            </a:extLst>
          </p:cNvPr>
          <p:cNvSpPr>
            <a:spLocks xmlns:a="http://schemas.openxmlformats.org/drawingml/2006/main" noGrp="1"/>
          </p:cNvSpPr>
          <p:nvPr/>
        </p:nvSpPr>
        <p:spPr>
          <a:xfrm xmlns:a="http://schemas.openxmlformats.org/drawingml/2006/main">
            <a:off x="914400" y="50292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Limit WIP, make flow visible, integrate often and keep learning continuously.</a:t>
            </a:r>
          </a:p>
        </p:txBody>
      </p:sp>
      <p:sp>
        <p:nvSpPr>
          <p:cNvPr id="17" name="">
            <a:extLst xmlns:a="http://schemas.openxmlformats.org/drawingml/2006/main">
              <a:ext uri="{FF2B5EF4-FFF2-40B4-BE49-F238E27FC236}">
                <a16:creationId xmlns:a16="http://schemas.microsoft.com/office/drawing/2014/main" id="{7B0119D7-96D0-4329-8845-CED572521887}"/>
              </a:ext>
            </a:extLst>
          </p:cNvPr>
          <p:cNvSpPr>
            <a:spLocks xmlns:a="http://schemas.openxmlformats.org/drawingml/2006/main" noGrp="1"/>
          </p:cNvSpPr>
          <p:nvPr/>
        </p:nvSpPr>
        <p:spPr>
          <a:xfrm xmlns:a="http://schemas.openxmlformats.org/drawingml/2006/main">
            <a:off x="7620000" y="31051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Useful question</a:t>
            </a:r>
          </a:p>
        </p:txBody>
      </p:sp>
      <p:sp>
        <p:nvSpPr>
          <p:cNvPr id="18" name="">
            <a:extLst xmlns:a="http://schemas.openxmlformats.org/drawingml/2006/main">
              <a:ext uri="{FF2B5EF4-FFF2-40B4-BE49-F238E27FC236}">
                <a16:creationId xmlns:a16="http://schemas.microsoft.com/office/drawing/2014/main" id="{213622C8-5558-4675-B156-ED442C9B26DF}"/>
              </a:ext>
            </a:extLst>
          </p:cNvPr>
          <p:cNvSpPr>
            <a:spLocks xmlns:a="http://schemas.openxmlformats.org/drawingml/2006/main" noGrp="1"/>
          </p:cNvSpPr>
          <p:nvPr/>
        </p:nvSpPr>
        <p:spPr>
          <a:xfrm xmlns:a="http://schemas.openxmlformats.org/drawingml/2006/main">
            <a:off x="7620000" y="3638550"/>
            <a:ext cx="342900" cy="381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19" name="">
            <a:extLst xmlns:a="http://schemas.openxmlformats.org/drawingml/2006/main">
              <a:ext uri="{FF2B5EF4-FFF2-40B4-BE49-F238E27FC236}">
                <a16:creationId xmlns:a16="http://schemas.microsoft.com/office/drawing/2014/main" id="{5E599CCF-BAB5-4A7C-B23D-F35A7D862AAA}"/>
              </a:ext>
            </a:extLst>
          </p:cNvPr>
          <p:cNvSpPr>
            <a:spLocks xmlns:a="http://schemas.openxmlformats.org/drawingml/2006/main" noGrp="1"/>
          </p:cNvSpPr>
          <p:nvPr/>
        </p:nvSpPr>
        <p:spPr>
          <a:xfrm xmlns:a="http://schemas.openxmlformats.org/drawingml/2006/main">
            <a:off x="8077200" y="35433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What problem do we have?</a:t>
            </a:r>
          </a:p>
        </p:txBody>
      </p:sp>
      <p:sp>
        <p:nvSpPr>
          <p:cNvPr id="20" name="">
            <a:extLst xmlns:a="http://schemas.openxmlformats.org/drawingml/2006/main">
              <a:ext uri="{FF2B5EF4-FFF2-40B4-BE49-F238E27FC236}">
                <a16:creationId xmlns:a16="http://schemas.microsoft.com/office/drawing/2014/main" id="{C5DAB175-6308-4645-BA5F-96E2666261CF}"/>
              </a:ext>
            </a:extLst>
          </p:cNvPr>
          <p:cNvSpPr>
            <a:spLocks xmlns:a="http://schemas.openxmlformats.org/drawingml/2006/main" noGrp="1"/>
          </p:cNvSpPr>
          <p:nvPr/>
        </p:nvSpPr>
        <p:spPr>
          <a:xfrm xmlns:a="http://schemas.openxmlformats.org/drawingml/2006/main">
            <a:off x="7620000" y="40576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1" name="">
            <a:extLst xmlns:a="http://schemas.openxmlformats.org/drawingml/2006/main">
              <a:ext uri="{FF2B5EF4-FFF2-40B4-BE49-F238E27FC236}">
                <a16:creationId xmlns:a16="http://schemas.microsoft.com/office/drawing/2014/main" id="{2193D94F-DE0B-4DDF-BE26-D5031F585A3C}"/>
              </a:ext>
            </a:extLst>
          </p:cNvPr>
          <p:cNvSpPr>
            <a:spLocks xmlns:a="http://schemas.openxmlformats.org/drawingml/2006/main" noGrp="1"/>
          </p:cNvSpPr>
          <p:nvPr/>
        </p:nvSpPr>
        <p:spPr>
          <a:xfrm xmlns:a="http://schemas.openxmlformats.org/drawingml/2006/main">
            <a:off x="8077200" y="39624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Which principle applies?</a:t>
            </a:r>
          </a:p>
        </p:txBody>
      </p:sp>
      <p:sp>
        <p:nvSpPr>
          <p:cNvPr id="22" name="">
            <a:extLst xmlns:a="http://schemas.openxmlformats.org/drawingml/2006/main">
              <a:ext uri="{FF2B5EF4-FFF2-40B4-BE49-F238E27FC236}">
                <a16:creationId xmlns:a16="http://schemas.microsoft.com/office/drawing/2014/main" id="{10725B27-BC6A-48B5-8CD6-004FE78B9BDC}"/>
              </a:ext>
            </a:extLst>
          </p:cNvPr>
          <p:cNvSpPr>
            <a:spLocks xmlns:a="http://schemas.openxmlformats.org/drawingml/2006/main" noGrp="1"/>
          </p:cNvSpPr>
          <p:nvPr/>
        </p:nvSpPr>
        <p:spPr>
          <a:xfrm xmlns:a="http://schemas.openxmlformats.org/drawingml/2006/main">
            <a:off x="7620000" y="44767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3" name="">
            <a:extLst xmlns:a="http://schemas.openxmlformats.org/drawingml/2006/main">
              <a:ext uri="{FF2B5EF4-FFF2-40B4-BE49-F238E27FC236}">
                <a16:creationId xmlns:a16="http://schemas.microsoft.com/office/drawing/2014/main" id="{13375EC6-27E2-4F31-9890-8C0E4482501C}"/>
              </a:ext>
            </a:extLst>
          </p:cNvPr>
          <p:cNvSpPr>
            <a:spLocks xmlns:a="http://schemas.openxmlformats.org/drawingml/2006/main" noGrp="1"/>
          </p:cNvSpPr>
          <p:nvPr/>
        </p:nvSpPr>
        <p:spPr>
          <a:xfrm xmlns:a="http://schemas.openxmlformats.org/drawingml/2006/main">
            <a:off x="8077200" y="43815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Which mechanism costs least?</a:t>
            </a:r>
          </a:p>
        </p:txBody>
      </p:sp>
      <p:sp>
        <p:nvSpPr>
          <p:cNvPr id="24" name="">
            <a:extLst xmlns:a="http://schemas.openxmlformats.org/drawingml/2006/main">
              <a:ext uri="{FF2B5EF4-FFF2-40B4-BE49-F238E27FC236}">
                <a16:creationId xmlns:a16="http://schemas.microsoft.com/office/drawing/2014/main" id="{545CC5AB-36D8-4482-A2DF-501884D6F1B9}"/>
              </a:ext>
            </a:extLst>
          </p:cNvPr>
          <p:cNvSpPr>
            <a:spLocks xmlns:a="http://schemas.openxmlformats.org/drawingml/2006/main" noGrp="1"/>
          </p:cNvSpPr>
          <p:nvPr/>
        </p:nvSpPr>
        <p:spPr>
          <a:xfrm xmlns:a="http://schemas.openxmlformats.org/drawingml/2006/main">
            <a:off x="7620000" y="48958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5" name="">
            <a:extLst xmlns:a="http://schemas.openxmlformats.org/drawingml/2006/main">
              <a:ext uri="{FF2B5EF4-FFF2-40B4-BE49-F238E27FC236}">
                <a16:creationId xmlns:a16="http://schemas.microsoft.com/office/drawing/2014/main" id="{2D0CB8F9-1B2E-4CAE-8650-626F0B87B7A6}"/>
              </a:ext>
            </a:extLst>
          </p:cNvPr>
          <p:cNvSpPr>
            <a:spLocks xmlns:a="http://schemas.openxmlformats.org/drawingml/2006/main" noGrp="1"/>
          </p:cNvSpPr>
          <p:nvPr/>
        </p:nvSpPr>
        <p:spPr>
          <a:xfrm xmlns:a="http://schemas.openxmlformats.org/drawingml/2006/main">
            <a:off x="8077200" y="48006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What risk if removed?</a:t>
            </a:r>
          </a:p>
        </p:txBody>
      </p:sp>
    </p:spTree>
    <p:extLst>
      <p:ext uri="{BB962C8B-B14F-4D97-AF65-F5344CB8AC3E}">
        <p14:creationId xmlns:p14="http://schemas.microsoft.com/office/powerpoint/2010/main" val="20818860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FC4F7E1-B4E9-49D0-8189-2786D48C9698}"/>
              </a:ext>
            </a:extLst>
          </p:cNvPr>
          <p:cNvSpPr>
            <a:spLocks xmlns:a="http://schemas.openxmlformats.org/drawingml/2006/main" noGrp="1"/>
          </p:cNvSpPr>
          <p:nvPr/>
        </p:nvSpPr>
        <p:spPr>
          <a:xfrm xmlns:a="http://schemas.openxmlformats.org/drawingml/2006/main">
            <a:off x="514350" y="38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65656"/>
                </a:solidFill>
              </a:defRPr>
            </a:pPr>
            <a:r>
              <a:rPr sz="1050" b="1">
                <a:solidFill>
                  <a:srgbClr val="565656"/>
                </a:solidFill>
              </a:rPr>
              <a:t>CHAPTER 3</a:t>
            </a:r>
          </a:p>
        </p:txBody>
      </p:sp>
      <p:sp>
        <p:nvSpPr>
          <p:cNvPr id="2" name="">
            <a:extLst xmlns:a="http://schemas.openxmlformats.org/drawingml/2006/main">
              <a:ext uri="{FF2B5EF4-FFF2-40B4-BE49-F238E27FC236}">
                <a16:creationId xmlns:a16="http://schemas.microsoft.com/office/drawing/2014/main" id="{AF44247B-A1AB-470F-8534-6433AA1EF370}"/>
              </a:ext>
            </a:extLst>
          </p:cNvPr>
          <p:cNvSpPr>
            <a:spLocks xmlns:a="http://schemas.openxmlformats.org/drawingml/2006/main" noGrp="1"/>
          </p:cNvSpPr>
          <p:nvPr/>
        </p:nvSpPr>
        <p:spPr>
          <a:xfrm xmlns:a="http://schemas.openxmlformats.org/drawingml/2006/main">
            <a:off x="514350" y="800100"/>
            <a:ext cx="742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defRPr>
            </a:pPr>
            <a:r>
              <a:rPr sz="3150" b="1">
                <a:solidFill>
                  <a:srgbClr val="111111"/>
                </a:solidFill>
              </a:rPr>
              <a:t>Frameworks are mechanism libraries, not total answers</a:t>
            </a:r>
          </a:p>
        </p:txBody>
      </p:sp>
      <p:sp>
        <p:nvSpPr>
          <p:cNvPr id="3" name="">
            <a:extLst xmlns:a="http://schemas.openxmlformats.org/drawingml/2006/main">
              <a:ext uri="{FF2B5EF4-FFF2-40B4-BE49-F238E27FC236}">
                <a16:creationId xmlns:a16="http://schemas.microsoft.com/office/drawing/2014/main" id="{A9D2E5CA-D966-4F32-8802-3882EDDB2F70}"/>
              </a:ext>
            </a:extLst>
          </p:cNvPr>
          <p:cNvSpPr>
            <a:spLocks xmlns:a="http://schemas.openxmlformats.org/drawingml/2006/main" noGrp="1"/>
          </p:cNvSpPr>
          <p:nvPr/>
        </p:nvSpPr>
        <p:spPr>
          <a:xfrm xmlns:a="http://schemas.openxmlformats.org/drawingml/2006/main">
            <a:off x="514350" y="1962150"/>
            <a:ext cx="733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65656"/>
                </a:solidFill>
              </a:defRPr>
            </a:pPr>
            <a:r>
              <a:rPr sz="1500" b="0">
                <a:solidFill>
                  <a:srgbClr val="565656"/>
                </a:solidFill>
              </a:rPr>
              <a:t>SAFe, LeSS, Nexus, Kanban, Team Topologies, Flight Levels and Shape Up do not start from the same diagnosis.</a:t>
            </a:r>
          </a:p>
        </p:txBody>
      </p:sp>
      <p:sp>
        <p:nvSpPr>
          <p:cNvPr id="4" name="">
            <a:extLst xmlns:a="http://schemas.openxmlformats.org/drawingml/2006/main">
              <a:ext uri="{FF2B5EF4-FFF2-40B4-BE49-F238E27FC236}">
                <a16:creationId xmlns:a16="http://schemas.microsoft.com/office/drawing/2014/main" id="{9CE22F62-A083-41BA-957E-5654E714B093}"/>
              </a:ext>
            </a:extLst>
          </p:cNvPr>
          <p:cNvSpPr>
            <a:spLocks xmlns:a="http://schemas.openxmlformats.org/drawingml/2006/main" noGrp="1"/>
          </p:cNvSpPr>
          <p:nvPr/>
        </p:nvSpPr>
        <p:spPr>
          <a:xfrm xmlns:a="http://schemas.openxmlformats.org/drawingml/2006/main">
            <a:off x="514350" y="6191250"/>
            <a:ext cx="111633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
            <a:extLst xmlns:a="http://schemas.openxmlformats.org/drawingml/2006/main">
              <a:ext uri="{FF2B5EF4-FFF2-40B4-BE49-F238E27FC236}">
                <a16:creationId xmlns:a16="http://schemas.microsoft.com/office/drawing/2014/main" id="{6057A26E-5569-48EC-BCA0-D99FA8468D9F}"/>
              </a:ext>
            </a:extLst>
          </p:cNvPr>
          <p:cNvSpPr>
            <a:spLocks xmlns:a="http://schemas.openxmlformats.org/drawingml/2006/main" noGrp="1"/>
          </p:cNvSpPr>
          <p:nvPr/>
        </p:nvSpPr>
        <p:spPr>
          <a:xfrm xmlns:a="http://schemas.openxmlformats.org/drawingml/2006/main">
            <a:off x="514350" y="6305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65656"/>
                </a:solidFill>
              </a:defRPr>
            </a:pPr>
            <a:r>
              <a:rPr sz="975" b="0">
                <a:solidFill>
                  <a:srgbClr val="565656"/>
                </a:solidFill>
              </a:rPr>
              <a:t>Rethinking large-scale software coordination</a:t>
            </a:r>
          </a:p>
        </p:txBody>
      </p:sp>
      <p:sp>
        <p:nvSpPr>
          <p:cNvPr id="6" name="">
            <a:extLst xmlns:a="http://schemas.openxmlformats.org/drawingml/2006/main">
              <a:ext uri="{FF2B5EF4-FFF2-40B4-BE49-F238E27FC236}">
                <a16:creationId xmlns:a16="http://schemas.microsoft.com/office/drawing/2014/main" id="{37756756-E8A1-46BD-8B07-E8632DD00A2D}"/>
              </a:ext>
            </a:extLst>
          </p:cNvPr>
          <p:cNvSpPr>
            <a:spLocks xmlns:a="http://schemas.openxmlformats.org/drawingml/2006/main" noGrp="1"/>
          </p:cNvSpPr>
          <p:nvPr/>
        </p:nvSpPr>
        <p:spPr>
          <a:xfrm xmlns:a="http://schemas.openxmlformats.org/drawingml/2006/main">
            <a:off x="11258550" y="63055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65656"/>
                </a:solidFill>
              </a:defRPr>
            </a:pPr>
            <a:r>
              <a:rPr sz="975" b="0">
                <a:solidFill>
                  <a:srgbClr val="565656"/>
                </a:solidFill>
              </a:rPr>
              <a:t>04</a:t>
            </a:r>
          </a:p>
        </p:txBody>
      </p:sp>
      <p:sp>
        <p:nvSpPr>
          <p:cNvPr id="7" name="">
            <a:extLst xmlns:a="http://schemas.openxmlformats.org/drawingml/2006/main">
              <a:ext uri="{FF2B5EF4-FFF2-40B4-BE49-F238E27FC236}">
                <a16:creationId xmlns:a16="http://schemas.microsoft.com/office/drawing/2014/main" id="{9237A155-EF96-4684-ACEC-025D2545AF89}"/>
              </a:ext>
            </a:extLst>
          </p:cNvPr>
          <p:cNvSpPr>
            <a:spLocks xmlns:a="http://schemas.openxmlformats.org/drawingml/2006/main" noGrp="1"/>
          </p:cNvSpPr>
          <p:nvPr/>
        </p:nvSpPr>
        <p:spPr>
          <a:xfrm xmlns:a="http://schemas.openxmlformats.org/drawingml/2006/main">
            <a:off x="8420100" y="495300"/>
            <a:ext cx="2857500" cy="2667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8" name="">
            <a:extLst xmlns:a="http://schemas.openxmlformats.org/drawingml/2006/main">
              <a:ext uri="{FF2B5EF4-FFF2-40B4-BE49-F238E27FC236}">
                <a16:creationId xmlns:a16="http://schemas.microsoft.com/office/drawing/2014/main" id="{23FDBC47-9802-434B-BB08-D2714629A1CC}"/>
              </a:ext>
            </a:extLst>
          </p:cNvPr>
          <p:cNvSpPr>
            <a:spLocks xmlns:a="http://schemas.openxmlformats.org/drawingml/2006/main" noGrp="1"/>
          </p:cNvSpPr>
          <p:nvPr/>
        </p:nvSpPr>
        <p:spPr>
          <a:xfrm xmlns:a="http://schemas.openxmlformats.org/drawingml/2006/main">
            <a:off x="8515350" y="5429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defRPr>
            </a:pPr>
            <a:r>
              <a:rPr sz="975" b="1">
                <a:solidFill>
                  <a:srgbClr val="FFFFFF"/>
                </a:solidFill>
              </a:rPr>
              <a:t>Comparative reading</a:t>
            </a:r>
          </a:p>
        </p:txBody>
      </p:sp>
      <p:sp>
        <p:nvSpPr>
          <p:cNvPr id="9" name="">
            <a:extLst xmlns:a="http://schemas.openxmlformats.org/drawingml/2006/main">
              <a:ext uri="{FF2B5EF4-FFF2-40B4-BE49-F238E27FC236}">
                <a16:creationId xmlns:a16="http://schemas.microsoft.com/office/drawing/2014/main" id="{39677A62-CAFB-41B1-88D3-32D1B7336BF0}"/>
              </a:ext>
            </a:extLst>
          </p:cNvPr>
          <p:cNvSpPr>
            <a:spLocks xmlns:a="http://schemas.openxmlformats.org/drawingml/2006/main" noGrp="1"/>
          </p:cNvSpPr>
          <p:nvPr/>
        </p:nvSpPr>
        <p:spPr>
          <a:xfrm xmlns:a="http://schemas.openxmlformats.org/drawingml/2006/main">
            <a:off x="7334250" y="2876550"/>
            <a:ext cx="3905250" cy="2400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0" name="">
            <a:extLst xmlns:a="http://schemas.openxmlformats.org/drawingml/2006/main">
              <a:ext uri="{FF2B5EF4-FFF2-40B4-BE49-F238E27FC236}">
                <a16:creationId xmlns:a16="http://schemas.microsoft.com/office/drawing/2014/main" id="{076DCAFD-65F2-4B33-BD9A-F2B209B08AE8}"/>
              </a:ext>
            </a:extLst>
          </p:cNvPr>
          <p:cNvSpPr>
            <a:spLocks xmlns:a="http://schemas.openxmlformats.org/drawingml/2006/main" noGrp="1"/>
          </p:cNvSpPr>
          <p:nvPr/>
        </p:nvSpPr>
        <p:spPr>
          <a:xfrm xmlns:a="http://schemas.openxmlformats.org/drawingml/2006/main">
            <a:off x="514350" y="3009900"/>
            <a:ext cx="6000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1111"/>
                </a:solidFill>
              </a:defRPr>
            </a:pPr>
            <a:r>
              <a:rPr sz="2250" b="1">
                <a:solidFill>
                  <a:srgbClr val="111111"/>
                </a:solidFill>
              </a:rPr>
              <a:t>The right comparison is not which framework is best, but which compromise treats which problem.</a:t>
            </a:r>
          </a:p>
        </p:txBody>
      </p:sp>
      <p:sp>
        <p:nvSpPr>
          <p:cNvPr id="11" name="">
            <a:extLst xmlns:a="http://schemas.openxmlformats.org/drawingml/2006/main">
              <a:ext uri="{FF2B5EF4-FFF2-40B4-BE49-F238E27FC236}">
                <a16:creationId xmlns:a16="http://schemas.microsoft.com/office/drawing/2014/main" id="{E2A79CA0-9FE9-4E9E-ABDB-1116A947CB54}"/>
              </a:ext>
            </a:extLst>
          </p:cNvPr>
          <p:cNvSpPr>
            <a:spLocks xmlns:a="http://schemas.openxmlformats.org/drawingml/2006/main" noGrp="1"/>
          </p:cNvSpPr>
          <p:nvPr/>
        </p:nvSpPr>
        <p:spPr>
          <a:xfrm xmlns:a="http://schemas.openxmlformats.org/drawingml/2006/main">
            <a:off x="514350" y="40100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1</a:t>
            </a:r>
          </a:p>
        </p:txBody>
      </p:sp>
      <p:sp>
        <p:nvSpPr>
          <p:cNvPr id="12" name="">
            <a:extLst xmlns:a="http://schemas.openxmlformats.org/drawingml/2006/main">
              <a:ext uri="{FF2B5EF4-FFF2-40B4-BE49-F238E27FC236}">
                <a16:creationId xmlns:a16="http://schemas.microsoft.com/office/drawing/2014/main" id="{DF024C48-C197-4AA0-BA83-AC4C71437C9C}"/>
              </a:ext>
            </a:extLst>
          </p:cNvPr>
          <p:cNvSpPr>
            <a:spLocks xmlns:a="http://schemas.openxmlformats.org/drawingml/2006/main" noGrp="1"/>
          </p:cNvSpPr>
          <p:nvPr/>
        </p:nvSpPr>
        <p:spPr>
          <a:xfrm xmlns:a="http://schemas.openxmlformats.org/drawingml/2006/main">
            <a:off x="914400" y="40005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SAFe makes enterprise coordination explicit, but can institutionalize dependencies.</a:t>
            </a:r>
          </a:p>
        </p:txBody>
      </p:sp>
      <p:sp>
        <p:nvSpPr>
          <p:cNvPr id="13" name="">
            <a:extLst xmlns:a="http://schemas.openxmlformats.org/drawingml/2006/main">
              <a:ext uri="{FF2B5EF4-FFF2-40B4-BE49-F238E27FC236}">
                <a16:creationId xmlns:a16="http://schemas.microsoft.com/office/drawing/2014/main" id="{ADBABF81-96CC-428D-941C-CEDB48654F09}"/>
              </a:ext>
            </a:extLst>
          </p:cNvPr>
          <p:cNvSpPr>
            <a:spLocks xmlns:a="http://schemas.openxmlformats.org/drawingml/2006/main" noGrp="1"/>
          </p:cNvSpPr>
          <p:nvPr/>
        </p:nvSpPr>
        <p:spPr>
          <a:xfrm xmlns:a="http://schemas.openxmlformats.org/drawingml/2006/main">
            <a:off x="514350" y="45243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2</a:t>
            </a:r>
          </a:p>
        </p:txBody>
      </p:sp>
      <p:sp>
        <p:nvSpPr>
          <p:cNvPr id="14" name="">
            <a:extLst xmlns:a="http://schemas.openxmlformats.org/drawingml/2006/main">
              <a:ext uri="{FF2B5EF4-FFF2-40B4-BE49-F238E27FC236}">
                <a16:creationId xmlns:a16="http://schemas.microsoft.com/office/drawing/2014/main" id="{4AB446C0-3DC6-4B2B-874D-758541475F1E}"/>
              </a:ext>
            </a:extLst>
          </p:cNvPr>
          <p:cNvSpPr>
            <a:spLocks xmlns:a="http://schemas.openxmlformats.org/drawingml/2006/main" noGrp="1"/>
          </p:cNvSpPr>
          <p:nvPr/>
        </p:nvSpPr>
        <p:spPr>
          <a:xfrm xmlns:a="http://schemas.openxmlformats.org/drawingml/2006/main">
            <a:off x="914400" y="451485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LeSS and Team Topologies focus more on reducing structural complexity.</a:t>
            </a:r>
          </a:p>
        </p:txBody>
      </p:sp>
      <p:sp>
        <p:nvSpPr>
          <p:cNvPr id="15" name="">
            <a:extLst xmlns:a="http://schemas.openxmlformats.org/drawingml/2006/main">
              <a:ext uri="{FF2B5EF4-FFF2-40B4-BE49-F238E27FC236}">
                <a16:creationId xmlns:a16="http://schemas.microsoft.com/office/drawing/2014/main" id="{ACC0A67E-0C94-4D85-90FA-F1266A8416CE}"/>
              </a:ext>
            </a:extLst>
          </p:cNvPr>
          <p:cNvSpPr>
            <a:spLocks xmlns:a="http://schemas.openxmlformats.org/drawingml/2006/main" noGrp="1"/>
          </p:cNvSpPr>
          <p:nvPr/>
        </p:nvSpPr>
        <p:spPr>
          <a:xfrm xmlns:a="http://schemas.openxmlformats.org/drawingml/2006/main">
            <a:off x="514350" y="5038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3</a:t>
            </a:r>
          </a:p>
        </p:txBody>
      </p:sp>
      <p:sp>
        <p:nvSpPr>
          <p:cNvPr id="16" name="">
            <a:extLst xmlns:a="http://schemas.openxmlformats.org/drawingml/2006/main">
              <a:ext uri="{FF2B5EF4-FFF2-40B4-BE49-F238E27FC236}">
                <a16:creationId xmlns:a16="http://schemas.microsoft.com/office/drawing/2014/main" id="{CA1B05F5-1848-4225-9422-CBAC39D39D24}"/>
              </a:ext>
            </a:extLst>
          </p:cNvPr>
          <p:cNvSpPr>
            <a:spLocks xmlns:a="http://schemas.openxmlformats.org/drawingml/2006/main" noGrp="1"/>
          </p:cNvSpPr>
          <p:nvPr/>
        </p:nvSpPr>
        <p:spPr>
          <a:xfrm xmlns:a="http://schemas.openxmlformats.org/drawingml/2006/main">
            <a:off x="914400" y="50292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Kanban and Flight Levels make flow and capacity visible, but require real arbitration.</a:t>
            </a:r>
          </a:p>
        </p:txBody>
      </p:sp>
      <p:sp>
        <p:nvSpPr>
          <p:cNvPr id="17" name="">
            <a:extLst xmlns:a="http://schemas.openxmlformats.org/drawingml/2006/main">
              <a:ext uri="{FF2B5EF4-FFF2-40B4-BE49-F238E27FC236}">
                <a16:creationId xmlns:a16="http://schemas.microsoft.com/office/drawing/2014/main" id="{FF762E9C-2D36-425E-8FE8-5FD31E2E0BCC}"/>
              </a:ext>
            </a:extLst>
          </p:cNvPr>
          <p:cNvSpPr>
            <a:spLocks xmlns:a="http://schemas.openxmlformats.org/drawingml/2006/main" noGrp="1"/>
          </p:cNvSpPr>
          <p:nvPr/>
        </p:nvSpPr>
        <p:spPr>
          <a:xfrm xmlns:a="http://schemas.openxmlformats.org/drawingml/2006/main">
            <a:off x="7620000" y="31051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Common patterns</a:t>
            </a:r>
          </a:p>
        </p:txBody>
      </p:sp>
      <p:sp>
        <p:nvSpPr>
          <p:cNvPr id="18" name="">
            <a:extLst xmlns:a="http://schemas.openxmlformats.org/drawingml/2006/main">
              <a:ext uri="{FF2B5EF4-FFF2-40B4-BE49-F238E27FC236}">
                <a16:creationId xmlns:a16="http://schemas.microsoft.com/office/drawing/2014/main" id="{EB57E090-EF99-42D5-8BC0-3A3F1327D0B2}"/>
              </a:ext>
            </a:extLst>
          </p:cNvPr>
          <p:cNvSpPr>
            <a:spLocks xmlns:a="http://schemas.openxmlformats.org/drawingml/2006/main" noGrp="1"/>
          </p:cNvSpPr>
          <p:nvPr/>
        </p:nvSpPr>
        <p:spPr>
          <a:xfrm xmlns:a="http://schemas.openxmlformats.org/drawingml/2006/main">
            <a:off x="7620000" y="3638550"/>
            <a:ext cx="342900" cy="381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19" name="">
            <a:extLst xmlns:a="http://schemas.openxmlformats.org/drawingml/2006/main">
              <a:ext uri="{FF2B5EF4-FFF2-40B4-BE49-F238E27FC236}">
                <a16:creationId xmlns:a16="http://schemas.microsoft.com/office/drawing/2014/main" id="{9A061F6D-0131-4A07-98B4-18935E50B940}"/>
              </a:ext>
            </a:extLst>
          </p:cNvPr>
          <p:cNvSpPr>
            <a:spLocks xmlns:a="http://schemas.openxmlformats.org/drawingml/2006/main" noGrp="1"/>
          </p:cNvSpPr>
          <p:nvPr/>
        </p:nvSpPr>
        <p:spPr>
          <a:xfrm xmlns:a="http://schemas.openxmlformats.org/drawingml/2006/main">
            <a:off x="8077200" y="35433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Make visible</a:t>
            </a:r>
          </a:p>
        </p:txBody>
      </p:sp>
      <p:sp>
        <p:nvSpPr>
          <p:cNvPr id="20" name="">
            <a:extLst xmlns:a="http://schemas.openxmlformats.org/drawingml/2006/main">
              <a:ext uri="{FF2B5EF4-FFF2-40B4-BE49-F238E27FC236}">
                <a16:creationId xmlns:a16="http://schemas.microsoft.com/office/drawing/2014/main" id="{7F8D6523-3BEB-45D3-9E07-A5968BAF5C8C}"/>
              </a:ext>
            </a:extLst>
          </p:cNvPr>
          <p:cNvSpPr>
            <a:spLocks xmlns:a="http://schemas.openxmlformats.org/drawingml/2006/main" noGrp="1"/>
          </p:cNvSpPr>
          <p:nvPr/>
        </p:nvSpPr>
        <p:spPr>
          <a:xfrm xmlns:a="http://schemas.openxmlformats.org/drawingml/2006/main">
            <a:off x="7620000" y="40576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1" name="">
            <a:extLst xmlns:a="http://schemas.openxmlformats.org/drawingml/2006/main">
              <a:ext uri="{FF2B5EF4-FFF2-40B4-BE49-F238E27FC236}">
                <a16:creationId xmlns:a16="http://schemas.microsoft.com/office/drawing/2014/main" id="{CFC356EA-E583-4D68-8ACD-646867B0A9CB}"/>
              </a:ext>
            </a:extLst>
          </p:cNvPr>
          <p:cNvSpPr>
            <a:spLocks xmlns:a="http://schemas.openxmlformats.org/drawingml/2006/main" noGrp="1"/>
          </p:cNvSpPr>
          <p:nvPr/>
        </p:nvSpPr>
        <p:spPr>
          <a:xfrm xmlns:a="http://schemas.openxmlformats.org/drawingml/2006/main">
            <a:off x="8077200" y="39624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Create cadence</a:t>
            </a:r>
          </a:p>
        </p:txBody>
      </p:sp>
      <p:sp>
        <p:nvSpPr>
          <p:cNvPr id="22" name="">
            <a:extLst xmlns:a="http://schemas.openxmlformats.org/drawingml/2006/main">
              <a:ext uri="{FF2B5EF4-FFF2-40B4-BE49-F238E27FC236}">
                <a16:creationId xmlns:a16="http://schemas.microsoft.com/office/drawing/2014/main" id="{8F42C5FF-E1F6-4357-B563-61DD36AEB7EF}"/>
              </a:ext>
            </a:extLst>
          </p:cNvPr>
          <p:cNvSpPr>
            <a:spLocks xmlns:a="http://schemas.openxmlformats.org/drawingml/2006/main" noGrp="1"/>
          </p:cNvSpPr>
          <p:nvPr/>
        </p:nvSpPr>
        <p:spPr>
          <a:xfrm xmlns:a="http://schemas.openxmlformats.org/drawingml/2006/main">
            <a:off x="7620000" y="44767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3" name="">
            <a:extLst xmlns:a="http://schemas.openxmlformats.org/drawingml/2006/main">
              <a:ext uri="{FF2B5EF4-FFF2-40B4-BE49-F238E27FC236}">
                <a16:creationId xmlns:a16="http://schemas.microsoft.com/office/drawing/2014/main" id="{C1E56C4F-2489-490A-81BA-DE0B614169C0}"/>
              </a:ext>
            </a:extLst>
          </p:cNvPr>
          <p:cNvSpPr>
            <a:spLocks xmlns:a="http://schemas.openxmlformats.org/drawingml/2006/main" noGrp="1"/>
          </p:cNvSpPr>
          <p:nvPr/>
        </p:nvSpPr>
        <p:spPr>
          <a:xfrm xmlns:a="http://schemas.openxmlformats.org/drawingml/2006/main">
            <a:off x="8077200" y="43815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Define boundaries</a:t>
            </a:r>
          </a:p>
        </p:txBody>
      </p:sp>
      <p:sp>
        <p:nvSpPr>
          <p:cNvPr id="24" name="">
            <a:extLst xmlns:a="http://schemas.openxmlformats.org/drawingml/2006/main">
              <a:ext uri="{FF2B5EF4-FFF2-40B4-BE49-F238E27FC236}">
                <a16:creationId xmlns:a16="http://schemas.microsoft.com/office/drawing/2014/main" id="{ABCD4F32-B24A-4A92-9B6E-3A046AA4F686}"/>
              </a:ext>
            </a:extLst>
          </p:cNvPr>
          <p:cNvSpPr>
            <a:spLocks xmlns:a="http://schemas.openxmlformats.org/drawingml/2006/main" noGrp="1"/>
          </p:cNvSpPr>
          <p:nvPr/>
        </p:nvSpPr>
        <p:spPr>
          <a:xfrm xmlns:a="http://schemas.openxmlformats.org/drawingml/2006/main">
            <a:off x="7620000" y="48958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5" name="">
            <a:extLst xmlns:a="http://schemas.openxmlformats.org/drawingml/2006/main">
              <a:ext uri="{FF2B5EF4-FFF2-40B4-BE49-F238E27FC236}">
                <a16:creationId xmlns:a16="http://schemas.microsoft.com/office/drawing/2014/main" id="{6AC14DBE-3A19-40C5-8B28-D63E659CBD9B}"/>
              </a:ext>
            </a:extLst>
          </p:cNvPr>
          <p:cNvSpPr>
            <a:spLocks xmlns:a="http://schemas.openxmlformats.org/drawingml/2006/main" noGrp="1"/>
          </p:cNvSpPr>
          <p:nvPr/>
        </p:nvSpPr>
        <p:spPr>
          <a:xfrm xmlns:a="http://schemas.openxmlformats.org/drawingml/2006/main">
            <a:off x="8077200" y="48006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Arbitrate capacity</a:t>
            </a:r>
          </a:p>
        </p:txBody>
      </p:sp>
    </p:spTree>
    <p:extLst>
      <p:ext uri="{BB962C8B-B14F-4D97-AF65-F5344CB8AC3E}">
        <p14:creationId xmlns:p14="http://schemas.microsoft.com/office/powerpoint/2010/main" val="13511428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E6FFE3E-BF20-4E1A-BDF7-95E710845FB1}"/>
              </a:ext>
            </a:extLst>
          </p:cNvPr>
          <p:cNvSpPr>
            <a:spLocks xmlns:a="http://schemas.openxmlformats.org/drawingml/2006/main" noGrp="1"/>
          </p:cNvSpPr>
          <p:nvPr/>
        </p:nvSpPr>
        <p:spPr>
          <a:xfrm xmlns:a="http://schemas.openxmlformats.org/drawingml/2006/main">
            <a:off x="514350" y="38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65656"/>
                </a:solidFill>
              </a:defRPr>
            </a:pPr>
            <a:r>
              <a:rPr sz="1050" b="1">
                <a:solidFill>
                  <a:srgbClr val="565656"/>
                </a:solidFill>
              </a:rPr>
              <a:t>CHAPTER 4</a:t>
            </a:r>
          </a:p>
        </p:txBody>
      </p:sp>
      <p:sp>
        <p:nvSpPr>
          <p:cNvPr id="2" name="">
            <a:extLst xmlns:a="http://schemas.openxmlformats.org/drawingml/2006/main">
              <a:ext uri="{FF2B5EF4-FFF2-40B4-BE49-F238E27FC236}">
                <a16:creationId xmlns:a16="http://schemas.microsoft.com/office/drawing/2014/main" id="{CF5C479F-74E2-46D8-9534-4F1C617FAC3B}"/>
              </a:ext>
            </a:extLst>
          </p:cNvPr>
          <p:cNvSpPr>
            <a:spLocks xmlns:a="http://schemas.openxmlformats.org/drawingml/2006/main" noGrp="1"/>
          </p:cNvSpPr>
          <p:nvPr/>
        </p:nvSpPr>
        <p:spPr>
          <a:xfrm xmlns:a="http://schemas.openxmlformats.org/drawingml/2006/main">
            <a:off x="514350" y="800100"/>
            <a:ext cx="742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defRPr>
            </a:pPr>
            <a:r>
              <a:rPr sz="3150" b="1">
                <a:solidFill>
                  <a:srgbClr val="111111"/>
                </a:solidFill>
              </a:rPr>
              <a:t>SAFe should be judged mechanism by mechanism</a:t>
            </a:r>
          </a:p>
        </p:txBody>
      </p:sp>
      <p:sp>
        <p:nvSpPr>
          <p:cNvPr id="3" name="">
            <a:extLst xmlns:a="http://schemas.openxmlformats.org/drawingml/2006/main">
              <a:ext uri="{FF2B5EF4-FFF2-40B4-BE49-F238E27FC236}">
                <a16:creationId xmlns:a16="http://schemas.microsoft.com/office/drawing/2014/main" id="{1B04B2C0-4336-4AA4-906D-7D123CFC4AA8}"/>
              </a:ext>
            </a:extLst>
          </p:cNvPr>
          <p:cNvSpPr>
            <a:spLocks xmlns:a="http://schemas.openxmlformats.org/drawingml/2006/main" noGrp="1"/>
          </p:cNvSpPr>
          <p:nvPr/>
        </p:nvSpPr>
        <p:spPr>
          <a:xfrm xmlns:a="http://schemas.openxmlformats.org/drawingml/2006/main">
            <a:off x="514350" y="1962150"/>
            <a:ext cx="733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65656"/>
                </a:solidFill>
              </a:defRPr>
            </a:pPr>
            <a:r>
              <a:rPr sz="1500" b="0">
                <a:solidFill>
                  <a:srgbClr val="565656"/>
                </a:solidFill>
              </a:rPr>
              <a:t>Its strength is making real problems explicit; its weakness is that this explicitness can turn into overhead.</a:t>
            </a:r>
          </a:p>
        </p:txBody>
      </p:sp>
      <p:sp>
        <p:nvSpPr>
          <p:cNvPr id="4" name="">
            <a:extLst xmlns:a="http://schemas.openxmlformats.org/drawingml/2006/main">
              <a:ext uri="{FF2B5EF4-FFF2-40B4-BE49-F238E27FC236}">
                <a16:creationId xmlns:a16="http://schemas.microsoft.com/office/drawing/2014/main" id="{6A414DD0-D670-4DAF-8D51-EC41A54279A6}"/>
              </a:ext>
            </a:extLst>
          </p:cNvPr>
          <p:cNvSpPr>
            <a:spLocks xmlns:a="http://schemas.openxmlformats.org/drawingml/2006/main" noGrp="1"/>
          </p:cNvSpPr>
          <p:nvPr/>
        </p:nvSpPr>
        <p:spPr>
          <a:xfrm xmlns:a="http://schemas.openxmlformats.org/drawingml/2006/main">
            <a:off x="514350" y="6191250"/>
            <a:ext cx="111633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
            <a:extLst xmlns:a="http://schemas.openxmlformats.org/drawingml/2006/main">
              <a:ext uri="{FF2B5EF4-FFF2-40B4-BE49-F238E27FC236}">
                <a16:creationId xmlns:a16="http://schemas.microsoft.com/office/drawing/2014/main" id="{FF2A787A-7700-4D97-94E5-BAB4DCFF4CE0}"/>
              </a:ext>
            </a:extLst>
          </p:cNvPr>
          <p:cNvSpPr>
            <a:spLocks xmlns:a="http://schemas.openxmlformats.org/drawingml/2006/main" noGrp="1"/>
          </p:cNvSpPr>
          <p:nvPr/>
        </p:nvSpPr>
        <p:spPr>
          <a:xfrm xmlns:a="http://schemas.openxmlformats.org/drawingml/2006/main">
            <a:off x="514350" y="6305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65656"/>
                </a:solidFill>
              </a:defRPr>
            </a:pPr>
            <a:r>
              <a:rPr sz="975" b="0">
                <a:solidFill>
                  <a:srgbClr val="565656"/>
                </a:solidFill>
              </a:rPr>
              <a:t>Rethinking large-scale software coordination</a:t>
            </a:r>
          </a:p>
        </p:txBody>
      </p:sp>
      <p:sp>
        <p:nvSpPr>
          <p:cNvPr id="6" name="">
            <a:extLst xmlns:a="http://schemas.openxmlformats.org/drawingml/2006/main">
              <a:ext uri="{FF2B5EF4-FFF2-40B4-BE49-F238E27FC236}">
                <a16:creationId xmlns:a16="http://schemas.microsoft.com/office/drawing/2014/main" id="{7BF97ABB-6AF6-4664-B43B-713B4E42F233}"/>
              </a:ext>
            </a:extLst>
          </p:cNvPr>
          <p:cNvSpPr>
            <a:spLocks xmlns:a="http://schemas.openxmlformats.org/drawingml/2006/main" noGrp="1"/>
          </p:cNvSpPr>
          <p:nvPr/>
        </p:nvSpPr>
        <p:spPr>
          <a:xfrm xmlns:a="http://schemas.openxmlformats.org/drawingml/2006/main">
            <a:off x="11258550" y="63055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65656"/>
                </a:solidFill>
              </a:defRPr>
            </a:pPr>
            <a:r>
              <a:rPr sz="975" b="0">
                <a:solidFill>
                  <a:srgbClr val="565656"/>
                </a:solidFill>
              </a:rPr>
              <a:t>05</a:t>
            </a:r>
          </a:p>
        </p:txBody>
      </p:sp>
      <p:sp>
        <p:nvSpPr>
          <p:cNvPr id="7" name="">
            <a:extLst xmlns:a="http://schemas.openxmlformats.org/drawingml/2006/main">
              <a:ext uri="{FF2B5EF4-FFF2-40B4-BE49-F238E27FC236}">
                <a16:creationId xmlns:a16="http://schemas.microsoft.com/office/drawing/2014/main" id="{242A58A0-60DC-46B2-8A39-94C2B37A1C69}"/>
              </a:ext>
            </a:extLst>
          </p:cNvPr>
          <p:cNvSpPr>
            <a:spLocks xmlns:a="http://schemas.openxmlformats.org/drawingml/2006/main" noGrp="1"/>
          </p:cNvSpPr>
          <p:nvPr/>
        </p:nvSpPr>
        <p:spPr>
          <a:xfrm xmlns:a="http://schemas.openxmlformats.org/drawingml/2006/main">
            <a:off x="8420100" y="495300"/>
            <a:ext cx="2857500" cy="2667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8" name="">
            <a:extLst xmlns:a="http://schemas.openxmlformats.org/drawingml/2006/main">
              <a:ext uri="{FF2B5EF4-FFF2-40B4-BE49-F238E27FC236}">
                <a16:creationId xmlns:a16="http://schemas.microsoft.com/office/drawing/2014/main" id="{38B2FA01-DA01-4BA8-8978-6E24CA578969}"/>
              </a:ext>
            </a:extLst>
          </p:cNvPr>
          <p:cNvSpPr>
            <a:spLocks xmlns:a="http://schemas.openxmlformats.org/drawingml/2006/main" noGrp="1"/>
          </p:cNvSpPr>
          <p:nvPr/>
        </p:nvSpPr>
        <p:spPr>
          <a:xfrm xmlns:a="http://schemas.openxmlformats.org/drawingml/2006/main">
            <a:off x="8515350" y="5429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defRPr>
            </a:pPr>
            <a:r>
              <a:rPr sz="975" b="1">
                <a:solidFill>
                  <a:srgbClr val="FFFFFF"/>
                </a:solidFill>
              </a:rPr>
              <a:t>SAFe decomposition</a:t>
            </a:r>
          </a:p>
        </p:txBody>
      </p:sp>
      <p:sp>
        <p:nvSpPr>
          <p:cNvPr id="9" name="">
            <a:extLst xmlns:a="http://schemas.openxmlformats.org/drawingml/2006/main">
              <a:ext uri="{FF2B5EF4-FFF2-40B4-BE49-F238E27FC236}">
                <a16:creationId xmlns:a16="http://schemas.microsoft.com/office/drawing/2014/main" id="{EF2B706C-1815-489E-A502-E1433C214257}"/>
              </a:ext>
            </a:extLst>
          </p:cNvPr>
          <p:cNvSpPr>
            <a:spLocks xmlns:a="http://schemas.openxmlformats.org/drawingml/2006/main" noGrp="1"/>
          </p:cNvSpPr>
          <p:nvPr/>
        </p:nvSpPr>
        <p:spPr>
          <a:xfrm xmlns:a="http://schemas.openxmlformats.org/drawingml/2006/main">
            <a:off x="7334250" y="2876550"/>
            <a:ext cx="3905250" cy="2400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0" name="">
            <a:extLst xmlns:a="http://schemas.openxmlformats.org/drawingml/2006/main">
              <a:ext uri="{FF2B5EF4-FFF2-40B4-BE49-F238E27FC236}">
                <a16:creationId xmlns:a16="http://schemas.microsoft.com/office/drawing/2014/main" id="{2F5DDFBF-1286-40B9-94DA-F5149EF259D4}"/>
              </a:ext>
            </a:extLst>
          </p:cNvPr>
          <p:cNvSpPr>
            <a:spLocks xmlns:a="http://schemas.openxmlformats.org/drawingml/2006/main" noGrp="1"/>
          </p:cNvSpPr>
          <p:nvPr/>
        </p:nvSpPr>
        <p:spPr>
          <a:xfrm xmlns:a="http://schemas.openxmlformats.org/drawingml/2006/main">
            <a:off x="514350" y="3009900"/>
            <a:ext cx="6000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1111"/>
                </a:solidFill>
              </a:defRPr>
            </a:pPr>
            <a:r>
              <a:rPr sz="2250" b="1">
                <a:solidFill>
                  <a:srgbClr val="111111"/>
                </a:solidFill>
              </a:rPr>
              <a:t>Keep useful functions, simplify forms and make the vocabulary optional.</a:t>
            </a:r>
          </a:p>
        </p:txBody>
      </p:sp>
      <p:sp>
        <p:nvSpPr>
          <p:cNvPr id="11" name="">
            <a:extLst xmlns:a="http://schemas.openxmlformats.org/drawingml/2006/main">
              <a:ext uri="{FF2B5EF4-FFF2-40B4-BE49-F238E27FC236}">
                <a16:creationId xmlns:a16="http://schemas.microsoft.com/office/drawing/2014/main" id="{EAA7A4A4-ECA3-49B8-AAF7-6F66F8E78E7B}"/>
              </a:ext>
            </a:extLst>
          </p:cNvPr>
          <p:cNvSpPr>
            <a:spLocks xmlns:a="http://schemas.openxmlformats.org/drawingml/2006/main" noGrp="1"/>
          </p:cNvSpPr>
          <p:nvPr/>
        </p:nvSpPr>
        <p:spPr>
          <a:xfrm xmlns:a="http://schemas.openxmlformats.org/drawingml/2006/main">
            <a:off x="514350" y="40100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1</a:t>
            </a:r>
          </a:p>
        </p:txBody>
      </p:sp>
      <p:sp>
        <p:nvSpPr>
          <p:cNvPr id="12" name="">
            <a:extLst xmlns:a="http://schemas.openxmlformats.org/drawingml/2006/main">
              <a:ext uri="{FF2B5EF4-FFF2-40B4-BE49-F238E27FC236}">
                <a16:creationId xmlns:a16="http://schemas.microsoft.com/office/drawing/2014/main" id="{7FC5C046-05AD-4180-A32B-AAFD48656289}"/>
              </a:ext>
            </a:extLst>
          </p:cNvPr>
          <p:cNvSpPr>
            <a:spLocks xmlns:a="http://schemas.openxmlformats.org/drawingml/2006/main" noGrp="1"/>
          </p:cNvSpPr>
          <p:nvPr/>
        </p:nvSpPr>
        <p:spPr>
          <a:xfrm xmlns:a="http://schemas.openxmlformats.org/drawingml/2006/main">
            <a:off x="914400" y="40005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Keep in some form: alignment, dependencies, portfolio, WIP, quality and decisions.</a:t>
            </a:r>
          </a:p>
        </p:txBody>
      </p:sp>
      <p:sp>
        <p:nvSpPr>
          <p:cNvPr id="13" name="">
            <a:extLst xmlns:a="http://schemas.openxmlformats.org/drawingml/2006/main">
              <a:ext uri="{FF2B5EF4-FFF2-40B4-BE49-F238E27FC236}">
                <a16:creationId xmlns:a16="http://schemas.microsoft.com/office/drawing/2014/main" id="{4B654A6E-34B7-44D3-B897-78704E1F40CD}"/>
              </a:ext>
            </a:extLst>
          </p:cNvPr>
          <p:cNvSpPr>
            <a:spLocks xmlns:a="http://schemas.openxmlformats.org/drawingml/2006/main" noGrp="1"/>
          </p:cNvSpPr>
          <p:nvPr/>
        </p:nvSpPr>
        <p:spPr>
          <a:xfrm xmlns:a="http://schemas.openxmlformats.org/drawingml/2006/main">
            <a:off x="514350" y="45243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2</a:t>
            </a:r>
          </a:p>
        </p:txBody>
      </p:sp>
      <p:sp>
        <p:nvSpPr>
          <p:cNvPr id="14" name="">
            <a:extLst xmlns:a="http://schemas.openxmlformats.org/drawingml/2006/main">
              <a:ext uri="{FF2B5EF4-FFF2-40B4-BE49-F238E27FC236}">
                <a16:creationId xmlns:a16="http://schemas.microsoft.com/office/drawing/2014/main" id="{30E16219-080E-4D37-8076-A719FFDF9310}"/>
              </a:ext>
            </a:extLst>
          </p:cNvPr>
          <p:cNvSpPr>
            <a:spLocks xmlns:a="http://schemas.openxmlformats.org/drawingml/2006/main" noGrp="1"/>
          </p:cNvSpPr>
          <p:nvPr/>
        </p:nvSpPr>
        <p:spPr>
          <a:xfrm xmlns:a="http://schemas.openxmlformats.org/drawingml/2006/main">
            <a:off x="914400" y="451485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Adapt: cycle length, dedicated roles, unit size and artifact depth.</a:t>
            </a:r>
          </a:p>
        </p:txBody>
      </p:sp>
      <p:sp>
        <p:nvSpPr>
          <p:cNvPr id="15" name="">
            <a:extLst xmlns:a="http://schemas.openxmlformats.org/drawingml/2006/main">
              <a:ext uri="{FF2B5EF4-FFF2-40B4-BE49-F238E27FC236}">
                <a16:creationId xmlns:a16="http://schemas.microsoft.com/office/drawing/2014/main" id="{D107E2CB-1BAA-43CA-B748-F4D190E60B7B}"/>
              </a:ext>
            </a:extLst>
          </p:cNvPr>
          <p:cNvSpPr>
            <a:spLocks xmlns:a="http://schemas.openxmlformats.org/drawingml/2006/main" noGrp="1"/>
          </p:cNvSpPr>
          <p:nvPr/>
        </p:nvSpPr>
        <p:spPr>
          <a:xfrm xmlns:a="http://schemas.openxmlformats.org/drawingml/2006/main">
            <a:off x="514350" y="5038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3</a:t>
            </a:r>
          </a:p>
        </p:txBody>
      </p:sp>
      <p:sp>
        <p:nvSpPr>
          <p:cNvPr id="16" name="">
            <a:extLst xmlns:a="http://schemas.openxmlformats.org/drawingml/2006/main">
              <a:ext uri="{FF2B5EF4-FFF2-40B4-BE49-F238E27FC236}">
                <a16:creationId xmlns:a16="http://schemas.microsoft.com/office/drawing/2014/main" id="{04E63CE1-363A-49CA-948E-61C5DB757F2B}"/>
              </a:ext>
            </a:extLst>
          </p:cNvPr>
          <p:cNvSpPr>
            <a:spLocks xmlns:a="http://schemas.openxmlformats.org/drawingml/2006/main" noGrp="1"/>
          </p:cNvSpPr>
          <p:nvPr/>
        </p:nvSpPr>
        <p:spPr>
          <a:xfrm xmlns:a="http://schemas.openxmlformats.org/drawingml/2006/main">
            <a:off x="914400" y="50292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Remove: ceremonies without decisions, roles without mandates, redundant reporting and compliance jargon.</a:t>
            </a:r>
          </a:p>
        </p:txBody>
      </p:sp>
      <p:sp>
        <p:nvSpPr>
          <p:cNvPr id="17" name="">
            <a:extLst xmlns:a="http://schemas.openxmlformats.org/drawingml/2006/main">
              <a:ext uri="{FF2B5EF4-FFF2-40B4-BE49-F238E27FC236}">
                <a16:creationId xmlns:a16="http://schemas.microsoft.com/office/drawing/2014/main" id="{8A6CC9A4-C036-4ACE-B9D2-7C7F885A8E28}"/>
              </a:ext>
            </a:extLst>
          </p:cNvPr>
          <p:cNvSpPr>
            <a:spLocks xmlns:a="http://schemas.openxmlformats.org/drawingml/2006/main" noGrp="1"/>
          </p:cNvSpPr>
          <p:nvPr/>
        </p:nvSpPr>
        <p:spPr>
          <a:xfrm xmlns:a="http://schemas.openxmlformats.org/drawingml/2006/main">
            <a:off x="7620000" y="31051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Sorting criterion</a:t>
            </a:r>
          </a:p>
        </p:txBody>
      </p:sp>
      <p:sp>
        <p:nvSpPr>
          <p:cNvPr id="18" name="">
            <a:extLst xmlns:a="http://schemas.openxmlformats.org/drawingml/2006/main">
              <a:ext uri="{FF2B5EF4-FFF2-40B4-BE49-F238E27FC236}">
                <a16:creationId xmlns:a16="http://schemas.microsoft.com/office/drawing/2014/main" id="{2D66EFFD-A5A3-4498-A636-7AD8E4152926}"/>
              </a:ext>
            </a:extLst>
          </p:cNvPr>
          <p:cNvSpPr>
            <a:spLocks xmlns:a="http://schemas.openxmlformats.org/drawingml/2006/main" noGrp="1"/>
          </p:cNvSpPr>
          <p:nvPr/>
        </p:nvSpPr>
        <p:spPr>
          <a:xfrm xmlns:a="http://schemas.openxmlformats.org/drawingml/2006/main">
            <a:off x="7620000" y="3638550"/>
            <a:ext cx="342900" cy="381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19" name="">
            <a:extLst xmlns:a="http://schemas.openxmlformats.org/drawingml/2006/main">
              <a:ext uri="{FF2B5EF4-FFF2-40B4-BE49-F238E27FC236}">
                <a16:creationId xmlns:a16="http://schemas.microsoft.com/office/drawing/2014/main" id="{C0F9CD40-8070-4C8B-B1C9-E4736DF98DA0}"/>
              </a:ext>
            </a:extLst>
          </p:cNvPr>
          <p:cNvSpPr>
            <a:spLocks xmlns:a="http://schemas.openxmlformats.org/drawingml/2006/main" noGrp="1"/>
          </p:cNvSpPr>
          <p:nvPr/>
        </p:nvSpPr>
        <p:spPr>
          <a:xfrm xmlns:a="http://schemas.openxmlformats.org/drawingml/2006/main">
            <a:off x="8077200" y="35433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Does it create a decision?</a:t>
            </a:r>
          </a:p>
        </p:txBody>
      </p:sp>
      <p:sp>
        <p:nvSpPr>
          <p:cNvPr id="20" name="">
            <a:extLst xmlns:a="http://schemas.openxmlformats.org/drawingml/2006/main">
              <a:ext uri="{FF2B5EF4-FFF2-40B4-BE49-F238E27FC236}">
                <a16:creationId xmlns:a16="http://schemas.microsoft.com/office/drawing/2014/main" id="{01AF61A9-4419-44C4-8EA1-CB51F6C62880}"/>
              </a:ext>
            </a:extLst>
          </p:cNvPr>
          <p:cNvSpPr>
            <a:spLocks xmlns:a="http://schemas.openxmlformats.org/drawingml/2006/main" noGrp="1"/>
          </p:cNvSpPr>
          <p:nvPr/>
        </p:nvSpPr>
        <p:spPr>
          <a:xfrm xmlns:a="http://schemas.openxmlformats.org/drawingml/2006/main">
            <a:off x="7620000" y="40576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1" name="">
            <a:extLst xmlns:a="http://schemas.openxmlformats.org/drawingml/2006/main">
              <a:ext uri="{FF2B5EF4-FFF2-40B4-BE49-F238E27FC236}">
                <a16:creationId xmlns:a16="http://schemas.microsoft.com/office/drawing/2014/main" id="{0051F183-AF90-4A13-AE32-4A37E11858CA}"/>
              </a:ext>
            </a:extLst>
          </p:cNvPr>
          <p:cNvSpPr>
            <a:spLocks xmlns:a="http://schemas.openxmlformats.org/drawingml/2006/main" noGrp="1"/>
          </p:cNvSpPr>
          <p:nvPr/>
        </p:nvSpPr>
        <p:spPr>
          <a:xfrm xmlns:a="http://schemas.openxmlformats.org/drawingml/2006/main">
            <a:off x="8077200" y="39624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Does it reduce WIP?</a:t>
            </a:r>
          </a:p>
        </p:txBody>
      </p:sp>
      <p:sp>
        <p:nvSpPr>
          <p:cNvPr id="22" name="">
            <a:extLst xmlns:a="http://schemas.openxmlformats.org/drawingml/2006/main">
              <a:ext uri="{FF2B5EF4-FFF2-40B4-BE49-F238E27FC236}">
                <a16:creationId xmlns:a16="http://schemas.microsoft.com/office/drawing/2014/main" id="{C605BC1F-1D88-4942-B270-560D98547EC5}"/>
              </a:ext>
            </a:extLst>
          </p:cNvPr>
          <p:cNvSpPr>
            <a:spLocks xmlns:a="http://schemas.openxmlformats.org/drawingml/2006/main" noGrp="1"/>
          </p:cNvSpPr>
          <p:nvPr/>
        </p:nvSpPr>
        <p:spPr>
          <a:xfrm xmlns:a="http://schemas.openxmlformats.org/drawingml/2006/main">
            <a:off x="7620000" y="44767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3" name="">
            <a:extLst xmlns:a="http://schemas.openxmlformats.org/drawingml/2006/main">
              <a:ext uri="{FF2B5EF4-FFF2-40B4-BE49-F238E27FC236}">
                <a16:creationId xmlns:a16="http://schemas.microsoft.com/office/drawing/2014/main" id="{2DD35CDF-CD9E-498F-B314-8ABF033F0D71}"/>
              </a:ext>
            </a:extLst>
          </p:cNvPr>
          <p:cNvSpPr>
            <a:spLocks xmlns:a="http://schemas.openxmlformats.org/drawingml/2006/main" noGrp="1"/>
          </p:cNvSpPr>
          <p:nvPr/>
        </p:nvSpPr>
        <p:spPr>
          <a:xfrm xmlns:a="http://schemas.openxmlformats.org/drawingml/2006/main">
            <a:off x="8077200" y="43815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Does it clarify ownership?</a:t>
            </a:r>
          </a:p>
        </p:txBody>
      </p:sp>
      <p:sp>
        <p:nvSpPr>
          <p:cNvPr id="24" name="">
            <a:extLst xmlns:a="http://schemas.openxmlformats.org/drawingml/2006/main">
              <a:ext uri="{FF2B5EF4-FFF2-40B4-BE49-F238E27FC236}">
                <a16:creationId xmlns:a16="http://schemas.microsoft.com/office/drawing/2014/main" id="{6FF4F0A0-D43E-4042-A284-67C54862489F}"/>
              </a:ext>
            </a:extLst>
          </p:cNvPr>
          <p:cNvSpPr>
            <a:spLocks xmlns:a="http://schemas.openxmlformats.org/drawingml/2006/main" noGrp="1"/>
          </p:cNvSpPr>
          <p:nvPr/>
        </p:nvSpPr>
        <p:spPr>
          <a:xfrm xmlns:a="http://schemas.openxmlformats.org/drawingml/2006/main">
            <a:off x="7620000" y="48958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5" name="">
            <a:extLst xmlns:a="http://schemas.openxmlformats.org/drawingml/2006/main">
              <a:ext uri="{FF2B5EF4-FFF2-40B4-BE49-F238E27FC236}">
                <a16:creationId xmlns:a16="http://schemas.microsoft.com/office/drawing/2014/main" id="{D1556483-24D7-40FF-8DBC-8F21B1E5FA33}"/>
              </a:ext>
            </a:extLst>
          </p:cNvPr>
          <p:cNvSpPr>
            <a:spLocks xmlns:a="http://schemas.openxmlformats.org/drawingml/2006/main" noGrp="1"/>
          </p:cNvSpPr>
          <p:nvPr/>
        </p:nvSpPr>
        <p:spPr>
          <a:xfrm xmlns:a="http://schemas.openxmlformats.org/drawingml/2006/main">
            <a:off x="8077200" y="48006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Does it speed feedback?</a:t>
            </a:r>
          </a:p>
        </p:txBody>
      </p:sp>
    </p:spTree>
    <p:extLst>
      <p:ext uri="{BB962C8B-B14F-4D97-AF65-F5344CB8AC3E}">
        <p14:creationId xmlns:p14="http://schemas.microsoft.com/office/powerpoint/2010/main" val="19997221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1A4F1F9-5A46-4C1E-84B9-474DFDE7CDDB}"/>
              </a:ext>
            </a:extLst>
          </p:cNvPr>
          <p:cNvSpPr>
            <a:spLocks xmlns:a="http://schemas.openxmlformats.org/drawingml/2006/main" noGrp="1"/>
          </p:cNvSpPr>
          <p:nvPr/>
        </p:nvSpPr>
        <p:spPr>
          <a:xfrm xmlns:a="http://schemas.openxmlformats.org/drawingml/2006/main">
            <a:off x="514350" y="38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65656"/>
                </a:solidFill>
              </a:defRPr>
            </a:pPr>
            <a:r>
              <a:rPr sz="1050" b="1">
                <a:solidFill>
                  <a:srgbClr val="565656"/>
                </a:solidFill>
              </a:rPr>
              <a:t>CHAPTER 5</a:t>
            </a:r>
          </a:p>
        </p:txBody>
      </p:sp>
      <p:sp>
        <p:nvSpPr>
          <p:cNvPr id="2" name="">
            <a:extLst xmlns:a="http://schemas.openxmlformats.org/drawingml/2006/main">
              <a:ext uri="{FF2B5EF4-FFF2-40B4-BE49-F238E27FC236}">
                <a16:creationId xmlns:a16="http://schemas.microsoft.com/office/drawing/2014/main" id="{29A0E788-6DCE-4FC3-A240-EC590A74B431}"/>
              </a:ext>
            </a:extLst>
          </p:cNvPr>
          <p:cNvSpPr>
            <a:spLocks xmlns:a="http://schemas.openxmlformats.org/drawingml/2006/main" noGrp="1"/>
          </p:cNvSpPr>
          <p:nvPr/>
        </p:nvSpPr>
        <p:spPr>
          <a:xfrm xmlns:a="http://schemas.openxmlformats.org/drawingml/2006/main">
            <a:off x="514350" y="800100"/>
            <a:ext cx="742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defRPr>
            </a:pPr>
            <a:r>
              <a:rPr sz="3150" b="1">
                <a:solidFill>
                  <a:srgbClr val="111111"/>
                </a:solidFill>
              </a:rPr>
              <a:t>The market is not replacing one framework with another; it is recomposing</a:t>
            </a:r>
          </a:p>
        </p:txBody>
      </p:sp>
      <p:sp>
        <p:nvSpPr>
          <p:cNvPr id="3" name="">
            <a:extLst xmlns:a="http://schemas.openxmlformats.org/drawingml/2006/main">
              <a:ext uri="{FF2B5EF4-FFF2-40B4-BE49-F238E27FC236}">
                <a16:creationId xmlns:a16="http://schemas.microsoft.com/office/drawing/2014/main" id="{B3C6F8CC-AF43-49BA-91FA-40E647E6EE24}"/>
              </a:ext>
            </a:extLst>
          </p:cNvPr>
          <p:cNvSpPr>
            <a:spLocks xmlns:a="http://schemas.openxmlformats.org/drawingml/2006/main" noGrp="1"/>
          </p:cNvSpPr>
          <p:nvPr/>
        </p:nvSpPr>
        <p:spPr>
          <a:xfrm xmlns:a="http://schemas.openxmlformats.org/drawingml/2006/main">
            <a:off x="514350" y="1962150"/>
            <a:ext cx="733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65656"/>
                </a:solidFill>
              </a:defRPr>
            </a:pPr>
            <a:r>
              <a:rPr sz="1500" b="0">
                <a:solidFill>
                  <a:srgbClr val="565656"/>
                </a:solidFill>
              </a:rPr>
              <a:t>The 2025-2026 trends point toward hybridization, product thinking, platforms, flow metrics and AI governance.</a:t>
            </a:r>
          </a:p>
        </p:txBody>
      </p:sp>
      <p:sp>
        <p:nvSpPr>
          <p:cNvPr id="4" name="">
            <a:extLst xmlns:a="http://schemas.openxmlformats.org/drawingml/2006/main">
              <a:ext uri="{FF2B5EF4-FFF2-40B4-BE49-F238E27FC236}">
                <a16:creationId xmlns:a16="http://schemas.microsoft.com/office/drawing/2014/main" id="{9E5712F4-A295-4BE8-A9D9-43A7BE1DC7B5}"/>
              </a:ext>
            </a:extLst>
          </p:cNvPr>
          <p:cNvSpPr>
            <a:spLocks xmlns:a="http://schemas.openxmlformats.org/drawingml/2006/main" noGrp="1"/>
          </p:cNvSpPr>
          <p:nvPr/>
        </p:nvSpPr>
        <p:spPr>
          <a:xfrm xmlns:a="http://schemas.openxmlformats.org/drawingml/2006/main">
            <a:off x="514350" y="6191250"/>
            <a:ext cx="111633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
            <a:extLst xmlns:a="http://schemas.openxmlformats.org/drawingml/2006/main">
              <a:ext uri="{FF2B5EF4-FFF2-40B4-BE49-F238E27FC236}">
                <a16:creationId xmlns:a16="http://schemas.microsoft.com/office/drawing/2014/main" id="{AB309BEC-B6C7-4E51-AC6F-3856E4149A20}"/>
              </a:ext>
            </a:extLst>
          </p:cNvPr>
          <p:cNvSpPr>
            <a:spLocks xmlns:a="http://schemas.openxmlformats.org/drawingml/2006/main" noGrp="1"/>
          </p:cNvSpPr>
          <p:nvPr/>
        </p:nvSpPr>
        <p:spPr>
          <a:xfrm xmlns:a="http://schemas.openxmlformats.org/drawingml/2006/main">
            <a:off x="514350" y="6305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65656"/>
                </a:solidFill>
              </a:defRPr>
            </a:pPr>
            <a:r>
              <a:rPr sz="975" b="0">
                <a:solidFill>
                  <a:srgbClr val="565656"/>
                </a:solidFill>
              </a:rPr>
              <a:t>Rethinking large-scale software coordination</a:t>
            </a:r>
          </a:p>
        </p:txBody>
      </p:sp>
      <p:sp>
        <p:nvSpPr>
          <p:cNvPr id="6" name="">
            <a:extLst xmlns:a="http://schemas.openxmlformats.org/drawingml/2006/main">
              <a:ext uri="{FF2B5EF4-FFF2-40B4-BE49-F238E27FC236}">
                <a16:creationId xmlns:a16="http://schemas.microsoft.com/office/drawing/2014/main" id="{9E9F8D5E-7FC8-49EF-9DB6-04D2828F311E}"/>
              </a:ext>
            </a:extLst>
          </p:cNvPr>
          <p:cNvSpPr>
            <a:spLocks xmlns:a="http://schemas.openxmlformats.org/drawingml/2006/main" noGrp="1"/>
          </p:cNvSpPr>
          <p:nvPr/>
        </p:nvSpPr>
        <p:spPr>
          <a:xfrm xmlns:a="http://schemas.openxmlformats.org/drawingml/2006/main">
            <a:off x="11258550" y="63055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65656"/>
                </a:solidFill>
              </a:defRPr>
            </a:pPr>
            <a:r>
              <a:rPr sz="975" b="0">
                <a:solidFill>
                  <a:srgbClr val="565656"/>
                </a:solidFill>
              </a:rPr>
              <a:t>06</a:t>
            </a:r>
          </a:p>
        </p:txBody>
      </p:sp>
      <p:sp>
        <p:nvSpPr>
          <p:cNvPr id="7" name="">
            <a:extLst xmlns:a="http://schemas.openxmlformats.org/drawingml/2006/main">
              <a:ext uri="{FF2B5EF4-FFF2-40B4-BE49-F238E27FC236}">
                <a16:creationId xmlns:a16="http://schemas.microsoft.com/office/drawing/2014/main" id="{8EFB7A24-3276-42E1-94AC-BA7003B84508}"/>
              </a:ext>
            </a:extLst>
          </p:cNvPr>
          <p:cNvSpPr>
            <a:spLocks xmlns:a="http://schemas.openxmlformats.org/drawingml/2006/main" noGrp="1"/>
          </p:cNvSpPr>
          <p:nvPr/>
        </p:nvSpPr>
        <p:spPr>
          <a:xfrm xmlns:a="http://schemas.openxmlformats.org/drawingml/2006/main">
            <a:off x="8420100" y="495300"/>
            <a:ext cx="2857500" cy="2667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8" name="">
            <a:extLst xmlns:a="http://schemas.openxmlformats.org/drawingml/2006/main">
              <a:ext uri="{FF2B5EF4-FFF2-40B4-BE49-F238E27FC236}">
                <a16:creationId xmlns:a16="http://schemas.microsoft.com/office/drawing/2014/main" id="{706A67FC-347D-4F02-B72A-0E52097AA47E}"/>
              </a:ext>
            </a:extLst>
          </p:cNvPr>
          <p:cNvSpPr>
            <a:spLocks xmlns:a="http://schemas.openxmlformats.org/drawingml/2006/main" noGrp="1"/>
          </p:cNvSpPr>
          <p:nvPr/>
        </p:nvSpPr>
        <p:spPr>
          <a:xfrm xmlns:a="http://schemas.openxmlformats.org/drawingml/2006/main">
            <a:off x="8515350" y="5429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defRPr>
            </a:pPr>
            <a:r>
              <a:rPr sz="975" b="1">
                <a:solidFill>
                  <a:srgbClr val="FFFFFF"/>
                </a:solidFill>
              </a:rPr>
              <a:t>Trends</a:t>
            </a:r>
          </a:p>
        </p:txBody>
      </p:sp>
      <p:sp>
        <p:nvSpPr>
          <p:cNvPr id="9" name="">
            <a:extLst xmlns:a="http://schemas.openxmlformats.org/drawingml/2006/main">
              <a:ext uri="{FF2B5EF4-FFF2-40B4-BE49-F238E27FC236}">
                <a16:creationId xmlns:a16="http://schemas.microsoft.com/office/drawing/2014/main" id="{64FFA2D7-1F43-4C63-94AE-C6E10A489D7F}"/>
              </a:ext>
            </a:extLst>
          </p:cNvPr>
          <p:cNvSpPr>
            <a:spLocks xmlns:a="http://schemas.openxmlformats.org/drawingml/2006/main" noGrp="1"/>
          </p:cNvSpPr>
          <p:nvPr/>
        </p:nvSpPr>
        <p:spPr>
          <a:xfrm xmlns:a="http://schemas.openxmlformats.org/drawingml/2006/main">
            <a:off x="7334250" y="2876550"/>
            <a:ext cx="3905250" cy="2400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0" name="">
            <a:extLst xmlns:a="http://schemas.openxmlformats.org/drawingml/2006/main">
              <a:ext uri="{FF2B5EF4-FFF2-40B4-BE49-F238E27FC236}">
                <a16:creationId xmlns:a16="http://schemas.microsoft.com/office/drawing/2014/main" id="{066F3B46-2D13-457D-9675-4292611E1CE2}"/>
              </a:ext>
            </a:extLst>
          </p:cNvPr>
          <p:cNvSpPr>
            <a:spLocks xmlns:a="http://schemas.openxmlformats.org/drawingml/2006/main" noGrp="1"/>
          </p:cNvSpPr>
          <p:nvPr/>
        </p:nvSpPr>
        <p:spPr>
          <a:xfrm xmlns:a="http://schemas.openxmlformats.org/drawingml/2006/main">
            <a:off x="514350" y="3009900"/>
            <a:ext cx="6000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1111"/>
                </a:solidFill>
              </a:defRPr>
            </a:pPr>
            <a:r>
              <a:rPr sz="2250" b="1">
                <a:solidFill>
                  <a:srgbClr val="111111"/>
                </a:solidFill>
              </a:rPr>
              <a:t>Organizations are mostly abandoning the belief that a framework is enough.</a:t>
            </a:r>
          </a:p>
        </p:txBody>
      </p:sp>
      <p:sp>
        <p:nvSpPr>
          <p:cNvPr id="11" name="">
            <a:extLst xmlns:a="http://schemas.openxmlformats.org/drawingml/2006/main">
              <a:ext uri="{FF2B5EF4-FFF2-40B4-BE49-F238E27FC236}">
                <a16:creationId xmlns:a16="http://schemas.microsoft.com/office/drawing/2014/main" id="{B610D1DF-23EF-4308-BDF0-CDC91659E5DA}"/>
              </a:ext>
            </a:extLst>
          </p:cNvPr>
          <p:cNvSpPr>
            <a:spLocks xmlns:a="http://schemas.openxmlformats.org/drawingml/2006/main" noGrp="1"/>
          </p:cNvSpPr>
          <p:nvPr/>
        </p:nvSpPr>
        <p:spPr>
          <a:xfrm xmlns:a="http://schemas.openxmlformats.org/drawingml/2006/main">
            <a:off x="514350" y="40100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1</a:t>
            </a:r>
          </a:p>
        </p:txBody>
      </p:sp>
      <p:sp>
        <p:nvSpPr>
          <p:cNvPr id="12" name="">
            <a:extLst xmlns:a="http://schemas.openxmlformats.org/drawingml/2006/main">
              <a:ext uri="{FF2B5EF4-FFF2-40B4-BE49-F238E27FC236}">
                <a16:creationId xmlns:a16="http://schemas.microsoft.com/office/drawing/2014/main" id="{F9D79806-A11D-44F7-AAC7-34626DE0E759}"/>
              </a:ext>
            </a:extLst>
          </p:cNvPr>
          <p:cNvSpPr>
            <a:spLocks xmlns:a="http://schemas.openxmlformats.org/drawingml/2006/main" noGrp="1"/>
          </p:cNvSpPr>
          <p:nvPr/>
        </p:nvSpPr>
        <p:spPr>
          <a:xfrm xmlns:a="http://schemas.openxmlformats.org/drawingml/2006/main">
            <a:off x="914400" y="40005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Hybrid and internal models are becoming normal in large organizations.</a:t>
            </a:r>
          </a:p>
        </p:txBody>
      </p:sp>
      <p:sp>
        <p:nvSpPr>
          <p:cNvPr id="13" name="">
            <a:extLst xmlns:a="http://schemas.openxmlformats.org/drawingml/2006/main">
              <a:ext uri="{FF2B5EF4-FFF2-40B4-BE49-F238E27FC236}">
                <a16:creationId xmlns:a16="http://schemas.microsoft.com/office/drawing/2014/main" id="{0525DB4E-D2B2-46BE-A36C-063211E474EC}"/>
              </a:ext>
            </a:extLst>
          </p:cNvPr>
          <p:cNvSpPr>
            <a:spLocks xmlns:a="http://schemas.openxmlformats.org/drawingml/2006/main" noGrp="1"/>
          </p:cNvSpPr>
          <p:nvPr/>
        </p:nvSpPr>
        <p:spPr>
          <a:xfrm xmlns:a="http://schemas.openxmlformats.org/drawingml/2006/main">
            <a:off x="514350" y="45243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2</a:t>
            </a:r>
          </a:p>
        </p:txBody>
      </p:sp>
      <p:sp>
        <p:nvSpPr>
          <p:cNvPr id="14" name="">
            <a:extLst xmlns:a="http://schemas.openxmlformats.org/drawingml/2006/main">
              <a:ext uri="{FF2B5EF4-FFF2-40B4-BE49-F238E27FC236}">
                <a16:creationId xmlns:a16="http://schemas.microsoft.com/office/drawing/2014/main" id="{81F76545-C8D3-4D3D-9BDA-7EB64B6201C8}"/>
              </a:ext>
            </a:extLst>
          </p:cNvPr>
          <p:cNvSpPr>
            <a:spLocks xmlns:a="http://schemas.openxmlformats.org/drawingml/2006/main" noGrp="1"/>
          </p:cNvSpPr>
          <p:nvPr/>
        </p:nvSpPr>
        <p:spPr>
          <a:xfrm xmlns:a="http://schemas.openxmlformats.org/drawingml/2006/main">
            <a:off x="914400" y="451485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Attention is shifting to the delivery system: flow, quality, platforms and stable priorities.</a:t>
            </a:r>
          </a:p>
        </p:txBody>
      </p:sp>
      <p:sp>
        <p:nvSpPr>
          <p:cNvPr id="15" name="">
            <a:extLst xmlns:a="http://schemas.openxmlformats.org/drawingml/2006/main">
              <a:ext uri="{FF2B5EF4-FFF2-40B4-BE49-F238E27FC236}">
                <a16:creationId xmlns:a16="http://schemas.microsoft.com/office/drawing/2014/main" id="{CD5ED96E-9509-48E6-98E3-F16202C27849}"/>
              </a:ext>
            </a:extLst>
          </p:cNvPr>
          <p:cNvSpPr>
            <a:spLocks xmlns:a="http://schemas.openxmlformats.org/drawingml/2006/main" noGrp="1"/>
          </p:cNvSpPr>
          <p:nvPr/>
        </p:nvSpPr>
        <p:spPr>
          <a:xfrm xmlns:a="http://schemas.openxmlformats.org/drawingml/2006/main">
            <a:off x="514350" y="5038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3</a:t>
            </a:r>
          </a:p>
        </p:txBody>
      </p:sp>
      <p:sp>
        <p:nvSpPr>
          <p:cNvPr id="16" name="">
            <a:extLst xmlns:a="http://schemas.openxmlformats.org/drawingml/2006/main">
              <a:ext uri="{FF2B5EF4-FFF2-40B4-BE49-F238E27FC236}">
                <a16:creationId xmlns:a16="http://schemas.microsoft.com/office/drawing/2014/main" id="{ABD5B6DD-8BC2-4E80-935A-F04341035176}"/>
              </a:ext>
            </a:extLst>
          </p:cNvPr>
          <p:cNvSpPr>
            <a:spLocks xmlns:a="http://schemas.openxmlformats.org/drawingml/2006/main" noGrp="1"/>
          </p:cNvSpPr>
          <p:nvPr/>
        </p:nvSpPr>
        <p:spPr>
          <a:xfrm xmlns:a="http://schemas.openxmlformats.org/drawingml/2006/main">
            <a:off x="914400" y="50292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AI accelerates local work but increases the need for verification, traceability and governance.</a:t>
            </a:r>
          </a:p>
        </p:txBody>
      </p:sp>
      <p:sp>
        <p:nvSpPr>
          <p:cNvPr id="17" name="">
            <a:extLst xmlns:a="http://schemas.openxmlformats.org/drawingml/2006/main">
              <a:ext uri="{FF2B5EF4-FFF2-40B4-BE49-F238E27FC236}">
                <a16:creationId xmlns:a16="http://schemas.microsoft.com/office/drawing/2014/main" id="{C3EC1EE0-2534-4DE2-9A93-7C5BE1356F19}"/>
              </a:ext>
            </a:extLst>
          </p:cNvPr>
          <p:cNvSpPr>
            <a:spLocks xmlns:a="http://schemas.openxmlformats.org/drawingml/2006/main" noGrp="1"/>
          </p:cNvSpPr>
          <p:nvPr/>
        </p:nvSpPr>
        <p:spPr>
          <a:xfrm xmlns:a="http://schemas.openxmlformats.org/drawingml/2006/main">
            <a:off x="7620000" y="31051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What is receding</a:t>
            </a:r>
          </a:p>
        </p:txBody>
      </p:sp>
      <p:sp>
        <p:nvSpPr>
          <p:cNvPr id="18" name="">
            <a:extLst xmlns:a="http://schemas.openxmlformats.org/drawingml/2006/main">
              <a:ext uri="{FF2B5EF4-FFF2-40B4-BE49-F238E27FC236}">
                <a16:creationId xmlns:a16="http://schemas.microsoft.com/office/drawing/2014/main" id="{9F86899A-5393-47AA-A21F-0D7115AAAFE6}"/>
              </a:ext>
            </a:extLst>
          </p:cNvPr>
          <p:cNvSpPr>
            <a:spLocks xmlns:a="http://schemas.openxmlformats.org/drawingml/2006/main" noGrp="1"/>
          </p:cNvSpPr>
          <p:nvPr/>
        </p:nvSpPr>
        <p:spPr>
          <a:xfrm xmlns:a="http://schemas.openxmlformats.org/drawingml/2006/main">
            <a:off x="7620000" y="3638550"/>
            <a:ext cx="342900" cy="381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19" name="">
            <a:extLst xmlns:a="http://schemas.openxmlformats.org/drawingml/2006/main">
              <a:ext uri="{FF2B5EF4-FFF2-40B4-BE49-F238E27FC236}">
                <a16:creationId xmlns:a16="http://schemas.microsoft.com/office/drawing/2014/main" id="{9CD18B24-F94D-4FC2-A66F-49F83D202D20}"/>
              </a:ext>
            </a:extLst>
          </p:cNvPr>
          <p:cNvSpPr>
            <a:spLocks xmlns:a="http://schemas.openxmlformats.org/drawingml/2006/main" noGrp="1"/>
          </p:cNvSpPr>
          <p:nvPr/>
        </p:nvSpPr>
        <p:spPr>
          <a:xfrm xmlns:a="http://schemas.openxmlformats.org/drawingml/2006/main">
            <a:off x="8077200" y="35433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Total framework</a:t>
            </a:r>
          </a:p>
        </p:txBody>
      </p:sp>
      <p:sp>
        <p:nvSpPr>
          <p:cNvPr id="20" name="">
            <a:extLst xmlns:a="http://schemas.openxmlformats.org/drawingml/2006/main">
              <a:ext uri="{FF2B5EF4-FFF2-40B4-BE49-F238E27FC236}">
                <a16:creationId xmlns:a16="http://schemas.microsoft.com/office/drawing/2014/main" id="{FA075F37-147E-41A3-B0C8-9FBA9F6F960C}"/>
              </a:ext>
            </a:extLst>
          </p:cNvPr>
          <p:cNvSpPr>
            <a:spLocks xmlns:a="http://schemas.openxmlformats.org/drawingml/2006/main" noGrp="1"/>
          </p:cNvSpPr>
          <p:nvPr/>
        </p:nvSpPr>
        <p:spPr>
          <a:xfrm xmlns:a="http://schemas.openxmlformats.org/drawingml/2006/main">
            <a:off x="7620000" y="40576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1" name="">
            <a:extLst xmlns:a="http://schemas.openxmlformats.org/drawingml/2006/main">
              <a:ext uri="{FF2B5EF4-FFF2-40B4-BE49-F238E27FC236}">
                <a16:creationId xmlns:a16="http://schemas.microsoft.com/office/drawing/2014/main" id="{33909E5B-7505-4BDC-A884-83D3D015C772}"/>
              </a:ext>
            </a:extLst>
          </p:cNvPr>
          <p:cNvSpPr>
            <a:spLocks xmlns:a="http://schemas.openxmlformats.org/drawingml/2006/main" noGrp="1"/>
          </p:cNvSpPr>
          <p:nvPr/>
        </p:nvSpPr>
        <p:spPr>
          <a:xfrm xmlns:a="http://schemas.openxmlformats.org/drawingml/2006/main">
            <a:off x="8077200" y="39624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Activity metrics</a:t>
            </a:r>
          </a:p>
        </p:txBody>
      </p:sp>
      <p:sp>
        <p:nvSpPr>
          <p:cNvPr id="22" name="">
            <a:extLst xmlns:a="http://schemas.openxmlformats.org/drawingml/2006/main">
              <a:ext uri="{FF2B5EF4-FFF2-40B4-BE49-F238E27FC236}">
                <a16:creationId xmlns:a16="http://schemas.microsoft.com/office/drawing/2014/main" id="{4D27C63A-39A3-49EA-A9D1-C020E06A5D98}"/>
              </a:ext>
            </a:extLst>
          </p:cNvPr>
          <p:cNvSpPr>
            <a:spLocks xmlns:a="http://schemas.openxmlformats.org/drawingml/2006/main" noGrp="1"/>
          </p:cNvSpPr>
          <p:nvPr/>
        </p:nvSpPr>
        <p:spPr>
          <a:xfrm xmlns:a="http://schemas.openxmlformats.org/drawingml/2006/main">
            <a:off x="7620000" y="44767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3" name="">
            <a:extLst xmlns:a="http://schemas.openxmlformats.org/drawingml/2006/main">
              <a:ext uri="{FF2B5EF4-FFF2-40B4-BE49-F238E27FC236}">
                <a16:creationId xmlns:a16="http://schemas.microsoft.com/office/drawing/2014/main" id="{A88DA3D6-9092-40A4-B90B-0F3A39D40063}"/>
              </a:ext>
            </a:extLst>
          </p:cNvPr>
          <p:cNvSpPr>
            <a:spLocks xmlns:a="http://schemas.openxmlformats.org/drawingml/2006/main" noGrp="1"/>
          </p:cNvSpPr>
          <p:nvPr/>
        </p:nvSpPr>
        <p:spPr>
          <a:xfrm xmlns:a="http://schemas.openxmlformats.org/drawingml/2006/main">
            <a:off x="8077200" y="43815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Autonomy without interfaces</a:t>
            </a:r>
          </a:p>
        </p:txBody>
      </p:sp>
      <p:sp>
        <p:nvSpPr>
          <p:cNvPr id="24" name="">
            <a:extLst xmlns:a="http://schemas.openxmlformats.org/drawingml/2006/main">
              <a:ext uri="{FF2B5EF4-FFF2-40B4-BE49-F238E27FC236}">
                <a16:creationId xmlns:a16="http://schemas.microsoft.com/office/drawing/2014/main" id="{F413C005-E77D-4E3B-9A80-4D749FBF427A}"/>
              </a:ext>
            </a:extLst>
          </p:cNvPr>
          <p:cNvSpPr>
            <a:spLocks xmlns:a="http://schemas.openxmlformats.org/drawingml/2006/main" noGrp="1"/>
          </p:cNvSpPr>
          <p:nvPr/>
        </p:nvSpPr>
        <p:spPr>
          <a:xfrm xmlns:a="http://schemas.openxmlformats.org/drawingml/2006/main">
            <a:off x="7620000" y="48958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5" name="">
            <a:extLst xmlns:a="http://schemas.openxmlformats.org/drawingml/2006/main">
              <a:ext uri="{FF2B5EF4-FFF2-40B4-BE49-F238E27FC236}">
                <a16:creationId xmlns:a16="http://schemas.microsoft.com/office/drawing/2014/main" id="{2278A3CE-040F-497C-9D45-276031DF6F15}"/>
              </a:ext>
            </a:extLst>
          </p:cNvPr>
          <p:cNvSpPr>
            <a:spLocks xmlns:a="http://schemas.openxmlformats.org/drawingml/2006/main" noGrp="1"/>
          </p:cNvSpPr>
          <p:nvPr/>
        </p:nvSpPr>
        <p:spPr>
          <a:xfrm xmlns:a="http://schemas.openxmlformats.org/drawingml/2006/main">
            <a:off x="8077200" y="48006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Ceremonies without effect</a:t>
            </a:r>
          </a:p>
        </p:txBody>
      </p:sp>
    </p:spTree>
    <p:extLst>
      <p:ext uri="{BB962C8B-B14F-4D97-AF65-F5344CB8AC3E}">
        <p14:creationId xmlns:p14="http://schemas.microsoft.com/office/powerpoint/2010/main" val="15400872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D361536-F6DF-4D24-9469-6F16C4735EE1}"/>
              </a:ext>
            </a:extLst>
          </p:cNvPr>
          <p:cNvSpPr>
            <a:spLocks xmlns:a="http://schemas.openxmlformats.org/drawingml/2006/main" noGrp="1"/>
          </p:cNvSpPr>
          <p:nvPr/>
        </p:nvSpPr>
        <p:spPr>
          <a:xfrm xmlns:a="http://schemas.openxmlformats.org/drawingml/2006/main">
            <a:off x="514350" y="38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65656"/>
                </a:solidFill>
              </a:defRPr>
            </a:pPr>
            <a:r>
              <a:rPr sz="1050" b="1">
                <a:solidFill>
                  <a:srgbClr val="565656"/>
                </a:solidFill>
              </a:rPr>
              <a:t>CHAPTER 6</a:t>
            </a:r>
          </a:p>
        </p:txBody>
      </p:sp>
      <p:sp>
        <p:nvSpPr>
          <p:cNvPr id="2" name="">
            <a:extLst xmlns:a="http://schemas.openxmlformats.org/drawingml/2006/main">
              <a:ext uri="{FF2B5EF4-FFF2-40B4-BE49-F238E27FC236}">
                <a16:creationId xmlns:a16="http://schemas.microsoft.com/office/drawing/2014/main" id="{45A3392A-B73A-485A-B9CE-A549065644E9}"/>
              </a:ext>
            </a:extLst>
          </p:cNvPr>
          <p:cNvSpPr>
            <a:spLocks xmlns:a="http://schemas.openxmlformats.org/drawingml/2006/main" noGrp="1"/>
          </p:cNvSpPr>
          <p:nvPr/>
        </p:nvSpPr>
        <p:spPr>
          <a:xfrm xmlns:a="http://schemas.openxmlformats.org/drawingml/2006/main">
            <a:off x="514350" y="800100"/>
            <a:ext cx="742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defRPr>
            </a:pPr>
            <a:r>
              <a:rPr sz="3150" b="1">
                <a:solidFill>
                  <a:srgbClr val="111111"/>
                </a:solidFill>
              </a:rPr>
              <a:t>Reconstruction starts with one rule: reduce coordination before organizing it</a:t>
            </a:r>
          </a:p>
        </p:txBody>
      </p:sp>
      <p:sp>
        <p:nvSpPr>
          <p:cNvPr id="3" name="">
            <a:extLst xmlns:a="http://schemas.openxmlformats.org/drawingml/2006/main">
              <a:ext uri="{FF2B5EF4-FFF2-40B4-BE49-F238E27FC236}">
                <a16:creationId xmlns:a16="http://schemas.microsoft.com/office/drawing/2014/main" id="{1505612A-E599-4A66-A5EB-AAD3637BCE40}"/>
              </a:ext>
            </a:extLst>
          </p:cNvPr>
          <p:cNvSpPr>
            <a:spLocks xmlns:a="http://schemas.openxmlformats.org/drawingml/2006/main" noGrp="1"/>
          </p:cNvSpPr>
          <p:nvPr/>
        </p:nvSpPr>
        <p:spPr>
          <a:xfrm xmlns:a="http://schemas.openxmlformats.org/drawingml/2006/main">
            <a:off x="514350" y="1962150"/>
            <a:ext cx="733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65656"/>
                </a:solidFill>
              </a:defRPr>
            </a:pPr>
            <a:r>
              <a:rPr sz="1500" b="0">
                <a:solidFill>
                  <a:srgbClr val="565656"/>
                </a:solidFill>
              </a:rPr>
              <a:t>The minimal model is not looking for less structure in general, but for a more accurate structure.</a:t>
            </a:r>
          </a:p>
        </p:txBody>
      </p:sp>
      <p:sp>
        <p:nvSpPr>
          <p:cNvPr id="4" name="">
            <a:extLst xmlns:a="http://schemas.openxmlformats.org/drawingml/2006/main">
              <a:ext uri="{FF2B5EF4-FFF2-40B4-BE49-F238E27FC236}">
                <a16:creationId xmlns:a16="http://schemas.microsoft.com/office/drawing/2014/main" id="{1707C013-5C1D-44E6-BC0D-C3D2FC05BA94}"/>
              </a:ext>
            </a:extLst>
          </p:cNvPr>
          <p:cNvSpPr>
            <a:spLocks xmlns:a="http://schemas.openxmlformats.org/drawingml/2006/main" noGrp="1"/>
          </p:cNvSpPr>
          <p:nvPr/>
        </p:nvSpPr>
        <p:spPr>
          <a:xfrm xmlns:a="http://schemas.openxmlformats.org/drawingml/2006/main">
            <a:off x="514350" y="6191250"/>
            <a:ext cx="111633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
            <a:extLst xmlns:a="http://schemas.openxmlformats.org/drawingml/2006/main">
              <a:ext uri="{FF2B5EF4-FFF2-40B4-BE49-F238E27FC236}">
                <a16:creationId xmlns:a16="http://schemas.microsoft.com/office/drawing/2014/main" id="{9EB54201-90CB-4AAF-9485-A7020A586348}"/>
              </a:ext>
            </a:extLst>
          </p:cNvPr>
          <p:cNvSpPr>
            <a:spLocks xmlns:a="http://schemas.openxmlformats.org/drawingml/2006/main" noGrp="1"/>
          </p:cNvSpPr>
          <p:nvPr/>
        </p:nvSpPr>
        <p:spPr>
          <a:xfrm xmlns:a="http://schemas.openxmlformats.org/drawingml/2006/main">
            <a:off x="514350" y="6305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65656"/>
                </a:solidFill>
              </a:defRPr>
            </a:pPr>
            <a:r>
              <a:rPr sz="975" b="0">
                <a:solidFill>
                  <a:srgbClr val="565656"/>
                </a:solidFill>
              </a:rPr>
              <a:t>Rethinking large-scale software coordination</a:t>
            </a:r>
          </a:p>
        </p:txBody>
      </p:sp>
      <p:sp>
        <p:nvSpPr>
          <p:cNvPr id="6" name="">
            <a:extLst xmlns:a="http://schemas.openxmlformats.org/drawingml/2006/main">
              <a:ext uri="{FF2B5EF4-FFF2-40B4-BE49-F238E27FC236}">
                <a16:creationId xmlns:a16="http://schemas.microsoft.com/office/drawing/2014/main" id="{9F1A4E7F-5120-4D81-9FA3-2E0749149616}"/>
              </a:ext>
            </a:extLst>
          </p:cNvPr>
          <p:cNvSpPr>
            <a:spLocks xmlns:a="http://schemas.openxmlformats.org/drawingml/2006/main" noGrp="1"/>
          </p:cNvSpPr>
          <p:nvPr/>
        </p:nvSpPr>
        <p:spPr>
          <a:xfrm xmlns:a="http://schemas.openxmlformats.org/drawingml/2006/main">
            <a:off x="11258550" y="63055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65656"/>
                </a:solidFill>
              </a:defRPr>
            </a:pPr>
            <a:r>
              <a:rPr sz="975" b="0">
                <a:solidFill>
                  <a:srgbClr val="565656"/>
                </a:solidFill>
              </a:rPr>
              <a:t>07</a:t>
            </a:r>
          </a:p>
        </p:txBody>
      </p:sp>
      <p:sp>
        <p:nvSpPr>
          <p:cNvPr id="7" name="">
            <a:extLst xmlns:a="http://schemas.openxmlformats.org/drawingml/2006/main">
              <a:ext uri="{FF2B5EF4-FFF2-40B4-BE49-F238E27FC236}">
                <a16:creationId xmlns:a16="http://schemas.microsoft.com/office/drawing/2014/main" id="{ABACBB8A-CABA-458F-99D2-732D9989EB46}"/>
              </a:ext>
            </a:extLst>
          </p:cNvPr>
          <p:cNvSpPr>
            <a:spLocks xmlns:a="http://schemas.openxmlformats.org/drawingml/2006/main" noGrp="1"/>
          </p:cNvSpPr>
          <p:nvPr/>
        </p:nvSpPr>
        <p:spPr>
          <a:xfrm xmlns:a="http://schemas.openxmlformats.org/drawingml/2006/main">
            <a:off x="8420100" y="495300"/>
            <a:ext cx="2857500" cy="2667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8" name="">
            <a:extLst xmlns:a="http://schemas.openxmlformats.org/drawingml/2006/main">
              <a:ext uri="{FF2B5EF4-FFF2-40B4-BE49-F238E27FC236}">
                <a16:creationId xmlns:a16="http://schemas.microsoft.com/office/drawing/2014/main" id="{53ACEBDF-D6C6-4E25-8328-B2B53F8BC4CF}"/>
              </a:ext>
            </a:extLst>
          </p:cNvPr>
          <p:cNvSpPr>
            <a:spLocks xmlns:a="http://schemas.openxmlformats.org/drawingml/2006/main" noGrp="1"/>
          </p:cNvSpPr>
          <p:nvPr/>
        </p:nvSpPr>
        <p:spPr>
          <a:xfrm xmlns:a="http://schemas.openxmlformats.org/drawingml/2006/main">
            <a:off x="8515350" y="5429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defRPr>
            </a:pPr>
            <a:r>
              <a:rPr sz="975" b="1">
                <a:solidFill>
                  <a:srgbClr val="FFFFFF"/>
                </a:solidFill>
              </a:rPr>
              <a:t>Reconstruction</a:t>
            </a:r>
          </a:p>
        </p:txBody>
      </p:sp>
      <p:sp>
        <p:nvSpPr>
          <p:cNvPr id="9" name="">
            <a:extLst xmlns:a="http://schemas.openxmlformats.org/drawingml/2006/main">
              <a:ext uri="{FF2B5EF4-FFF2-40B4-BE49-F238E27FC236}">
                <a16:creationId xmlns:a16="http://schemas.microsoft.com/office/drawing/2014/main" id="{385F0ADE-3386-4850-8940-8486FF701CB6}"/>
              </a:ext>
            </a:extLst>
          </p:cNvPr>
          <p:cNvSpPr>
            <a:spLocks xmlns:a="http://schemas.openxmlformats.org/drawingml/2006/main" noGrp="1"/>
          </p:cNvSpPr>
          <p:nvPr/>
        </p:nvSpPr>
        <p:spPr>
          <a:xfrm xmlns:a="http://schemas.openxmlformats.org/drawingml/2006/main">
            <a:off x="7334250" y="2876550"/>
            <a:ext cx="3905250" cy="2400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0" name="">
            <a:extLst xmlns:a="http://schemas.openxmlformats.org/drawingml/2006/main">
              <a:ext uri="{FF2B5EF4-FFF2-40B4-BE49-F238E27FC236}">
                <a16:creationId xmlns:a16="http://schemas.microsoft.com/office/drawing/2014/main" id="{B0E6E7D6-32ED-4BD0-8539-F977EBF7F70B}"/>
              </a:ext>
            </a:extLst>
          </p:cNvPr>
          <p:cNvSpPr>
            <a:spLocks xmlns:a="http://schemas.openxmlformats.org/drawingml/2006/main" noGrp="1"/>
          </p:cNvSpPr>
          <p:nvPr/>
        </p:nvSpPr>
        <p:spPr>
          <a:xfrm xmlns:a="http://schemas.openxmlformats.org/drawingml/2006/main">
            <a:off x="514350" y="3009900"/>
            <a:ext cx="6000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1111"/>
                </a:solidFill>
              </a:defRPr>
            </a:pPr>
            <a:r>
              <a:rPr sz="2250" b="1">
                <a:solidFill>
                  <a:srgbClr val="111111"/>
                </a:solidFill>
              </a:rPr>
              <a:t>The best coordination mechanism is the one that makes coordination unnecessary.</a:t>
            </a:r>
          </a:p>
        </p:txBody>
      </p:sp>
      <p:sp>
        <p:nvSpPr>
          <p:cNvPr id="11" name="">
            <a:extLst xmlns:a="http://schemas.openxmlformats.org/drawingml/2006/main">
              <a:ext uri="{FF2B5EF4-FFF2-40B4-BE49-F238E27FC236}">
                <a16:creationId xmlns:a16="http://schemas.microsoft.com/office/drawing/2014/main" id="{67DF151F-3488-4E9E-9658-86CD1FB47628}"/>
              </a:ext>
            </a:extLst>
          </p:cNvPr>
          <p:cNvSpPr>
            <a:spLocks xmlns:a="http://schemas.openxmlformats.org/drawingml/2006/main" noGrp="1"/>
          </p:cNvSpPr>
          <p:nvPr/>
        </p:nvSpPr>
        <p:spPr>
          <a:xfrm xmlns:a="http://schemas.openxmlformats.org/drawingml/2006/main">
            <a:off x="514350" y="40100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1</a:t>
            </a:r>
          </a:p>
        </p:txBody>
      </p:sp>
      <p:sp>
        <p:nvSpPr>
          <p:cNvPr id="12" name="">
            <a:extLst xmlns:a="http://schemas.openxmlformats.org/drawingml/2006/main">
              <a:ext uri="{FF2B5EF4-FFF2-40B4-BE49-F238E27FC236}">
                <a16:creationId xmlns:a16="http://schemas.microsoft.com/office/drawing/2014/main" id="{5EB55F29-BCA9-4990-8135-37B8D358E028}"/>
              </a:ext>
            </a:extLst>
          </p:cNvPr>
          <p:cNvSpPr>
            <a:spLocks xmlns:a="http://schemas.openxmlformats.org/drawingml/2006/main" noGrp="1"/>
          </p:cNvSpPr>
          <p:nvPr/>
        </p:nvSpPr>
        <p:spPr>
          <a:xfrm xmlns:a="http://schemas.openxmlformats.org/drawingml/2006/main">
            <a:off x="914400" y="40005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Reduce structural dependencies before planning them better.</a:t>
            </a:r>
          </a:p>
        </p:txBody>
      </p:sp>
      <p:sp>
        <p:nvSpPr>
          <p:cNvPr id="13" name="">
            <a:extLst xmlns:a="http://schemas.openxmlformats.org/drawingml/2006/main">
              <a:ext uri="{FF2B5EF4-FFF2-40B4-BE49-F238E27FC236}">
                <a16:creationId xmlns:a16="http://schemas.microsoft.com/office/drawing/2014/main" id="{60C6D39C-17C6-4DDA-9AC2-1F88F5E3C66B}"/>
              </a:ext>
            </a:extLst>
          </p:cNvPr>
          <p:cNvSpPr>
            <a:spLocks xmlns:a="http://schemas.openxmlformats.org/drawingml/2006/main" noGrp="1"/>
          </p:cNvSpPr>
          <p:nvPr/>
        </p:nvSpPr>
        <p:spPr>
          <a:xfrm xmlns:a="http://schemas.openxmlformats.org/drawingml/2006/main">
            <a:off x="514350" y="45243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2</a:t>
            </a:r>
          </a:p>
        </p:txBody>
      </p:sp>
      <p:sp>
        <p:nvSpPr>
          <p:cNvPr id="14" name="">
            <a:extLst xmlns:a="http://schemas.openxmlformats.org/drawingml/2006/main">
              <a:ext uri="{FF2B5EF4-FFF2-40B4-BE49-F238E27FC236}">
                <a16:creationId xmlns:a16="http://schemas.microsoft.com/office/drawing/2014/main" id="{7350849D-418A-4168-B01E-022B4C648850}"/>
              </a:ext>
            </a:extLst>
          </p:cNvPr>
          <p:cNvSpPr>
            <a:spLocks xmlns:a="http://schemas.openxmlformats.org/drawingml/2006/main" noGrp="1"/>
          </p:cNvSpPr>
          <p:nvPr/>
        </p:nvSpPr>
        <p:spPr>
          <a:xfrm xmlns:a="http://schemas.openxmlformats.org/drawingml/2006/main">
            <a:off x="914400" y="451485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Keep a small set of robust mechanisms: stable teams, ownership, limited portfolio, quality and platforms.</a:t>
            </a:r>
          </a:p>
        </p:txBody>
      </p:sp>
      <p:sp>
        <p:nvSpPr>
          <p:cNvPr id="15" name="">
            <a:extLst xmlns:a="http://schemas.openxmlformats.org/drawingml/2006/main">
              <a:ext uri="{FF2B5EF4-FFF2-40B4-BE49-F238E27FC236}">
                <a16:creationId xmlns:a16="http://schemas.microsoft.com/office/drawing/2014/main" id="{F52A3337-2DD6-4F9E-95BB-8EB2D769D541}"/>
              </a:ext>
            </a:extLst>
          </p:cNvPr>
          <p:cNvSpPr>
            <a:spLocks xmlns:a="http://schemas.openxmlformats.org/drawingml/2006/main" noGrp="1"/>
          </p:cNvSpPr>
          <p:nvPr/>
        </p:nvSpPr>
        <p:spPr>
          <a:xfrm xmlns:a="http://schemas.openxmlformats.org/drawingml/2006/main">
            <a:off x="514350" y="5038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3</a:t>
            </a:r>
          </a:p>
        </p:txBody>
      </p:sp>
      <p:sp>
        <p:nvSpPr>
          <p:cNvPr id="16" name="">
            <a:extLst xmlns:a="http://schemas.openxmlformats.org/drawingml/2006/main">
              <a:ext uri="{FF2B5EF4-FFF2-40B4-BE49-F238E27FC236}">
                <a16:creationId xmlns:a16="http://schemas.microsoft.com/office/drawing/2014/main" id="{16B44465-95B6-4DA7-9E49-782DF247788C}"/>
              </a:ext>
            </a:extLst>
          </p:cNvPr>
          <p:cNvSpPr>
            <a:spLocks xmlns:a="http://schemas.openxmlformats.org/drawingml/2006/main" noGrp="1"/>
          </p:cNvSpPr>
          <p:nvPr/>
        </p:nvSpPr>
        <p:spPr>
          <a:xfrm xmlns:a="http://schemas.openxmlformats.org/drawingml/2006/main">
            <a:off x="914400" y="50292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Remove forms that no longer produce decisions, feedback or risk reduction.</a:t>
            </a:r>
          </a:p>
        </p:txBody>
      </p:sp>
      <p:sp>
        <p:nvSpPr>
          <p:cNvPr id="17" name="">
            <a:extLst xmlns:a="http://schemas.openxmlformats.org/drawingml/2006/main">
              <a:ext uri="{FF2B5EF4-FFF2-40B4-BE49-F238E27FC236}">
                <a16:creationId xmlns:a16="http://schemas.microsoft.com/office/drawing/2014/main" id="{96BCC470-E798-4FF7-82B4-ACCA6D358633}"/>
              </a:ext>
            </a:extLst>
          </p:cNvPr>
          <p:cNvSpPr>
            <a:spLocks xmlns:a="http://schemas.openxmlformats.org/drawingml/2006/main" noGrp="1"/>
          </p:cNvSpPr>
          <p:nvPr/>
        </p:nvSpPr>
        <p:spPr>
          <a:xfrm xmlns:a="http://schemas.openxmlformats.org/drawingml/2006/main">
            <a:off x="7620000" y="31051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Operating system</a:t>
            </a:r>
          </a:p>
        </p:txBody>
      </p:sp>
      <p:sp>
        <p:nvSpPr>
          <p:cNvPr id="18" name="">
            <a:extLst xmlns:a="http://schemas.openxmlformats.org/drawingml/2006/main">
              <a:ext uri="{FF2B5EF4-FFF2-40B4-BE49-F238E27FC236}">
                <a16:creationId xmlns:a16="http://schemas.microsoft.com/office/drawing/2014/main" id="{C652B73F-4122-4024-B6FC-5F307EEF8F30}"/>
              </a:ext>
            </a:extLst>
          </p:cNvPr>
          <p:cNvSpPr>
            <a:spLocks xmlns:a="http://schemas.openxmlformats.org/drawingml/2006/main" noGrp="1"/>
          </p:cNvSpPr>
          <p:nvPr/>
        </p:nvSpPr>
        <p:spPr>
          <a:xfrm xmlns:a="http://schemas.openxmlformats.org/drawingml/2006/main">
            <a:off x="7620000" y="3638550"/>
            <a:ext cx="342900" cy="381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19" name="">
            <a:extLst xmlns:a="http://schemas.openxmlformats.org/drawingml/2006/main">
              <a:ext uri="{FF2B5EF4-FFF2-40B4-BE49-F238E27FC236}">
                <a16:creationId xmlns:a16="http://schemas.microsoft.com/office/drawing/2014/main" id="{BBDE2049-F1FB-424A-BC61-BC94CC367017}"/>
              </a:ext>
            </a:extLst>
          </p:cNvPr>
          <p:cNvSpPr>
            <a:spLocks xmlns:a="http://schemas.openxmlformats.org/drawingml/2006/main" noGrp="1"/>
          </p:cNvSpPr>
          <p:nvPr/>
        </p:nvSpPr>
        <p:spPr>
          <a:xfrm xmlns:a="http://schemas.openxmlformats.org/drawingml/2006/main">
            <a:off x="8077200" y="35433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Direction</a:t>
            </a:r>
          </a:p>
        </p:txBody>
      </p:sp>
      <p:sp>
        <p:nvSpPr>
          <p:cNvPr id="20" name="">
            <a:extLst xmlns:a="http://schemas.openxmlformats.org/drawingml/2006/main">
              <a:ext uri="{FF2B5EF4-FFF2-40B4-BE49-F238E27FC236}">
                <a16:creationId xmlns:a16="http://schemas.microsoft.com/office/drawing/2014/main" id="{E2A75D18-5F4A-409F-A54A-E6D5E878CA75}"/>
              </a:ext>
            </a:extLst>
          </p:cNvPr>
          <p:cNvSpPr>
            <a:spLocks xmlns:a="http://schemas.openxmlformats.org/drawingml/2006/main" noGrp="1"/>
          </p:cNvSpPr>
          <p:nvPr/>
        </p:nvSpPr>
        <p:spPr>
          <a:xfrm xmlns:a="http://schemas.openxmlformats.org/drawingml/2006/main">
            <a:off x="7620000" y="40576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1" name="">
            <a:extLst xmlns:a="http://schemas.openxmlformats.org/drawingml/2006/main">
              <a:ext uri="{FF2B5EF4-FFF2-40B4-BE49-F238E27FC236}">
                <a16:creationId xmlns:a16="http://schemas.microsoft.com/office/drawing/2014/main" id="{380D4934-20D8-4C8A-AF4B-EDE44DF05B6D}"/>
              </a:ext>
            </a:extLst>
          </p:cNvPr>
          <p:cNvSpPr>
            <a:spLocks xmlns:a="http://schemas.openxmlformats.org/drawingml/2006/main" noGrp="1"/>
          </p:cNvSpPr>
          <p:nvPr/>
        </p:nvSpPr>
        <p:spPr>
          <a:xfrm xmlns:a="http://schemas.openxmlformats.org/drawingml/2006/main">
            <a:off x="8077200" y="39624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Responsibility</a:t>
            </a:r>
          </a:p>
        </p:txBody>
      </p:sp>
      <p:sp>
        <p:nvSpPr>
          <p:cNvPr id="22" name="">
            <a:extLst xmlns:a="http://schemas.openxmlformats.org/drawingml/2006/main">
              <a:ext uri="{FF2B5EF4-FFF2-40B4-BE49-F238E27FC236}">
                <a16:creationId xmlns:a16="http://schemas.microsoft.com/office/drawing/2014/main" id="{77FE359C-BF1D-4F4C-B32B-453FA4863E08}"/>
              </a:ext>
            </a:extLst>
          </p:cNvPr>
          <p:cNvSpPr>
            <a:spLocks xmlns:a="http://schemas.openxmlformats.org/drawingml/2006/main" noGrp="1"/>
          </p:cNvSpPr>
          <p:nvPr/>
        </p:nvSpPr>
        <p:spPr>
          <a:xfrm xmlns:a="http://schemas.openxmlformats.org/drawingml/2006/main">
            <a:off x="7620000" y="44767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3" name="">
            <a:extLst xmlns:a="http://schemas.openxmlformats.org/drawingml/2006/main">
              <a:ext uri="{FF2B5EF4-FFF2-40B4-BE49-F238E27FC236}">
                <a16:creationId xmlns:a16="http://schemas.microsoft.com/office/drawing/2014/main" id="{6B898032-3ADD-4775-8E70-E542D646000E}"/>
              </a:ext>
            </a:extLst>
          </p:cNvPr>
          <p:cNvSpPr>
            <a:spLocks xmlns:a="http://schemas.openxmlformats.org/drawingml/2006/main" noGrp="1"/>
          </p:cNvSpPr>
          <p:nvPr/>
        </p:nvSpPr>
        <p:spPr>
          <a:xfrm xmlns:a="http://schemas.openxmlformats.org/drawingml/2006/main">
            <a:off x="8077200" y="43815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Coordination</a:t>
            </a:r>
          </a:p>
        </p:txBody>
      </p:sp>
      <p:sp>
        <p:nvSpPr>
          <p:cNvPr id="24" name="">
            <a:extLst xmlns:a="http://schemas.openxmlformats.org/drawingml/2006/main">
              <a:ext uri="{FF2B5EF4-FFF2-40B4-BE49-F238E27FC236}">
                <a16:creationId xmlns:a16="http://schemas.microsoft.com/office/drawing/2014/main" id="{7D9C8B36-7B91-4ADE-996C-33B679817955}"/>
              </a:ext>
            </a:extLst>
          </p:cNvPr>
          <p:cNvSpPr>
            <a:spLocks xmlns:a="http://schemas.openxmlformats.org/drawingml/2006/main" noGrp="1"/>
          </p:cNvSpPr>
          <p:nvPr/>
        </p:nvSpPr>
        <p:spPr>
          <a:xfrm xmlns:a="http://schemas.openxmlformats.org/drawingml/2006/main">
            <a:off x="7620000" y="48958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5" name="">
            <a:extLst xmlns:a="http://schemas.openxmlformats.org/drawingml/2006/main">
              <a:ext uri="{FF2B5EF4-FFF2-40B4-BE49-F238E27FC236}">
                <a16:creationId xmlns:a16="http://schemas.microsoft.com/office/drawing/2014/main" id="{7598DCF6-B27D-4FE8-83C0-AAEDE7EA5D35}"/>
              </a:ext>
            </a:extLst>
          </p:cNvPr>
          <p:cNvSpPr>
            <a:spLocks xmlns:a="http://schemas.openxmlformats.org/drawingml/2006/main" noGrp="1"/>
          </p:cNvSpPr>
          <p:nvPr/>
        </p:nvSpPr>
        <p:spPr>
          <a:xfrm xmlns:a="http://schemas.openxmlformats.org/drawingml/2006/main">
            <a:off x="8077200" y="48006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Technical layer</a:t>
            </a:r>
          </a:p>
        </p:txBody>
      </p:sp>
      <p:sp>
        <p:nvSpPr>
          <p:cNvPr id="26" name="">
            <a:extLst xmlns:a="http://schemas.openxmlformats.org/drawingml/2006/main">
              <a:ext uri="{FF2B5EF4-FFF2-40B4-BE49-F238E27FC236}">
                <a16:creationId xmlns:a16="http://schemas.microsoft.com/office/drawing/2014/main" id="{89340A1E-0188-4525-8A8A-AB0493A327C4}"/>
              </a:ext>
            </a:extLst>
          </p:cNvPr>
          <p:cNvSpPr>
            <a:spLocks xmlns:a="http://schemas.openxmlformats.org/drawingml/2006/main" noGrp="1"/>
          </p:cNvSpPr>
          <p:nvPr/>
        </p:nvSpPr>
        <p:spPr>
          <a:xfrm xmlns:a="http://schemas.openxmlformats.org/drawingml/2006/main">
            <a:off x="7620000" y="53149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7" name="">
            <a:extLst xmlns:a="http://schemas.openxmlformats.org/drawingml/2006/main">
              <a:ext uri="{FF2B5EF4-FFF2-40B4-BE49-F238E27FC236}">
                <a16:creationId xmlns:a16="http://schemas.microsoft.com/office/drawing/2014/main" id="{A0A32C94-5C1A-4309-9E71-E6CA61041529}"/>
              </a:ext>
            </a:extLst>
          </p:cNvPr>
          <p:cNvSpPr>
            <a:spLocks xmlns:a="http://schemas.openxmlformats.org/drawingml/2006/main" noGrp="1"/>
          </p:cNvSpPr>
          <p:nvPr/>
        </p:nvSpPr>
        <p:spPr>
          <a:xfrm xmlns:a="http://schemas.openxmlformats.org/drawingml/2006/main">
            <a:off x="8077200" y="52197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Observation</a:t>
            </a:r>
          </a:p>
        </p:txBody>
      </p:sp>
    </p:spTree>
    <p:extLst>
      <p:ext uri="{BB962C8B-B14F-4D97-AF65-F5344CB8AC3E}">
        <p14:creationId xmlns:p14="http://schemas.microsoft.com/office/powerpoint/2010/main" val="2708501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6A8E65E-FC32-4425-B0F4-C9E7121458D2}"/>
              </a:ext>
            </a:extLst>
          </p:cNvPr>
          <p:cNvSpPr>
            <a:spLocks xmlns:a="http://schemas.openxmlformats.org/drawingml/2006/main" noGrp="1"/>
          </p:cNvSpPr>
          <p:nvPr/>
        </p:nvSpPr>
        <p:spPr>
          <a:xfrm xmlns:a="http://schemas.openxmlformats.org/drawingml/2006/main">
            <a:off x="514350" y="38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65656"/>
                </a:solidFill>
              </a:defRPr>
            </a:pPr>
            <a:r>
              <a:rPr sz="1050" b="1">
                <a:solidFill>
                  <a:srgbClr val="565656"/>
                </a:solidFill>
              </a:rPr>
              <a:t>CHAPTER 7</a:t>
            </a:r>
          </a:p>
        </p:txBody>
      </p:sp>
      <p:sp>
        <p:nvSpPr>
          <p:cNvPr id="2" name="">
            <a:extLst xmlns:a="http://schemas.openxmlformats.org/drawingml/2006/main">
              <a:ext uri="{FF2B5EF4-FFF2-40B4-BE49-F238E27FC236}">
                <a16:creationId xmlns:a16="http://schemas.microsoft.com/office/drawing/2014/main" id="{039ADA62-9C0A-4373-912D-86E0EA0DA70A}"/>
              </a:ext>
            </a:extLst>
          </p:cNvPr>
          <p:cNvSpPr>
            <a:spLocks xmlns:a="http://schemas.openxmlformats.org/drawingml/2006/main" noGrp="1"/>
          </p:cNvSpPr>
          <p:nvPr/>
        </p:nvSpPr>
        <p:spPr>
          <a:xfrm xmlns:a="http://schemas.openxmlformats.org/drawingml/2006/main">
            <a:off x="514350" y="800100"/>
            <a:ext cx="742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defRPr>
            </a:pPr>
            <a:r>
              <a:rPr sz="3150" b="1">
                <a:solidFill>
                  <a:srgbClr val="111111"/>
                </a:solidFill>
              </a:rPr>
              <a:t>The target model is an architecture of decisions and feedback</a:t>
            </a:r>
          </a:p>
        </p:txBody>
      </p:sp>
      <p:sp>
        <p:nvSpPr>
          <p:cNvPr id="3" name="">
            <a:extLst xmlns:a="http://schemas.openxmlformats.org/drawingml/2006/main">
              <a:ext uri="{FF2B5EF4-FFF2-40B4-BE49-F238E27FC236}">
                <a16:creationId xmlns:a16="http://schemas.microsoft.com/office/drawing/2014/main" id="{5A91E527-3723-40AE-91E9-7E759B3BF98E}"/>
              </a:ext>
            </a:extLst>
          </p:cNvPr>
          <p:cNvSpPr>
            <a:spLocks xmlns:a="http://schemas.openxmlformats.org/drawingml/2006/main" noGrp="1"/>
          </p:cNvSpPr>
          <p:nvPr/>
        </p:nvSpPr>
        <p:spPr>
          <a:xfrm xmlns:a="http://schemas.openxmlformats.org/drawingml/2006/main">
            <a:off x="514350" y="1962150"/>
            <a:ext cx="733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65656"/>
                </a:solidFill>
              </a:defRPr>
            </a:pPr>
            <a:r>
              <a:rPr sz="1500" b="0">
                <a:solidFill>
                  <a:srgbClr val="565656"/>
                </a:solidFill>
              </a:rPr>
              <a:t>Strategy does not directly order team tasks; it guides the portfolio, domains and decision constraints.</a:t>
            </a:r>
          </a:p>
        </p:txBody>
      </p:sp>
      <p:sp>
        <p:nvSpPr>
          <p:cNvPr id="4" name="">
            <a:extLst xmlns:a="http://schemas.openxmlformats.org/drawingml/2006/main">
              <a:ext uri="{FF2B5EF4-FFF2-40B4-BE49-F238E27FC236}">
                <a16:creationId xmlns:a16="http://schemas.microsoft.com/office/drawing/2014/main" id="{1C9668D3-6D22-41A8-BFD2-05B6616D47B0}"/>
              </a:ext>
            </a:extLst>
          </p:cNvPr>
          <p:cNvSpPr>
            <a:spLocks xmlns:a="http://schemas.openxmlformats.org/drawingml/2006/main" noGrp="1"/>
          </p:cNvSpPr>
          <p:nvPr/>
        </p:nvSpPr>
        <p:spPr>
          <a:xfrm xmlns:a="http://schemas.openxmlformats.org/drawingml/2006/main">
            <a:off x="514350" y="6191250"/>
            <a:ext cx="111633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
            <a:extLst xmlns:a="http://schemas.openxmlformats.org/drawingml/2006/main">
              <a:ext uri="{FF2B5EF4-FFF2-40B4-BE49-F238E27FC236}">
                <a16:creationId xmlns:a16="http://schemas.microsoft.com/office/drawing/2014/main" id="{782E4662-D983-443F-AFBA-CA729BE5A81F}"/>
              </a:ext>
            </a:extLst>
          </p:cNvPr>
          <p:cNvSpPr>
            <a:spLocks xmlns:a="http://schemas.openxmlformats.org/drawingml/2006/main" noGrp="1"/>
          </p:cNvSpPr>
          <p:nvPr/>
        </p:nvSpPr>
        <p:spPr>
          <a:xfrm xmlns:a="http://schemas.openxmlformats.org/drawingml/2006/main">
            <a:off x="514350" y="6305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65656"/>
                </a:solidFill>
              </a:defRPr>
            </a:pPr>
            <a:r>
              <a:rPr sz="975" b="0">
                <a:solidFill>
                  <a:srgbClr val="565656"/>
                </a:solidFill>
              </a:rPr>
              <a:t>Rethinking large-scale software coordination</a:t>
            </a:r>
          </a:p>
        </p:txBody>
      </p:sp>
      <p:sp>
        <p:nvSpPr>
          <p:cNvPr id="6" name="">
            <a:extLst xmlns:a="http://schemas.openxmlformats.org/drawingml/2006/main">
              <a:ext uri="{FF2B5EF4-FFF2-40B4-BE49-F238E27FC236}">
                <a16:creationId xmlns:a16="http://schemas.microsoft.com/office/drawing/2014/main" id="{8F770BEC-E6AC-4594-A428-86A5001FA562}"/>
              </a:ext>
            </a:extLst>
          </p:cNvPr>
          <p:cNvSpPr>
            <a:spLocks xmlns:a="http://schemas.openxmlformats.org/drawingml/2006/main" noGrp="1"/>
          </p:cNvSpPr>
          <p:nvPr/>
        </p:nvSpPr>
        <p:spPr>
          <a:xfrm xmlns:a="http://schemas.openxmlformats.org/drawingml/2006/main">
            <a:off x="11258550" y="63055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65656"/>
                </a:solidFill>
              </a:defRPr>
            </a:pPr>
            <a:r>
              <a:rPr sz="975" b="0">
                <a:solidFill>
                  <a:srgbClr val="565656"/>
                </a:solidFill>
              </a:rPr>
              <a:t>08</a:t>
            </a:r>
          </a:p>
        </p:txBody>
      </p:sp>
      <p:sp>
        <p:nvSpPr>
          <p:cNvPr id="7" name="">
            <a:extLst xmlns:a="http://schemas.openxmlformats.org/drawingml/2006/main">
              <a:ext uri="{FF2B5EF4-FFF2-40B4-BE49-F238E27FC236}">
                <a16:creationId xmlns:a16="http://schemas.microsoft.com/office/drawing/2014/main" id="{48257A02-A30E-4FC1-B153-C8081C260155}"/>
              </a:ext>
            </a:extLst>
          </p:cNvPr>
          <p:cNvSpPr>
            <a:spLocks xmlns:a="http://schemas.openxmlformats.org/drawingml/2006/main" noGrp="1"/>
          </p:cNvSpPr>
          <p:nvPr/>
        </p:nvSpPr>
        <p:spPr>
          <a:xfrm xmlns:a="http://schemas.openxmlformats.org/drawingml/2006/main">
            <a:off x="8420100" y="495300"/>
            <a:ext cx="2857500" cy="2667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8" name="">
            <a:extLst xmlns:a="http://schemas.openxmlformats.org/drawingml/2006/main">
              <a:ext uri="{FF2B5EF4-FFF2-40B4-BE49-F238E27FC236}">
                <a16:creationId xmlns:a16="http://schemas.microsoft.com/office/drawing/2014/main" id="{9617C399-8066-4C35-A606-1AC9DFC95A63}"/>
              </a:ext>
            </a:extLst>
          </p:cNvPr>
          <p:cNvSpPr>
            <a:spLocks xmlns:a="http://schemas.openxmlformats.org/drawingml/2006/main" noGrp="1"/>
          </p:cNvSpPr>
          <p:nvPr/>
        </p:nvSpPr>
        <p:spPr>
          <a:xfrm xmlns:a="http://schemas.openxmlformats.org/drawingml/2006/main">
            <a:off x="8515350" y="5429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defRPr>
            </a:pPr>
            <a:r>
              <a:rPr sz="975" b="1">
                <a:solidFill>
                  <a:srgbClr val="FFFFFF"/>
                </a:solidFill>
              </a:rPr>
              <a:t>Target organization</a:t>
            </a:r>
          </a:p>
        </p:txBody>
      </p:sp>
      <p:sp>
        <p:nvSpPr>
          <p:cNvPr id="9" name="">
            <a:extLst xmlns:a="http://schemas.openxmlformats.org/drawingml/2006/main">
              <a:ext uri="{FF2B5EF4-FFF2-40B4-BE49-F238E27FC236}">
                <a16:creationId xmlns:a16="http://schemas.microsoft.com/office/drawing/2014/main" id="{0779C853-0EB2-47E8-AB35-DFF93C787373}"/>
              </a:ext>
            </a:extLst>
          </p:cNvPr>
          <p:cNvSpPr>
            <a:spLocks xmlns:a="http://schemas.openxmlformats.org/drawingml/2006/main" noGrp="1"/>
          </p:cNvSpPr>
          <p:nvPr/>
        </p:nvSpPr>
        <p:spPr>
          <a:xfrm xmlns:a="http://schemas.openxmlformats.org/drawingml/2006/main">
            <a:off x="7334250" y="2876550"/>
            <a:ext cx="3905250" cy="2400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0" name="">
            <a:extLst xmlns:a="http://schemas.openxmlformats.org/drawingml/2006/main">
              <a:ext uri="{FF2B5EF4-FFF2-40B4-BE49-F238E27FC236}">
                <a16:creationId xmlns:a16="http://schemas.microsoft.com/office/drawing/2014/main" id="{5E6F8FC0-9931-4B55-8687-6791D89F0DC4}"/>
              </a:ext>
            </a:extLst>
          </p:cNvPr>
          <p:cNvSpPr>
            <a:spLocks xmlns:a="http://schemas.openxmlformats.org/drawingml/2006/main" noGrp="1"/>
          </p:cNvSpPr>
          <p:nvPr/>
        </p:nvSpPr>
        <p:spPr>
          <a:xfrm xmlns:a="http://schemas.openxmlformats.org/drawingml/2006/main">
            <a:off x="514350" y="3009900"/>
            <a:ext cx="6000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1111"/>
                </a:solidFill>
              </a:defRPr>
            </a:pPr>
            <a:r>
              <a:rPr sz="2250" b="1">
                <a:solidFill>
                  <a:srgbClr val="111111"/>
                </a:solidFill>
              </a:rPr>
              <a:t>A simplified organization keeps the mechanisms that let teams move without asking permission everywhere.</a:t>
            </a:r>
          </a:p>
        </p:txBody>
      </p:sp>
      <p:sp>
        <p:nvSpPr>
          <p:cNvPr id="11" name="">
            <a:extLst xmlns:a="http://schemas.openxmlformats.org/drawingml/2006/main">
              <a:ext uri="{FF2B5EF4-FFF2-40B4-BE49-F238E27FC236}">
                <a16:creationId xmlns:a16="http://schemas.microsoft.com/office/drawing/2014/main" id="{26E8D6B3-5912-4029-8E49-4C9FE26E9203}"/>
              </a:ext>
            </a:extLst>
          </p:cNvPr>
          <p:cNvSpPr>
            <a:spLocks xmlns:a="http://schemas.openxmlformats.org/drawingml/2006/main" noGrp="1"/>
          </p:cNvSpPr>
          <p:nvPr/>
        </p:nvSpPr>
        <p:spPr>
          <a:xfrm xmlns:a="http://schemas.openxmlformats.org/drawingml/2006/main">
            <a:off x="514350" y="40100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1</a:t>
            </a:r>
          </a:p>
        </p:txBody>
      </p:sp>
      <p:sp>
        <p:nvSpPr>
          <p:cNvPr id="12" name="">
            <a:extLst xmlns:a="http://schemas.openxmlformats.org/drawingml/2006/main">
              <a:ext uri="{FF2B5EF4-FFF2-40B4-BE49-F238E27FC236}">
                <a16:creationId xmlns:a16="http://schemas.microsoft.com/office/drawing/2014/main" id="{5A024D2F-FFC9-4C47-ADA7-465ACB83F3B8}"/>
              </a:ext>
            </a:extLst>
          </p:cNvPr>
          <p:cNvSpPr>
            <a:spLocks xmlns:a="http://schemas.openxmlformats.org/drawingml/2006/main" noGrp="1"/>
          </p:cNvSpPr>
          <p:nvPr/>
        </p:nvSpPr>
        <p:spPr>
          <a:xfrm xmlns:a="http://schemas.openxmlformats.org/drawingml/2006/main">
            <a:off x="914400" y="40005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Strategy, portfolio, domains and teams form a readable responsibility chain.</a:t>
            </a:r>
          </a:p>
        </p:txBody>
      </p:sp>
      <p:sp>
        <p:nvSpPr>
          <p:cNvPr id="13" name="">
            <a:extLst xmlns:a="http://schemas.openxmlformats.org/drawingml/2006/main">
              <a:ext uri="{FF2B5EF4-FFF2-40B4-BE49-F238E27FC236}">
                <a16:creationId xmlns:a16="http://schemas.microsoft.com/office/drawing/2014/main" id="{A8162E35-282D-4165-ADFB-BBD9924A6D34}"/>
              </a:ext>
            </a:extLst>
          </p:cNvPr>
          <p:cNvSpPr>
            <a:spLocks xmlns:a="http://schemas.openxmlformats.org/drawingml/2006/main" noGrp="1"/>
          </p:cNvSpPr>
          <p:nvPr/>
        </p:nvSpPr>
        <p:spPr>
          <a:xfrm xmlns:a="http://schemas.openxmlformats.org/drawingml/2006/main">
            <a:off x="514350" y="45243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2</a:t>
            </a:r>
          </a:p>
        </p:txBody>
      </p:sp>
      <p:sp>
        <p:nvSpPr>
          <p:cNvPr id="14" name="">
            <a:extLst xmlns:a="http://schemas.openxmlformats.org/drawingml/2006/main">
              <a:ext uri="{FF2B5EF4-FFF2-40B4-BE49-F238E27FC236}">
                <a16:creationId xmlns:a16="http://schemas.microsoft.com/office/drawing/2014/main" id="{2F248477-8B5A-4D73-A792-FB724BEB29F6}"/>
              </a:ext>
            </a:extLst>
          </p:cNvPr>
          <p:cNvSpPr>
            <a:spLocks xmlns:a="http://schemas.openxmlformats.org/drawingml/2006/main" noGrp="1"/>
          </p:cNvSpPr>
          <p:nvPr/>
        </p:nvSpPr>
        <p:spPr>
          <a:xfrm xmlns:a="http://schemas.openxmlformats.org/drawingml/2006/main">
            <a:off x="914400" y="451485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Platforms, architecture and quality reduce repetitive human coordination.</a:t>
            </a:r>
          </a:p>
        </p:txBody>
      </p:sp>
      <p:sp>
        <p:nvSpPr>
          <p:cNvPr id="15" name="">
            <a:extLst xmlns:a="http://schemas.openxmlformats.org/drawingml/2006/main">
              <a:ext uri="{FF2B5EF4-FFF2-40B4-BE49-F238E27FC236}">
                <a16:creationId xmlns:a16="http://schemas.microsoft.com/office/drawing/2014/main" id="{03A64DE7-5AE5-4874-8B83-560C3AB8733A}"/>
              </a:ext>
            </a:extLst>
          </p:cNvPr>
          <p:cNvSpPr>
            <a:spLocks xmlns:a="http://schemas.openxmlformats.org/drawingml/2006/main" noGrp="1"/>
          </p:cNvSpPr>
          <p:nvPr/>
        </p:nvSpPr>
        <p:spPr>
          <a:xfrm xmlns:a="http://schemas.openxmlformats.org/drawingml/2006/main">
            <a:off x="514350" y="5038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3</a:t>
            </a:r>
          </a:p>
        </p:txBody>
      </p:sp>
      <p:sp>
        <p:nvSpPr>
          <p:cNvPr id="16" name="">
            <a:extLst xmlns:a="http://schemas.openxmlformats.org/drawingml/2006/main">
              <a:ext uri="{FF2B5EF4-FFF2-40B4-BE49-F238E27FC236}">
                <a16:creationId xmlns:a16="http://schemas.microsoft.com/office/drawing/2014/main" id="{FBF6CC3A-99F4-4961-867C-194614D354BB}"/>
              </a:ext>
            </a:extLst>
          </p:cNvPr>
          <p:cNvSpPr>
            <a:spLocks xmlns:a="http://schemas.openxmlformats.org/drawingml/2006/main" noGrp="1"/>
          </p:cNvSpPr>
          <p:nvPr/>
        </p:nvSpPr>
        <p:spPr>
          <a:xfrm xmlns:a="http://schemas.openxmlformats.org/drawingml/2006/main">
            <a:off x="914400" y="50292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Cadences and artifacts stay only when they produce decisions, feedback or risk reduction.</a:t>
            </a:r>
          </a:p>
        </p:txBody>
      </p:sp>
      <p:sp>
        <p:nvSpPr>
          <p:cNvPr id="17" name="">
            <a:extLst xmlns:a="http://schemas.openxmlformats.org/drawingml/2006/main">
              <a:ext uri="{FF2B5EF4-FFF2-40B4-BE49-F238E27FC236}">
                <a16:creationId xmlns:a16="http://schemas.microsoft.com/office/drawing/2014/main" id="{C2911186-7DFA-4F07-9D4C-0BAC6D5203C5}"/>
              </a:ext>
            </a:extLst>
          </p:cNvPr>
          <p:cNvSpPr>
            <a:spLocks xmlns:a="http://schemas.openxmlformats.org/drawingml/2006/main" noGrp="1"/>
          </p:cNvSpPr>
          <p:nvPr/>
        </p:nvSpPr>
        <p:spPr>
          <a:xfrm xmlns:a="http://schemas.openxmlformats.org/drawingml/2006/main">
            <a:off x="7620000" y="31051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Viability criteria</a:t>
            </a:r>
          </a:p>
        </p:txBody>
      </p:sp>
      <p:sp>
        <p:nvSpPr>
          <p:cNvPr id="18" name="">
            <a:extLst xmlns:a="http://schemas.openxmlformats.org/drawingml/2006/main">
              <a:ext uri="{FF2B5EF4-FFF2-40B4-BE49-F238E27FC236}">
                <a16:creationId xmlns:a16="http://schemas.microsoft.com/office/drawing/2014/main" id="{CC8454A8-7C0E-4E85-9339-5F24B48BE6A7}"/>
              </a:ext>
            </a:extLst>
          </p:cNvPr>
          <p:cNvSpPr>
            <a:spLocks xmlns:a="http://schemas.openxmlformats.org/drawingml/2006/main" noGrp="1"/>
          </p:cNvSpPr>
          <p:nvPr/>
        </p:nvSpPr>
        <p:spPr>
          <a:xfrm xmlns:a="http://schemas.openxmlformats.org/drawingml/2006/main">
            <a:off x="7620000" y="3638550"/>
            <a:ext cx="342900" cy="381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19" name="">
            <a:extLst xmlns:a="http://schemas.openxmlformats.org/drawingml/2006/main">
              <a:ext uri="{FF2B5EF4-FFF2-40B4-BE49-F238E27FC236}">
                <a16:creationId xmlns:a16="http://schemas.microsoft.com/office/drawing/2014/main" id="{8EE0288E-D45D-4B29-936B-E84ABC8C0C24}"/>
              </a:ext>
            </a:extLst>
          </p:cNvPr>
          <p:cNvSpPr>
            <a:spLocks xmlns:a="http://schemas.openxmlformats.org/drawingml/2006/main" noGrp="1"/>
          </p:cNvSpPr>
          <p:nvPr/>
        </p:nvSpPr>
        <p:spPr>
          <a:xfrm xmlns:a="http://schemas.openxmlformats.org/drawingml/2006/main">
            <a:off x="8077200" y="35433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Explicit priorities</a:t>
            </a:r>
          </a:p>
        </p:txBody>
      </p:sp>
      <p:sp>
        <p:nvSpPr>
          <p:cNvPr id="20" name="">
            <a:extLst xmlns:a="http://schemas.openxmlformats.org/drawingml/2006/main">
              <a:ext uri="{FF2B5EF4-FFF2-40B4-BE49-F238E27FC236}">
                <a16:creationId xmlns:a16="http://schemas.microsoft.com/office/drawing/2014/main" id="{89FB68E6-5D47-45E3-B713-DCE3BC402011}"/>
              </a:ext>
            </a:extLst>
          </p:cNvPr>
          <p:cNvSpPr>
            <a:spLocks xmlns:a="http://schemas.openxmlformats.org/drawingml/2006/main" noGrp="1"/>
          </p:cNvSpPr>
          <p:nvPr/>
        </p:nvSpPr>
        <p:spPr>
          <a:xfrm xmlns:a="http://schemas.openxmlformats.org/drawingml/2006/main">
            <a:off x="7620000" y="40576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1" name="">
            <a:extLst xmlns:a="http://schemas.openxmlformats.org/drawingml/2006/main">
              <a:ext uri="{FF2B5EF4-FFF2-40B4-BE49-F238E27FC236}">
                <a16:creationId xmlns:a16="http://schemas.microsoft.com/office/drawing/2014/main" id="{B7D9A9DC-6A90-421C-9C05-F9CE4CA6061F}"/>
              </a:ext>
            </a:extLst>
          </p:cNvPr>
          <p:cNvSpPr>
            <a:spLocks xmlns:a="http://schemas.openxmlformats.org/drawingml/2006/main" noGrp="1"/>
          </p:cNvSpPr>
          <p:nvPr/>
        </p:nvSpPr>
        <p:spPr>
          <a:xfrm xmlns:a="http://schemas.openxmlformats.org/drawingml/2006/main">
            <a:off x="8077200" y="39624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Limited WIP</a:t>
            </a:r>
          </a:p>
        </p:txBody>
      </p:sp>
      <p:sp>
        <p:nvSpPr>
          <p:cNvPr id="22" name="">
            <a:extLst xmlns:a="http://schemas.openxmlformats.org/drawingml/2006/main">
              <a:ext uri="{FF2B5EF4-FFF2-40B4-BE49-F238E27FC236}">
                <a16:creationId xmlns:a16="http://schemas.microsoft.com/office/drawing/2014/main" id="{360258EC-ECAB-4344-B649-F51CEE4D28E4}"/>
              </a:ext>
            </a:extLst>
          </p:cNvPr>
          <p:cNvSpPr>
            <a:spLocks xmlns:a="http://schemas.openxmlformats.org/drawingml/2006/main" noGrp="1"/>
          </p:cNvSpPr>
          <p:nvPr/>
        </p:nvSpPr>
        <p:spPr>
          <a:xfrm xmlns:a="http://schemas.openxmlformats.org/drawingml/2006/main">
            <a:off x="7620000" y="44767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3" name="">
            <a:extLst xmlns:a="http://schemas.openxmlformats.org/drawingml/2006/main">
              <a:ext uri="{FF2B5EF4-FFF2-40B4-BE49-F238E27FC236}">
                <a16:creationId xmlns:a16="http://schemas.microsoft.com/office/drawing/2014/main" id="{42605DE6-CC05-4CCA-92BA-F830FC32D31A}"/>
              </a:ext>
            </a:extLst>
          </p:cNvPr>
          <p:cNvSpPr>
            <a:spLocks xmlns:a="http://schemas.openxmlformats.org/drawingml/2006/main" noGrp="1"/>
          </p:cNvSpPr>
          <p:nvPr/>
        </p:nvSpPr>
        <p:spPr>
          <a:xfrm xmlns:a="http://schemas.openxmlformats.org/drawingml/2006/main">
            <a:off x="8077200" y="43815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Clear ownership</a:t>
            </a:r>
          </a:p>
        </p:txBody>
      </p:sp>
      <p:sp>
        <p:nvSpPr>
          <p:cNvPr id="24" name="">
            <a:extLst xmlns:a="http://schemas.openxmlformats.org/drawingml/2006/main">
              <a:ext uri="{FF2B5EF4-FFF2-40B4-BE49-F238E27FC236}">
                <a16:creationId xmlns:a16="http://schemas.microsoft.com/office/drawing/2014/main" id="{4F62B0EF-CA12-4350-B986-0C265C041215}"/>
              </a:ext>
            </a:extLst>
          </p:cNvPr>
          <p:cNvSpPr>
            <a:spLocks xmlns:a="http://schemas.openxmlformats.org/drawingml/2006/main" noGrp="1"/>
          </p:cNvSpPr>
          <p:nvPr/>
        </p:nvSpPr>
        <p:spPr>
          <a:xfrm xmlns:a="http://schemas.openxmlformats.org/drawingml/2006/main">
            <a:off x="7620000" y="48958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5" name="">
            <a:extLst xmlns:a="http://schemas.openxmlformats.org/drawingml/2006/main">
              <a:ext uri="{FF2B5EF4-FFF2-40B4-BE49-F238E27FC236}">
                <a16:creationId xmlns:a16="http://schemas.microsoft.com/office/drawing/2014/main" id="{8255D93A-B40D-46B9-9F9C-FA37F76DCD89}"/>
              </a:ext>
            </a:extLst>
          </p:cNvPr>
          <p:cNvSpPr>
            <a:spLocks xmlns:a="http://schemas.openxmlformats.org/drawingml/2006/main" noGrp="1"/>
          </p:cNvSpPr>
          <p:nvPr/>
        </p:nvSpPr>
        <p:spPr>
          <a:xfrm xmlns:a="http://schemas.openxmlformats.org/drawingml/2006/main">
            <a:off x="8077200" y="48006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Visible flow</a:t>
            </a:r>
          </a:p>
        </p:txBody>
      </p:sp>
    </p:spTree>
    <p:extLst>
      <p:ext uri="{BB962C8B-B14F-4D97-AF65-F5344CB8AC3E}">
        <p14:creationId xmlns:p14="http://schemas.microsoft.com/office/powerpoint/2010/main" val="7600270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50555D-D94B-4F66-AF2D-E3C824E503FB}"/>
              </a:ext>
            </a:extLst>
          </p:cNvPr>
          <p:cNvSpPr>
            <a:spLocks xmlns:a="http://schemas.openxmlformats.org/drawingml/2006/main" noGrp="1"/>
          </p:cNvSpPr>
          <p:nvPr/>
        </p:nvSpPr>
        <p:spPr>
          <a:xfrm xmlns:a="http://schemas.openxmlformats.org/drawingml/2006/main">
            <a:off x="514350" y="38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65656"/>
                </a:solidFill>
              </a:defRPr>
            </a:pPr>
            <a:r>
              <a:rPr sz="1050" b="1">
                <a:solidFill>
                  <a:srgbClr val="565656"/>
                </a:solidFill>
              </a:rPr>
              <a:t>CHAPTER 8</a:t>
            </a:r>
          </a:p>
        </p:txBody>
      </p:sp>
      <p:sp>
        <p:nvSpPr>
          <p:cNvPr id="2" name="">
            <a:extLst xmlns:a="http://schemas.openxmlformats.org/drawingml/2006/main">
              <a:ext uri="{FF2B5EF4-FFF2-40B4-BE49-F238E27FC236}">
                <a16:creationId xmlns:a16="http://schemas.microsoft.com/office/drawing/2014/main" id="{164FD756-BEC1-4ED0-B2AF-C0A189801C23}"/>
              </a:ext>
            </a:extLst>
          </p:cNvPr>
          <p:cNvSpPr>
            <a:spLocks xmlns:a="http://schemas.openxmlformats.org/drawingml/2006/main" noGrp="1"/>
          </p:cNvSpPr>
          <p:nvPr/>
        </p:nvSpPr>
        <p:spPr>
          <a:xfrm xmlns:a="http://schemas.openxmlformats.org/drawingml/2006/main">
            <a:off x="514350" y="800100"/>
            <a:ext cx="742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defRPr>
            </a:pPr>
            <a:r>
              <a:rPr sz="3150" b="1">
                <a:solidFill>
                  <a:srgbClr val="111111"/>
                </a:solidFill>
              </a:rPr>
              <a:t>Simplifying means removing what no longer solves anything and strengthening what remains necessary</a:t>
            </a:r>
          </a:p>
        </p:txBody>
      </p:sp>
      <p:sp>
        <p:nvSpPr>
          <p:cNvPr id="3" name="">
            <a:extLst xmlns:a="http://schemas.openxmlformats.org/drawingml/2006/main">
              <a:ext uri="{FF2B5EF4-FFF2-40B4-BE49-F238E27FC236}">
                <a16:creationId xmlns:a16="http://schemas.microsoft.com/office/drawing/2014/main" id="{E726C913-F519-4471-A621-0CCAA4C8586D}"/>
              </a:ext>
            </a:extLst>
          </p:cNvPr>
          <p:cNvSpPr>
            <a:spLocks xmlns:a="http://schemas.openxmlformats.org/drawingml/2006/main" noGrp="1"/>
          </p:cNvSpPr>
          <p:nvPr/>
        </p:nvSpPr>
        <p:spPr>
          <a:xfrm xmlns:a="http://schemas.openxmlformats.org/drawingml/2006/main">
            <a:off x="514350" y="1962150"/>
            <a:ext cx="733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65656"/>
                </a:solidFill>
              </a:defRPr>
            </a:pPr>
            <a:r>
              <a:rPr sz="1500" b="0">
                <a:solidFill>
                  <a:srgbClr val="565656"/>
                </a:solidFill>
              </a:rPr>
              <a:t>The target is not the absence of structure; it is a structure adapted to the organization's real problems.</a:t>
            </a:r>
          </a:p>
        </p:txBody>
      </p:sp>
      <p:sp>
        <p:nvSpPr>
          <p:cNvPr id="4" name="">
            <a:extLst xmlns:a="http://schemas.openxmlformats.org/drawingml/2006/main">
              <a:ext uri="{FF2B5EF4-FFF2-40B4-BE49-F238E27FC236}">
                <a16:creationId xmlns:a16="http://schemas.microsoft.com/office/drawing/2014/main" id="{06187EC3-7EAF-47A2-8BAC-6B1202BDE702}"/>
              </a:ext>
            </a:extLst>
          </p:cNvPr>
          <p:cNvSpPr>
            <a:spLocks xmlns:a="http://schemas.openxmlformats.org/drawingml/2006/main" noGrp="1"/>
          </p:cNvSpPr>
          <p:nvPr/>
        </p:nvSpPr>
        <p:spPr>
          <a:xfrm xmlns:a="http://schemas.openxmlformats.org/drawingml/2006/main">
            <a:off x="514350" y="6191250"/>
            <a:ext cx="111633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
            <a:extLst xmlns:a="http://schemas.openxmlformats.org/drawingml/2006/main">
              <a:ext uri="{FF2B5EF4-FFF2-40B4-BE49-F238E27FC236}">
                <a16:creationId xmlns:a16="http://schemas.microsoft.com/office/drawing/2014/main" id="{1B01620F-6319-49D0-AC11-23FA4F4BC7BB}"/>
              </a:ext>
            </a:extLst>
          </p:cNvPr>
          <p:cNvSpPr>
            <a:spLocks xmlns:a="http://schemas.openxmlformats.org/drawingml/2006/main" noGrp="1"/>
          </p:cNvSpPr>
          <p:nvPr/>
        </p:nvSpPr>
        <p:spPr>
          <a:xfrm xmlns:a="http://schemas.openxmlformats.org/drawingml/2006/main">
            <a:off x="514350" y="6305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65656"/>
                </a:solidFill>
              </a:defRPr>
            </a:pPr>
            <a:r>
              <a:rPr sz="975" b="0">
                <a:solidFill>
                  <a:srgbClr val="565656"/>
                </a:solidFill>
              </a:rPr>
              <a:t>Rethinking large-scale software coordination</a:t>
            </a:r>
          </a:p>
        </p:txBody>
      </p:sp>
      <p:sp>
        <p:nvSpPr>
          <p:cNvPr id="6" name="">
            <a:extLst xmlns:a="http://schemas.openxmlformats.org/drawingml/2006/main">
              <a:ext uri="{FF2B5EF4-FFF2-40B4-BE49-F238E27FC236}">
                <a16:creationId xmlns:a16="http://schemas.microsoft.com/office/drawing/2014/main" id="{D2DBD3FB-5D05-44EC-94D0-135886AAF157}"/>
              </a:ext>
            </a:extLst>
          </p:cNvPr>
          <p:cNvSpPr>
            <a:spLocks xmlns:a="http://schemas.openxmlformats.org/drawingml/2006/main" noGrp="1"/>
          </p:cNvSpPr>
          <p:nvPr/>
        </p:nvSpPr>
        <p:spPr>
          <a:xfrm xmlns:a="http://schemas.openxmlformats.org/drawingml/2006/main">
            <a:off x="11258550" y="63055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65656"/>
                </a:solidFill>
              </a:defRPr>
            </a:pPr>
            <a:r>
              <a:rPr sz="975" b="0">
                <a:solidFill>
                  <a:srgbClr val="565656"/>
                </a:solidFill>
              </a:rPr>
              <a:t>09</a:t>
            </a:r>
          </a:p>
        </p:txBody>
      </p:sp>
      <p:sp>
        <p:nvSpPr>
          <p:cNvPr id="7" name="">
            <a:extLst xmlns:a="http://schemas.openxmlformats.org/drawingml/2006/main">
              <a:ext uri="{FF2B5EF4-FFF2-40B4-BE49-F238E27FC236}">
                <a16:creationId xmlns:a16="http://schemas.microsoft.com/office/drawing/2014/main" id="{C67F7483-30F4-477E-AE43-C8D4CDE64426}"/>
              </a:ext>
            </a:extLst>
          </p:cNvPr>
          <p:cNvSpPr>
            <a:spLocks xmlns:a="http://schemas.openxmlformats.org/drawingml/2006/main" noGrp="1"/>
          </p:cNvSpPr>
          <p:nvPr/>
        </p:nvSpPr>
        <p:spPr>
          <a:xfrm xmlns:a="http://schemas.openxmlformats.org/drawingml/2006/main">
            <a:off x="8420100" y="495300"/>
            <a:ext cx="2857500" cy="2667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8" name="">
            <a:extLst xmlns:a="http://schemas.openxmlformats.org/drawingml/2006/main">
              <a:ext uri="{FF2B5EF4-FFF2-40B4-BE49-F238E27FC236}">
                <a16:creationId xmlns:a16="http://schemas.microsoft.com/office/drawing/2014/main" id="{A9490626-3AC2-4327-9A5D-FF0818D0A8A1}"/>
              </a:ext>
            </a:extLst>
          </p:cNvPr>
          <p:cNvSpPr>
            <a:spLocks xmlns:a="http://schemas.openxmlformats.org/drawingml/2006/main" noGrp="1"/>
          </p:cNvSpPr>
          <p:nvPr/>
        </p:nvSpPr>
        <p:spPr>
          <a:xfrm xmlns:a="http://schemas.openxmlformats.org/drawingml/2006/main">
            <a:off x="8515350" y="5429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defRPr>
            </a:pPr>
            <a:r>
              <a:rPr sz="975" b="1">
                <a:solidFill>
                  <a:srgbClr val="FFFFFF"/>
                </a:solidFill>
              </a:rPr>
              <a:t>Conclusion</a:t>
            </a:r>
          </a:p>
        </p:txBody>
      </p:sp>
      <p:sp>
        <p:nvSpPr>
          <p:cNvPr id="9" name="">
            <a:extLst xmlns:a="http://schemas.openxmlformats.org/drawingml/2006/main">
              <a:ext uri="{FF2B5EF4-FFF2-40B4-BE49-F238E27FC236}">
                <a16:creationId xmlns:a16="http://schemas.microsoft.com/office/drawing/2014/main" id="{7197F99E-9782-49D1-A2C0-90939621A623}"/>
              </a:ext>
            </a:extLst>
          </p:cNvPr>
          <p:cNvSpPr>
            <a:spLocks xmlns:a="http://schemas.openxmlformats.org/drawingml/2006/main" noGrp="1"/>
          </p:cNvSpPr>
          <p:nvPr/>
        </p:nvSpPr>
        <p:spPr>
          <a:xfrm xmlns:a="http://schemas.openxmlformats.org/drawingml/2006/main">
            <a:off x="7334250" y="2876550"/>
            <a:ext cx="3905250" cy="2400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0" name="">
            <a:extLst xmlns:a="http://schemas.openxmlformats.org/drawingml/2006/main">
              <a:ext uri="{FF2B5EF4-FFF2-40B4-BE49-F238E27FC236}">
                <a16:creationId xmlns:a16="http://schemas.microsoft.com/office/drawing/2014/main" id="{61753845-CAB9-44BF-9F02-19F5C2CCDB2A}"/>
              </a:ext>
            </a:extLst>
          </p:cNvPr>
          <p:cNvSpPr>
            <a:spLocks xmlns:a="http://schemas.openxmlformats.org/drawingml/2006/main" noGrp="1"/>
          </p:cNvSpPr>
          <p:nvPr/>
        </p:nvSpPr>
        <p:spPr>
          <a:xfrm xmlns:a="http://schemas.openxmlformats.org/drawingml/2006/main">
            <a:off x="514350" y="3009900"/>
            <a:ext cx="6000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1111"/>
                </a:solidFill>
              </a:defRPr>
            </a:pPr>
            <a:r>
              <a:rPr sz="2250" b="1">
                <a:solidFill>
                  <a:srgbClr val="111111"/>
                </a:solidFill>
              </a:rPr>
              <a:t>Success is measured by system performance, not by the disappearance of a framework.</a:t>
            </a:r>
          </a:p>
        </p:txBody>
      </p:sp>
      <p:sp>
        <p:nvSpPr>
          <p:cNvPr id="11" name="">
            <a:extLst xmlns:a="http://schemas.openxmlformats.org/drawingml/2006/main">
              <a:ext uri="{FF2B5EF4-FFF2-40B4-BE49-F238E27FC236}">
                <a16:creationId xmlns:a16="http://schemas.microsoft.com/office/drawing/2014/main" id="{796D754A-8BB8-4AEF-B2B2-5F33E71D0F9D}"/>
              </a:ext>
            </a:extLst>
          </p:cNvPr>
          <p:cNvSpPr>
            <a:spLocks xmlns:a="http://schemas.openxmlformats.org/drawingml/2006/main" noGrp="1"/>
          </p:cNvSpPr>
          <p:nvPr/>
        </p:nvSpPr>
        <p:spPr>
          <a:xfrm xmlns:a="http://schemas.openxmlformats.org/drawingml/2006/main">
            <a:off x="514350" y="40100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1</a:t>
            </a:r>
          </a:p>
        </p:txBody>
      </p:sp>
      <p:sp>
        <p:nvSpPr>
          <p:cNvPr id="12" name="">
            <a:extLst xmlns:a="http://schemas.openxmlformats.org/drawingml/2006/main">
              <a:ext uri="{FF2B5EF4-FFF2-40B4-BE49-F238E27FC236}">
                <a16:creationId xmlns:a16="http://schemas.microsoft.com/office/drawing/2014/main" id="{58B3A4E7-2515-46DC-A0BC-09B06BF107E8}"/>
              </a:ext>
            </a:extLst>
          </p:cNvPr>
          <p:cNvSpPr>
            <a:spLocks xmlns:a="http://schemas.openxmlformats.org/drawingml/2006/main" noGrp="1"/>
          </p:cNvSpPr>
          <p:nvPr/>
        </p:nvSpPr>
        <p:spPr>
          <a:xfrm xmlns:a="http://schemas.openxmlformats.org/drawingml/2006/main">
            <a:off x="914400" y="40005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Frameworks can help when they make indispensable mechanisms visible.</a:t>
            </a:r>
          </a:p>
        </p:txBody>
      </p:sp>
      <p:sp>
        <p:nvSpPr>
          <p:cNvPr id="13" name="">
            <a:extLst xmlns:a="http://schemas.openxmlformats.org/drawingml/2006/main">
              <a:ext uri="{FF2B5EF4-FFF2-40B4-BE49-F238E27FC236}">
                <a16:creationId xmlns:a16="http://schemas.microsoft.com/office/drawing/2014/main" id="{3705B6C9-687B-4B83-A0CB-ECE2B60619F3}"/>
              </a:ext>
            </a:extLst>
          </p:cNvPr>
          <p:cNvSpPr>
            <a:spLocks xmlns:a="http://schemas.openxmlformats.org/drawingml/2006/main" noGrp="1"/>
          </p:cNvSpPr>
          <p:nvPr/>
        </p:nvSpPr>
        <p:spPr>
          <a:xfrm xmlns:a="http://schemas.openxmlformats.org/drawingml/2006/main">
            <a:off x="514350" y="45243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2</a:t>
            </a:r>
          </a:p>
        </p:txBody>
      </p:sp>
      <p:sp>
        <p:nvSpPr>
          <p:cNvPr id="14" name="">
            <a:extLst xmlns:a="http://schemas.openxmlformats.org/drawingml/2006/main">
              <a:ext uri="{FF2B5EF4-FFF2-40B4-BE49-F238E27FC236}">
                <a16:creationId xmlns:a16="http://schemas.microsoft.com/office/drawing/2014/main" id="{866B8D83-ADB4-4201-8A92-D6ABF50FD111}"/>
              </a:ext>
            </a:extLst>
          </p:cNvPr>
          <p:cNvSpPr>
            <a:spLocks xmlns:a="http://schemas.openxmlformats.org/drawingml/2006/main" noGrp="1"/>
          </p:cNvSpPr>
          <p:nvPr/>
        </p:nvSpPr>
        <p:spPr>
          <a:xfrm xmlns:a="http://schemas.openxmlformats.org/drawingml/2006/main">
            <a:off x="914400" y="451485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Durable simplification is socio-technical: architecture, quality and platforms matter as much as rituals.</a:t>
            </a:r>
          </a:p>
        </p:txBody>
      </p:sp>
      <p:sp>
        <p:nvSpPr>
          <p:cNvPr id="15" name="">
            <a:extLst xmlns:a="http://schemas.openxmlformats.org/drawingml/2006/main">
              <a:ext uri="{FF2B5EF4-FFF2-40B4-BE49-F238E27FC236}">
                <a16:creationId xmlns:a16="http://schemas.microsoft.com/office/drawing/2014/main" id="{903B9E76-8504-4A5A-B8ED-B7424E5168C0}"/>
              </a:ext>
            </a:extLst>
          </p:cNvPr>
          <p:cNvSpPr>
            <a:spLocks xmlns:a="http://schemas.openxmlformats.org/drawingml/2006/main" noGrp="1"/>
          </p:cNvSpPr>
          <p:nvPr/>
        </p:nvSpPr>
        <p:spPr>
          <a:xfrm xmlns:a="http://schemas.openxmlformats.org/drawingml/2006/main">
            <a:off x="514350" y="5038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3</a:t>
            </a:r>
          </a:p>
        </p:txBody>
      </p:sp>
      <p:sp>
        <p:nvSpPr>
          <p:cNvPr id="16" name="">
            <a:extLst xmlns:a="http://schemas.openxmlformats.org/drawingml/2006/main">
              <a:ext uri="{FF2B5EF4-FFF2-40B4-BE49-F238E27FC236}">
                <a16:creationId xmlns:a16="http://schemas.microsoft.com/office/drawing/2014/main" id="{4FB273B2-CB90-4D8A-A63C-D9CC25C36FB9}"/>
              </a:ext>
            </a:extLst>
          </p:cNvPr>
          <p:cNvSpPr>
            <a:spLocks xmlns:a="http://schemas.openxmlformats.org/drawingml/2006/main" noGrp="1"/>
          </p:cNvSpPr>
          <p:nvPr/>
        </p:nvSpPr>
        <p:spPr>
          <a:xfrm xmlns:a="http://schemas.openxmlformats.org/drawingml/2006/main">
            <a:off x="914400" y="50292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The model must remain revisable, because a useful structure today can become overhead tomorrow.</a:t>
            </a:r>
          </a:p>
        </p:txBody>
      </p:sp>
      <p:sp>
        <p:nvSpPr>
          <p:cNvPr id="17" name="">
            <a:extLst xmlns:a="http://schemas.openxmlformats.org/drawingml/2006/main">
              <a:ext uri="{FF2B5EF4-FFF2-40B4-BE49-F238E27FC236}">
                <a16:creationId xmlns:a16="http://schemas.microsoft.com/office/drawing/2014/main" id="{173B4507-2309-4DD8-9D4E-DBD2D14293E5}"/>
              </a:ext>
            </a:extLst>
          </p:cNvPr>
          <p:cNvSpPr>
            <a:spLocks xmlns:a="http://schemas.openxmlformats.org/drawingml/2006/main" noGrp="1"/>
          </p:cNvSpPr>
          <p:nvPr/>
        </p:nvSpPr>
        <p:spPr>
          <a:xfrm xmlns:a="http://schemas.openxmlformats.org/drawingml/2006/main">
            <a:off x="7620000" y="31051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Final message</a:t>
            </a:r>
          </a:p>
        </p:txBody>
      </p:sp>
      <p:sp>
        <p:nvSpPr>
          <p:cNvPr id="18" name="">
            <a:extLst xmlns:a="http://schemas.openxmlformats.org/drawingml/2006/main">
              <a:ext uri="{FF2B5EF4-FFF2-40B4-BE49-F238E27FC236}">
                <a16:creationId xmlns:a16="http://schemas.microsoft.com/office/drawing/2014/main" id="{754F28CF-C72D-4541-BB71-317A628DA665}"/>
              </a:ext>
            </a:extLst>
          </p:cNvPr>
          <p:cNvSpPr>
            <a:spLocks xmlns:a="http://schemas.openxmlformats.org/drawingml/2006/main" noGrp="1"/>
          </p:cNvSpPr>
          <p:nvPr/>
        </p:nvSpPr>
        <p:spPr>
          <a:xfrm xmlns:a="http://schemas.openxmlformats.org/drawingml/2006/main">
            <a:off x="7620000" y="3638550"/>
            <a:ext cx="342900" cy="381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19" name="">
            <a:extLst xmlns:a="http://schemas.openxmlformats.org/drawingml/2006/main">
              <a:ext uri="{FF2B5EF4-FFF2-40B4-BE49-F238E27FC236}">
                <a16:creationId xmlns:a16="http://schemas.microsoft.com/office/drawing/2014/main" id="{729C43CD-2533-48AD-99DA-357D3C0A0D6C}"/>
              </a:ext>
            </a:extLst>
          </p:cNvPr>
          <p:cNvSpPr>
            <a:spLocks xmlns:a="http://schemas.openxmlformats.org/drawingml/2006/main" noGrp="1"/>
          </p:cNvSpPr>
          <p:nvPr/>
        </p:nvSpPr>
        <p:spPr>
          <a:xfrm xmlns:a="http://schemas.openxmlformats.org/drawingml/2006/main">
            <a:off x="8077200" y="35433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Align without micromanaging</a:t>
            </a:r>
          </a:p>
        </p:txBody>
      </p:sp>
      <p:sp>
        <p:nvSpPr>
          <p:cNvPr id="20" name="">
            <a:extLst xmlns:a="http://schemas.openxmlformats.org/drawingml/2006/main">
              <a:ext uri="{FF2B5EF4-FFF2-40B4-BE49-F238E27FC236}">
                <a16:creationId xmlns:a16="http://schemas.microsoft.com/office/drawing/2014/main" id="{8BE8163F-FF3D-43C6-89E2-0AF4DB433071}"/>
              </a:ext>
            </a:extLst>
          </p:cNvPr>
          <p:cNvSpPr>
            <a:spLocks xmlns:a="http://schemas.openxmlformats.org/drawingml/2006/main" noGrp="1"/>
          </p:cNvSpPr>
          <p:nvPr/>
        </p:nvSpPr>
        <p:spPr>
          <a:xfrm xmlns:a="http://schemas.openxmlformats.org/drawingml/2006/main">
            <a:off x="7620000" y="40576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1" name="">
            <a:extLst xmlns:a="http://schemas.openxmlformats.org/drawingml/2006/main">
              <a:ext uri="{FF2B5EF4-FFF2-40B4-BE49-F238E27FC236}">
                <a16:creationId xmlns:a16="http://schemas.microsoft.com/office/drawing/2014/main" id="{EF08510F-7AB3-4B04-A271-5DC99C1197D3}"/>
              </a:ext>
            </a:extLst>
          </p:cNvPr>
          <p:cNvSpPr>
            <a:spLocks xmlns:a="http://schemas.openxmlformats.org/drawingml/2006/main" noGrp="1"/>
          </p:cNvSpPr>
          <p:nvPr/>
        </p:nvSpPr>
        <p:spPr>
          <a:xfrm xmlns:a="http://schemas.openxmlformats.org/drawingml/2006/main">
            <a:off x="8077200" y="39624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Empower without abandoning</a:t>
            </a:r>
          </a:p>
        </p:txBody>
      </p:sp>
      <p:sp>
        <p:nvSpPr>
          <p:cNvPr id="22" name="">
            <a:extLst xmlns:a="http://schemas.openxmlformats.org/drawingml/2006/main">
              <a:ext uri="{FF2B5EF4-FFF2-40B4-BE49-F238E27FC236}">
                <a16:creationId xmlns:a16="http://schemas.microsoft.com/office/drawing/2014/main" id="{A3F79332-6BAB-40C4-9310-1443D2669DE9}"/>
              </a:ext>
            </a:extLst>
          </p:cNvPr>
          <p:cNvSpPr>
            <a:spLocks xmlns:a="http://schemas.openxmlformats.org/drawingml/2006/main" noGrp="1"/>
          </p:cNvSpPr>
          <p:nvPr/>
        </p:nvSpPr>
        <p:spPr>
          <a:xfrm xmlns:a="http://schemas.openxmlformats.org/drawingml/2006/main">
            <a:off x="7620000" y="44767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3" name="">
            <a:extLst xmlns:a="http://schemas.openxmlformats.org/drawingml/2006/main">
              <a:ext uri="{FF2B5EF4-FFF2-40B4-BE49-F238E27FC236}">
                <a16:creationId xmlns:a16="http://schemas.microsoft.com/office/drawing/2014/main" id="{C5908ACB-3341-43D3-AE42-778BF711C0BA}"/>
              </a:ext>
            </a:extLst>
          </p:cNvPr>
          <p:cNvSpPr>
            <a:spLocks xmlns:a="http://schemas.openxmlformats.org/drawingml/2006/main" noGrp="1"/>
          </p:cNvSpPr>
          <p:nvPr/>
        </p:nvSpPr>
        <p:spPr>
          <a:xfrm xmlns:a="http://schemas.openxmlformats.org/drawingml/2006/main">
            <a:off x="8077200" y="43815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Coordinate without bureaucracy</a:t>
            </a:r>
          </a:p>
        </p:txBody>
      </p:sp>
      <p:sp>
        <p:nvSpPr>
          <p:cNvPr id="24" name="">
            <a:extLst xmlns:a="http://schemas.openxmlformats.org/drawingml/2006/main">
              <a:ext uri="{FF2B5EF4-FFF2-40B4-BE49-F238E27FC236}">
                <a16:creationId xmlns:a16="http://schemas.microsoft.com/office/drawing/2014/main" id="{397E7DAA-AE9A-4BA7-95EE-59F9CAC63023}"/>
              </a:ext>
            </a:extLst>
          </p:cNvPr>
          <p:cNvSpPr>
            <a:spLocks xmlns:a="http://schemas.openxmlformats.org/drawingml/2006/main" noGrp="1"/>
          </p:cNvSpPr>
          <p:nvPr/>
        </p:nvSpPr>
        <p:spPr>
          <a:xfrm xmlns:a="http://schemas.openxmlformats.org/drawingml/2006/main">
            <a:off x="7620000" y="48958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5" name="">
            <a:extLst xmlns:a="http://schemas.openxmlformats.org/drawingml/2006/main">
              <a:ext uri="{FF2B5EF4-FFF2-40B4-BE49-F238E27FC236}">
                <a16:creationId xmlns:a16="http://schemas.microsoft.com/office/drawing/2014/main" id="{E1023ADD-E844-4C9E-A758-BC903AE0BA90}"/>
              </a:ext>
            </a:extLst>
          </p:cNvPr>
          <p:cNvSpPr>
            <a:spLocks xmlns:a="http://schemas.openxmlformats.org/drawingml/2006/main" noGrp="1"/>
          </p:cNvSpPr>
          <p:nvPr/>
        </p:nvSpPr>
        <p:spPr>
          <a:xfrm xmlns:a="http://schemas.openxmlformats.org/drawingml/2006/main">
            <a:off x="8077200" y="48006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Measure without punishing</a:t>
            </a:r>
          </a:p>
        </p:txBody>
      </p:sp>
    </p:spTree>
    <p:extLst>
      <p:ext uri="{BB962C8B-B14F-4D97-AF65-F5344CB8AC3E}">
        <p14:creationId xmlns:p14="http://schemas.microsoft.com/office/powerpoint/2010/main" val="15670076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2026-07-01T15:31:34.2160000Z</dcterms:created>
  <dcterms:modified xsi:type="dcterms:W3CDTF">2026-07-01T15:31:34.2160000Z</dcterms:modified>
</coreProperties>
</file>